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2" r:id="rId1"/>
  </p:sldMasterIdLst>
  <p:notesMasterIdLst>
    <p:notesMasterId r:id="rId27"/>
  </p:notesMasterIdLst>
  <p:sldIdLst>
    <p:sldId id="256" r:id="rId2"/>
    <p:sldId id="265" r:id="rId3"/>
    <p:sldId id="291" r:id="rId4"/>
    <p:sldId id="257" r:id="rId5"/>
    <p:sldId id="267" r:id="rId6"/>
    <p:sldId id="268" r:id="rId7"/>
    <p:sldId id="258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8" r:id="rId21"/>
    <p:sldId id="289" r:id="rId22"/>
    <p:sldId id="290" r:id="rId23"/>
    <p:sldId id="283" r:id="rId24"/>
    <p:sldId id="284" r:id="rId25"/>
    <p:sldId id="28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1E4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D4CF4B-2D89-48CE-A428-8F671955ED4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0A7331-6BA1-4CA0-A5EB-B396B9920D4E}">
      <dgm:prSet/>
      <dgm:spPr>
        <a:gradFill flip="none" rotWithShape="0">
          <a:gsLst>
            <a:gs pos="0">
              <a:srgbClr val="3399FF">
                <a:tint val="66000"/>
                <a:satMod val="160000"/>
              </a:srgbClr>
            </a:gs>
            <a:gs pos="50000">
              <a:srgbClr val="3399FF">
                <a:tint val="44500"/>
                <a:satMod val="160000"/>
              </a:srgbClr>
            </a:gs>
            <a:gs pos="100000">
              <a:srgbClr val="3399FF">
                <a:tint val="23500"/>
                <a:satMod val="160000"/>
              </a:srgbClr>
            </a:gs>
          </a:gsLst>
          <a:lin ang="2700000" scaled="1"/>
          <a:tileRect/>
        </a:gradFill>
      </dgm:spPr>
      <dgm:t>
        <a:bodyPr/>
        <a:lstStyle/>
        <a:p>
          <a:pPr>
            <a:lnSpc>
              <a:spcPct val="100000"/>
            </a:lnSpc>
          </a:pPr>
          <a:r>
            <a:rPr lang="en-US" b="1" dirty="0"/>
            <a:t>Analyzing U.S. Medical Cost Drivers to Guide Allianz Germany’s Market Entry Strategy</a:t>
          </a:r>
          <a:endParaRPr lang="en-US" dirty="0"/>
        </a:p>
      </dgm:t>
    </dgm:pt>
    <dgm:pt modelId="{DE7669BF-75C2-43DE-B5F2-23DC00B984F2}" type="parTrans" cxnId="{02183DF3-060A-4406-B8FC-437874176535}">
      <dgm:prSet/>
      <dgm:spPr/>
      <dgm:t>
        <a:bodyPr/>
        <a:lstStyle/>
        <a:p>
          <a:endParaRPr lang="en-US"/>
        </a:p>
      </dgm:t>
    </dgm:pt>
    <dgm:pt modelId="{8D099DF5-5FFD-4ECC-96C9-03E4ADCEA312}" type="sibTrans" cxnId="{02183DF3-060A-4406-B8FC-437874176535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1CAA4829-DCC5-49EE-9DDF-93212A10FF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Analyzing health cost trends to support market entry and risk-based pricing</a:t>
          </a:r>
          <a:endParaRPr lang="en-US" dirty="0"/>
        </a:p>
      </dgm:t>
    </dgm:pt>
    <dgm:pt modelId="{916DA4D8-43BC-4903-B471-71D0BC91990F}" type="parTrans" cxnId="{CB6B29D1-2576-4AD6-AC70-189BE32EE682}">
      <dgm:prSet/>
      <dgm:spPr/>
      <dgm:t>
        <a:bodyPr/>
        <a:lstStyle/>
        <a:p>
          <a:endParaRPr lang="en-US"/>
        </a:p>
      </dgm:t>
    </dgm:pt>
    <dgm:pt modelId="{8041ECF6-9D17-4C27-83B0-90A12B505BEF}" type="sibTrans" cxnId="{CB6B29D1-2576-4AD6-AC70-189BE32EE682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E09130B2-A33D-4D8A-A879-32E6EC319296}" type="pres">
      <dgm:prSet presAssocID="{CFD4CF4B-2D89-48CE-A428-8F671955ED43}" presName="Name0" presStyleCnt="0">
        <dgm:presLayoutVars>
          <dgm:animLvl val="lvl"/>
          <dgm:resizeHandles val="exact"/>
        </dgm:presLayoutVars>
      </dgm:prSet>
      <dgm:spPr/>
    </dgm:pt>
    <dgm:pt modelId="{E8CA2F0E-BEB7-4F2B-B0C9-526DB0A6DAD5}" type="pres">
      <dgm:prSet presAssocID="{D70A7331-6BA1-4CA0-A5EB-B396B9920D4E}" presName="compositeNode" presStyleCnt="0">
        <dgm:presLayoutVars>
          <dgm:bulletEnabled val="1"/>
        </dgm:presLayoutVars>
      </dgm:prSet>
      <dgm:spPr/>
    </dgm:pt>
    <dgm:pt modelId="{FADB3EF6-6FCD-4002-B97A-3F9EE6B365AD}" type="pres">
      <dgm:prSet presAssocID="{D70A7331-6BA1-4CA0-A5EB-B396B9920D4E}" presName="bgRect" presStyleLbl="bgAccFollowNode1" presStyleIdx="0" presStyleCnt="2"/>
      <dgm:spPr/>
    </dgm:pt>
    <dgm:pt modelId="{4F7F58E5-58CA-4305-8F16-7A86DC4AFED6}" type="pres">
      <dgm:prSet presAssocID="{8D099DF5-5FFD-4ECC-96C9-03E4ADCEA312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58F6EA57-956D-456A-A218-F1B7A9F7DF8E}" type="pres">
      <dgm:prSet presAssocID="{D70A7331-6BA1-4CA0-A5EB-B396B9920D4E}" presName="bottomLine" presStyleLbl="alignNode1" presStyleIdx="1" presStyleCnt="4">
        <dgm:presLayoutVars/>
      </dgm:prSet>
      <dgm:spPr/>
    </dgm:pt>
    <dgm:pt modelId="{4E3E0B26-34EA-4CE7-83C6-E0F99064D0D8}" type="pres">
      <dgm:prSet presAssocID="{D70A7331-6BA1-4CA0-A5EB-B396B9920D4E}" presName="nodeText" presStyleLbl="bgAccFollowNode1" presStyleIdx="0" presStyleCnt="2">
        <dgm:presLayoutVars>
          <dgm:bulletEnabled val="1"/>
        </dgm:presLayoutVars>
      </dgm:prSet>
      <dgm:spPr/>
    </dgm:pt>
    <dgm:pt modelId="{42CDF777-CE23-49A2-A4E2-3299424FF09A}" type="pres">
      <dgm:prSet presAssocID="{8D099DF5-5FFD-4ECC-96C9-03E4ADCEA312}" presName="sibTrans" presStyleCnt="0"/>
      <dgm:spPr/>
    </dgm:pt>
    <dgm:pt modelId="{5DC4800C-092A-4A17-8622-61974CF9B8C8}" type="pres">
      <dgm:prSet presAssocID="{1CAA4829-DCC5-49EE-9DDF-93212A10FF67}" presName="compositeNode" presStyleCnt="0">
        <dgm:presLayoutVars>
          <dgm:bulletEnabled val="1"/>
        </dgm:presLayoutVars>
      </dgm:prSet>
      <dgm:spPr/>
    </dgm:pt>
    <dgm:pt modelId="{5487D44D-3093-48AF-A0E4-1A9FA6822A8B}" type="pres">
      <dgm:prSet presAssocID="{1CAA4829-DCC5-49EE-9DDF-93212A10FF67}" presName="bgRect" presStyleLbl="bgAccFollowNode1" presStyleIdx="1" presStyleCnt="2"/>
      <dgm:spPr/>
    </dgm:pt>
    <dgm:pt modelId="{EFB9E37D-92E1-4137-A1CA-635B776D55B0}" type="pres">
      <dgm:prSet presAssocID="{8041ECF6-9D17-4C27-83B0-90A12B505BEF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C85014B5-9A2E-4D89-A978-BB84C9658B1A}" type="pres">
      <dgm:prSet presAssocID="{1CAA4829-DCC5-49EE-9DDF-93212A10FF67}" presName="bottomLine" presStyleLbl="alignNode1" presStyleIdx="3" presStyleCnt="4">
        <dgm:presLayoutVars/>
      </dgm:prSet>
      <dgm:spPr/>
    </dgm:pt>
    <dgm:pt modelId="{47C70776-BC3E-4DA1-82BA-33CD10619AFD}" type="pres">
      <dgm:prSet presAssocID="{1CAA4829-DCC5-49EE-9DDF-93212A10FF67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096C0F0B-B1E8-4452-BD44-8ECB6FD08257}" type="presOf" srcId="{8041ECF6-9D17-4C27-83B0-90A12B505BEF}" destId="{EFB9E37D-92E1-4137-A1CA-635B776D55B0}" srcOrd="0" destOrd="0" presId="urn:microsoft.com/office/officeart/2016/7/layout/BasicLinearProcessNumbered"/>
    <dgm:cxn modelId="{4E27056F-52E5-4974-9684-C7FAA1DA0B73}" type="presOf" srcId="{D70A7331-6BA1-4CA0-A5EB-B396B9920D4E}" destId="{FADB3EF6-6FCD-4002-B97A-3F9EE6B365AD}" srcOrd="0" destOrd="0" presId="urn:microsoft.com/office/officeart/2016/7/layout/BasicLinearProcessNumbered"/>
    <dgm:cxn modelId="{E75F7071-959E-4D74-9667-FDC0F4FD7E25}" type="presOf" srcId="{8D099DF5-5FFD-4ECC-96C9-03E4ADCEA312}" destId="{4F7F58E5-58CA-4305-8F16-7A86DC4AFED6}" srcOrd="0" destOrd="0" presId="urn:microsoft.com/office/officeart/2016/7/layout/BasicLinearProcessNumbered"/>
    <dgm:cxn modelId="{18C4C551-ADE4-4B41-BB76-515C239A44C9}" type="presOf" srcId="{CFD4CF4B-2D89-48CE-A428-8F671955ED43}" destId="{E09130B2-A33D-4D8A-A879-32E6EC319296}" srcOrd="0" destOrd="0" presId="urn:microsoft.com/office/officeart/2016/7/layout/BasicLinearProcessNumbered"/>
    <dgm:cxn modelId="{49E9CA76-47B1-4184-9B80-C48B378E3A22}" type="presOf" srcId="{1CAA4829-DCC5-49EE-9DDF-93212A10FF67}" destId="{5487D44D-3093-48AF-A0E4-1A9FA6822A8B}" srcOrd="0" destOrd="0" presId="urn:microsoft.com/office/officeart/2016/7/layout/BasicLinearProcessNumbered"/>
    <dgm:cxn modelId="{CB6B29D1-2576-4AD6-AC70-189BE32EE682}" srcId="{CFD4CF4B-2D89-48CE-A428-8F671955ED43}" destId="{1CAA4829-DCC5-49EE-9DDF-93212A10FF67}" srcOrd="1" destOrd="0" parTransId="{916DA4D8-43BC-4903-B471-71D0BC91990F}" sibTransId="{8041ECF6-9D17-4C27-83B0-90A12B505BEF}"/>
    <dgm:cxn modelId="{02183DF3-060A-4406-B8FC-437874176535}" srcId="{CFD4CF4B-2D89-48CE-A428-8F671955ED43}" destId="{D70A7331-6BA1-4CA0-A5EB-B396B9920D4E}" srcOrd="0" destOrd="0" parTransId="{DE7669BF-75C2-43DE-B5F2-23DC00B984F2}" sibTransId="{8D099DF5-5FFD-4ECC-96C9-03E4ADCEA312}"/>
    <dgm:cxn modelId="{BE0AEBFC-927E-40A0-BD45-1B659E1BE61B}" type="presOf" srcId="{1CAA4829-DCC5-49EE-9DDF-93212A10FF67}" destId="{47C70776-BC3E-4DA1-82BA-33CD10619AFD}" srcOrd="1" destOrd="0" presId="urn:microsoft.com/office/officeart/2016/7/layout/BasicLinearProcessNumbered"/>
    <dgm:cxn modelId="{2D949FFF-5E22-43F1-85C3-688EEAFAD253}" type="presOf" srcId="{D70A7331-6BA1-4CA0-A5EB-B396B9920D4E}" destId="{4E3E0B26-34EA-4CE7-83C6-E0F99064D0D8}" srcOrd="1" destOrd="0" presId="urn:microsoft.com/office/officeart/2016/7/layout/BasicLinearProcessNumbered"/>
    <dgm:cxn modelId="{5572DF22-41B0-4C97-98C8-C3786119535C}" type="presParOf" srcId="{E09130B2-A33D-4D8A-A879-32E6EC319296}" destId="{E8CA2F0E-BEB7-4F2B-B0C9-526DB0A6DAD5}" srcOrd="0" destOrd="0" presId="urn:microsoft.com/office/officeart/2016/7/layout/BasicLinearProcessNumbered"/>
    <dgm:cxn modelId="{9C553374-92B4-4314-8999-4D9F9EDCD9C0}" type="presParOf" srcId="{E8CA2F0E-BEB7-4F2B-B0C9-526DB0A6DAD5}" destId="{FADB3EF6-6FCD-4002-B97A-3F9EE6B365AD}" srcOrd="0" destOrd="0" presId="urn:microsoft.com/office/officeart/2016/7/layout/BasicLinearProcessNumbered"/>
    <dgm:cxn modelId="{E0818041-2E80-4D79-9FBD-81460697A05E}" type="presParOf" srcId="{E8CA2F0E-BEB7-4F2B-B0C9-526DB0A6DAD5}" destId="{4F7F58E5-58CA-4305-8F16-7A86DC4AFED6}" srcOrd="1" destOrd="0" presId="urn:microsoft.com/office/officeart/2016/7/layout/BasicLinearProcessNumbered"/>
    <dgm:cxn modelId="{DA03C8A4-2E40-4672-AC35-4F641C7A14C1}" type="presParOf" srcId="{E8CA2F0E-BEB7-4F2B-B0C9-526DB0A6DAD5}" destId="{58F6EA57-956D-456A-A218-F1B7A9F7DF8E}" srcOrd="2" destOrd="0" presId="urn:microsoft.com/office/officeart/2016/7/layout/BasicLinearProcessNumbered"/>
    <dgm:cxn modelId="{DC49DA63-AC02-4E45-8047-9991F99A0856}" type="presParOf" srcId="{E8CA2F0E-BEB7-4F2B-B0C9-526DB0A6DAD5}" destId="{4E3E0B26-34EA-4CE7-83C6-E0F99064D0D8}" srcOrd="3" destOrd="0" presId="urn:microsoft.com/office/officeart/2016/7/layout/BasicLinearProcessNumbered"/>
    <dgm:cxn modelId="{3A8468E2-B348-402F-BFDD-18205D17C287}" type="presParOf" srcId="{E09130B2-A33D-4D8A-A879-32E6EC319296}" destId="{42CDF777-CE23-49A2-A4E2-3299424FF09A}" srcOrd="1" destOrd="0" presId="urn:microsoft.com/office/officeart/2016/7/layout/BasicLinearProcessNumbered"/>
    <dgm:cxn modelId="{D5965F48-9611-4D7E-8CD8-BF2CE44BDAF4}" type="presParOf" srcId="{E09130B2-A33D-4D8A-A879-32E6EC319296}" destId="{5DC4800C-092A-4A17-8622-61974CF9B8C8}" srcOrd="2" destOrd="0" presId="urn:microsoft.com/office/officeart/2016/7/layout/BasicLinearProcessNumbered"/>
    <dgm:cxn modelId="{7C0E2B21-C401-4FDA-9AD0-BEA6D2A3E401}" type="presParOf" srcId="{5DC4800C-092A-4A17-8622-61974CF9B8C8}" destId="{5487D44D-3093-48AF-A0E4-1A9FA6822A8B}" srcOrd="0" destOrd="0" presId="urn:microsoft.com/office/officeart/2016/7/layout/BasicLinearProcessNumbered"/>
    <dgm:cxn modelId="{5C0BB5F8-1F42-4C96-A782-9F701ACE0F2A}" type="presParOf" srcId="{5DC4800C-092A-4A17-8622-61974CF9B8C8}" destId="{EFB9E37D-92E1-4137-A1CA-635B776D55B0}" srcOrd="1" destOrd="0" presId="urn:microsoft.com/office/officeart/2016/7/layout/BasicLinearProcessNumbered"/>
    <dgm:cxn modelId="{090110B6-4620-4D9E-AFFD-B3E41A3E80C0}" type="presParOf" srcId="{5DC4800C-092A-4A17-8622-61974CF9B8C8}" destId="{C85014B5-9A2E-4D89-A978-BB84C9658B1A}" srcOrd="2" destOrd="0" presId="urn:microsoft.com/office/officeart/2016/7/layout/BasicLinearProcessNumbered"/>
    <dgm:cxn modelId="{2BCAEC81-B456-474A-8D4F-4B99AF1A5771}" type="presParOf" srcId="{5DC4800C-092A-4A17-8622-61974CF9B8C8}" destId="{47C70776-BC3E-4DA1-82BA-33CD10619AF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84F4F9-48A2-4347-9863-4031C6C62E7D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1D41440-BEBC-4482-9B97-98F43BF69CD8}">
      <dgm:prSet/>
      <dgm:spPr/>
      <dgm:t>
        <a:bodyPr/>
        <a:lstStyle/>
        <a:p>
          <a:r>
            <a:rPr lang="en-US"/>
            <a:t>• Goal: Support Allianz Germany's entry into the U.S. insurance market.</a:t>
          </a:r>
        </a:p>
      </dgm:t>
    </dgm:pt>
    <dgm:pt modelId="{7F978DD5-C485-4CBA-9EC5-0CE8D337ABBA}" type="parTrans" cxnId="{40FDD0CB-FFB0-4E34-A7ED-083D742E866E}">
      <dgm:prSet/>
      <dgm:spPr/>
      <dgm:t>
        <a:bodyPr/>
        <a:lstStyle/>
        <a:p>
          <a:endParaRPr lang="en-US"/>
        </a:p>
      </dgm:t>
    </dgm:pt>
    <dgm:pt modelId="{AE9E9A90-DB1C-4D59-BACF-0FBFFB5E4D43}" type="sibTrans" cxnId="{40FDD0CB-FFB0-4E34-A7ED-083D742E866E}">
      <dgm:prSet/>
      <dgm:spPr/>
      <dgm:t>
        <a:bodyPr/>
        <a:lstStyle/>
        <a:p>
          <a:endParaRPr lang="en-US"/>
        </a:p>
      </dgm:t>
    </dgm:pt>
    <dgm:pt modelId="{966454CD-3840-44BA-8DD9-0E5B58D6FEA6}">
      <dgm:prSet/>
      <dgm:spPr/>
      <dgm:t>
        <a:bodyPr/>
        <a:lstStyle/>
        <a:p>
          <a:r>
            <a:rPr lang="en-US"/>
            <a:t>• Approach: Combined EDA, predictive modeling, and dashboarding.</a:t>
          </a:r>
        </a:p>
      </dgm:t>
    </dgm:pt>
    <dgm:pt modelId="{AC692105-7F7F-43F8-BD69-0DBFAF7C68C4}" type="parTrans" cxnId="{3ACE8CAA-ED88-4F68-8DB2-283AA90125FE}">
      <dgm:prSet/>
      <dgm:spPr/>
      <dgm:t>
        <a:bodyPr/>
        <a:lstStyle/>
        <a:p>
          <a:endParaRPr lang="en-US"/>
        </a:p>
      </dgm:t>
    </dgm:pt>
    <dgm:pt modelId="{784FF7B2-C322-4F4B-A7B8-6CD5A4E6E6D1}" type="sibTrans" cxnId="{3ACE8CAA-ED88-4F68-8DB2-283AA90125FE}">
      <dgm:prSet/>
      <dgm:spPr/>
      <dgm:t>
        <a:bodyPr/>
        <a:lstStyle/>
        <a:p>
          <a:endParaRPr lang="en-US"/>
        </a:p>
      </dgm:t>
    </dgm:pt>
    <dgm:pt modelId="{E465E990-F064-4D8C-80D1-EC0514C1B446}">
      <dgm:prSet/>
      <dgm:spPr/>
      <dgm:t>
        <a:bodyPr/>
        <a:lstStyle/>
        <a:p>
          <a:r>
            <a:rPr lang="en-US"/>
            <a:t>• Outcome: Identified key cost drivers including smoking, BMI, and age.</a:t>
          </a:r>
        </a:p>
      </dgm:t>
    </dgm:pt>
    <dgm:pt modelId="{15CDB664-DDDF-42E3-AA9F-D6D3644294B4}" type="parTrans" cxnId="{F1B411E6-F1A4-48EB-A066-B6E8F826DA15}">
      <dgm:prSet/>
      <dgm:spPr/>
      <dgm:t>
        <a:bodyPr/>
        <a:lstStyle/>
        <a:p>
          <a:endParaRPr lang="en-US"/>
        </a:p>
      </dgm:t>
    </dgm:pt>
    <dgm:pt modelId="{6E007BF0-29C0-4205-95B2-4CCE94A922B4}" type="sibTrans" cxnId="{F1B411E6-F1A4-48EB-A066-B6E8F826DA15}">
      <dgm:prSet/>
      <dgm:spPr/>
      <dgm:t>
        <a:bodyPr/>
        <a:lstStyle/>
        <a:p>
          <a:endParaRPr lang="en-US"/>
        </a:p>
      </dgm:t>
    </dgm:pt>
    <dgm:pt modelId="{11846A49-39CC-4473-B252-FB2DA0C0DD1D}">
      <dgm:prSet/>
      <dgm:spPr/>
      <dgm:t>
        <a:bodyPr/>
        <a:lstStyle/>
        <a:p>
          <a:r>
            <a:rPr lang="en-US"/>
            <a:t>• Strategy: Develop risk-based pricing leveraging model insights.</a:t>
          </a:r>
        </a:p>
      </dgm:t>
    </dgm:pt>
    <dgm:pt modelId="{E4A626CA-23C2-4CD2-8B3E-47A86E587364}" type="parTrans" cxnId="{AB8836B7-9890-48AB-A3D4-B1885BA3139E}">
      <dgm:prSet/>
      <dgm:spPr/>
      <dgm:t>
        <a:bodyPr/>
        <a:lstStyle/>
        <a:p>
          <a:endParaRPr lang="en-US"/>
        </a:p>
      </dgm:t>
    </dgm:pt>
    <dgm:pt modelId="{427A7E21-04AE-44B8-94F5-FF95D75B47A4}" type="sibTrans" cxnId="{AB8836B7-9890-48AB-A3D4-B1885BA3139E}">
      <dgm:prSet/>
      <dgm:spPr/>
      <dgm:t>
        <a:bodyPr/>
        <a:lstStyle/>
        <a:p>
          <a:endParaRPr lang="en-US"/>
        </a:p>
      </dgm:t>
    </dgm:pt>
    <dgm:pt modelId="{24BAE107-D9BA-42FF-B8AC-23B5C3F35557}" type="pres">
      <dgm:prSet presAssocID="{7584F4F9-48A2-4347-9863-4031C6C62E7D}" presName="cycle" presStyleCnt="0">
        <dgm:presLayoutVars>
          <dgm:dir/>
          <dgm:resizeHandles val="exact"/>
        </dgm:presLayoutVars>
      </dgm:prSet>
      <dgm:spPr/>
    </dgm:pt>
    <dgm:pt modelId="{0B1C5CAB-8004-4511-9294-10F5C0322F76}" type="pres">
      <dgm:prSet presAssocID="{01D41440-BEBC-4482-9B97-98F43BF69CD8}" presName="node" presStyleLbl="node1" presStyleIdx="0" presStyleCnt="4">
        <dgm:presLayoutVars>
          <dgm:bulletEnabled val="1"/>
        </dgm:presLayoutVars>
      </dgm:prSet>
      <dgm:spPr/>
    </dgm:pt>
    <dgm:pt modelId="{68DF15C2-34E9-48CC-B0E6-38C555931F91}" type="pres">
      <dgm:prSet presAssocID="{AE9E9A90-DB1C-4D59-BACF-0FBFFB5E4D43}" presName="sibTrans" presStyleLbl="sibTrans2D1" presStyleIdx="0" presStyleCnt="4"/>
      <dgm:spPr/>
    </dgm:pt>
    <dgm:pt modelId="{2C9CDE72-78BA-4BE7-9C44-76EFE78DF59C}" type="pres">
      <dgm:prSet presAssocID="{AE9E9A90-DB1C-4D59-BACF-0FBFFB5E4D43}" presName="connectorText" presStyleLbl="sibTrans2D1" presStyleIdx="0" presStyleCnt="4"/>
      <dgm:spPr/>
    </dgm:pt>
    <dgm:pt modelId="{FDAACBF8-B40B-4466-AE64-6FE998A9A6B9}" type="pres">
      <dgm:prSet presAssocID="{966454CD-3840-44BA-8DD9-0E5B58D6FEA6}" presName="node" presStyleLbl="node1" presStyleIdx="1" presStyleCnt="4">
        <dgm:presLayoutVars>
          <dgm:bulletEnabled val="1"/>
        </dgm:presLayoutVars>
      </dgm:prSet>
      <dgm:spPr/>
    </dgm:pt>
    <dgm:pt modelId="{185E9920-867D-4DCC-B23F-BFF99A3A75DD}" type="pres">
      <dgm:prSet presAssocID="{784FF7B2-C322-4F4B-A7B8-6CD5A4E6E6D1}" presName="sibTrans" presStyleLbl="sibTrans2D1" presStyleIdx="1" presStyleCnt="4"/>
      <dgm:spPr/>
    </dgm:pt>
    <dgm:pt modelId="{C0D2729D-E969-4E6B-999F-64D453DF1F44}" type="pres">
      <dgm:prSet presAssocID="{784FF7B2-C322-4F4B-A7B8-6CD5A4E6E6D1}" presName="connectorText" presStyleLbl="sibTrans2D1" presStyleIdx="1" presStyleCnt="4"/>
      <dgm:spPr/>
    </dgm:pt>
    <dgm:pt modelId="{A3401CD8-D5C1-4E53-A829-B5D29F6D265C}" type="pres">
      <dgm:prSet presAssocID="{E465E990-F064-4D8C-80D1-EC0514C1B446}" presName="node" presStyleLbl="node1" presStyleIdx="2" presStyleCnt="4">
        <dgm:presLayoutVars>
          <dgm:bulletEnabled val="1"/>
        </dgm:presLayoutVars>
      </dgm:prSet>
      <dgm:spPr/>
    </dgm:pt>
    <dgm:pt modelId="{F6EC78DF-F1FF-4359-BBEA-AB9A9BB39C18}" type="pres">
      <dgm:prSet presAssocID="{6E007BF0-29C0-4205-95B2-4CCE94A922B4}" presName="sibTrans" presStyleLbl="sibTrans2D1" presStyleIdx="2" presStyleCnt="4"/>
      <dgm:spPr/>
    </dgm:pt>
    <dgm:pt modelId="{F30B350B-11E3-45A3-A4E7-859336FE6DC9}" type="pres">
      <dgm:prSet presAssocID="{6E007BF0-29C0-4205-95B2-4CCE94A922B4}" presName="connectorText" presStyleLbl="sibTrans2D1" presStyleIdx="2" presStyleCnt="4"/>
      <dgm:spPr/>
    </dgm:pt>
    <dgm:pt modelId="{761209FE-2DFA-480A-A70F-129931A3227B}" type="pres">
      <dgm:prSet presAssocID="{11846A49-39CC-4473-B252-FB2DA0C0DD1D}" presName="node" presStyleLbl="node1" presStyleIdx="3" presStyleCnt="4">
        <dgm:presLayoutVars>
          <dgm:bulletEnabled val="1"/>
        </dgm:presLayoutVars>
      </dgm:prSet>
      <dgm:spPr/>
    </dgm:pt>
    <dgm:pt modelId="{E7D5D817-36D1-4529-B65A-745D77923F36}" type="pres">
      <dgm:prSet presAssocID="{427A7E21-04AE-44B8-94F5-FF95D75B47A4}" presName="sibTrans" presStyleLbl="sibTrans2D1" presStyleIdx="3" presStyleCnt="4"/>
      <dgm:spPr/>
    </dgm:pt>
    <dgm:pt modelId="{F36102D4-E018-4580-9BD7-C3C0C09F2E8F}" type="pres">
      <dgm:prSet presAssocID="{427A7E21-04AE-44B8-94F5-FF95D75B47A4}" presName="connectorText" presStyleLbl="sibTrans2D1" presStyleIdx="3" presStyleCnt="4"/>
      <dgm:spPr/>
    </dgm:pt>
  </dgm:ptLst>
  <dgm:cxnLst>
    <dgm:cxn modelId="{E8FBC517-2C2F-434B-8997-2C7F5CB440B9}" type="presOf" srcId="{7584F4F9-48A2-4347-9863-4031C6C62E7D}" destId="{24BAE107-D9BA-42FF-B8AC-23B5C3F35557}" srcOrd="0" destOrd="0" presId="urn:microsoft.com/office/officeart/2005/8/layout/cycle2"/>
    <dgm:cxn modelId="{D52AB95C-F9F8-43E7-8946-C23C3F180858}" type="presOf" srcId="{6E007BF0-29C0-4205-95B2-4CCE94A922B4}" destId="{F6EC78DF-F1FF-4359-BBEA-AB9A9BB39C18}" srcOrd="0" destOrd="0" presId="urn:microsoft.com/office/officeart/2005/8/layout/cycle2"/>
    <dgm:cxn modelId="{07820F45-49C3-49A5-B4F0-7A75BF6B80D4}" type="presOf" srcId="{01D41440-BEBC-4482-9B97-98F43BF69CD8}" destId="{0B1C5CAB-8004-4511-9294-10F5C0322F76}" srcOrd="0" destOrd="0" presId="urn:microsoft.com/office/officeart/2005/8/layout/cycle2"/>
    <dgm:cxn modelId="{CA877A45-2C9E-4299-846B-BC19C1C52444}" type="presOf" srcId="{427A7E21-04AE-44B8-94F5-FF95D75B47A4}" destId="{E7D5D817-36D1-4529-B65A-745D77923F36}" srcOrd="0" destOrd="0" presId="urn:microsoft.com/office/officeart/2005/8/layout/cycle2"/>
    <dgm:cxn modelId="{4EE2A24F-636F-4242-95A3-620D73669FCA}" type="presOf" srcId="{AE9E9A90-DB1C-4D59-BACF-0FBFFB5E4D43}" destId="{2C9CDE72-78BA-4BE7-9C44-76EFE78DF59C}" srcOrd="1" destOrd="0" presId="urn:microsoft.com/office/officeart/2005/8/layout/cycle2"/>
    <dgm:cxn modelId="{BFBD7D53-31C7-4348-980C-9F0D795C0C34}" type="presOf" srcId="{6E007BF0-29C0-4205-95B2-4CCE94A922B4}" destId="{F30B350B-11E3-45A3-A4E7-859336FE6DC9}" srcOrd="1" destOrd="0" presId="urn:microsoft.com/office/officeart/2005/8/layout/cycle2"/>
    <dgm:cxn modelId="{EF75B05A-3956-4E99-A1BE-55FC1A121CB2}" type="presOf" srcId="{427A7E21-04AE-44B8-94F5-FF95D75B47A4}" destId="{F36102D4-E018-4580-9BD7-C3C0C09F2E8F}" srcOrd="1" destOrd="0" presId="urn:microsoft.com/office/officeart/2005/8/layout/cycle2"/>
    <dgm:cxn modelId="{C82AB87A-ACAB-4592-B4C2-D1C344A11995}" type="presOf" srcId="{E465E990-F064-4D8C-80D1-EC0514C1B446}" destId="{A3401CD8-D5C1-4E53-A829-B5D29F6D265C}" srcOrd="0" destOrd="0" presId="urn:microsoft.com/office/officeart/2005/8/layout/cycle2"/>
    <dgm:cxn modelId="{0DBCA37E-1407-4582-BE3A-BF2A7EB8816D}" type="presOf" srcId="{11846A49-39CC-4473-B252-FB2DA0C0DD1D}" destId="{761209FE-2DFA-480A-A70F-129931A3227B}" srcOrd="0" destOrd="0" presId="urn:microsoft.com/office/officeart/2005/8/layout/cycle2"/>
    <dgm:cxn modelId="{EF747185-3B9C-4BF5-8C11-57008045F3EE}" type="presOf" srcId="{784FF7B2-C322-4F4B-A7B8-6CD5A4E6E6D1}" destId="{185E9920-867D-4DCC-B23F-BFF99A3A75DD}" srcOrd="0" destOrd="0" presId="urn:microsoft.com/office/officeart/2005/8/layout/cycle2"/>
    <dgm:cxn modelId="{39FB4493-AC96-40A3-8A6D-DF358F633664}" type="presOf" srcId="{784FF7B2-C322-4F4B-A7B8-6CD5A4E6E6D1}" destId="{C0D2729D-E969-4E6B-999F-64D453DF1F44}" srcOrd="1" destOrd="0" presId="urn:microsoft.com/office/officeart/2005/8/layout/cycle2"/>
    <dgm:cxn modelId="{8F30ABA3-2FF5-4369-8729-E36D5EF973B6}" type="presOf" srcId="{AE9E9A90-DB1C-4D59-BACF-0FBFFB5E4D43}" destId="{68DF15C2-34E9-48CC-B0E6-38C555931F91}" srcOrd="0" destOrd="0" presId="urn:microsoft.com/office/officeart/2005/8/layout/cycle2"/>
    <dgm:cxn modelId="{3ACE8CAA-ED88-4F68-8DB2-283AA90125FE}" srcId="{7584F4F9-48A2-4347-9863-4031C6C62E7D}" destId="{966454CD-3840-44BA-8DD9-0E5B58D6FEA6}" srcOrd="1" destOrd="0" parTransId="{AC692105-7F7F-43F8-BD69-0DBFAF7C68C4}" sibTransId="{784FF7B2-C322-4F4B-A7B8-6CD5A4E6E6D1}"/>
    <dgm:cxn modelId="{AB8836B7-9890-48AB-A3D4-B1885BA3139E}" srcId="{7584F4F9-48A2-4347-9863-4031C6C62E7D}" destId="{11846A49-39CC-4473-B252-FB2DA0C0DD1D}" srcOrd="3" destOrd="0" parTransId="{E4A626CA-23C2-4CD2-8B3E-47A86E587364}" sibTransId="{427A7E21-04AE-44B8-94F5-FF95D75B47A4}"/>
    <dgm:cxn modelId="{40FDD0CB-FFB0-4E34-A7ED-083D742E866E}" srcId="{7584F4F9-48A2-4347-9863-4031C6C62E7D}" destId="{01D41440-BEBC-4482-9B97-98F43BF69CD8}" srcOrd="0" destOrd="0" parTransId="{7F978DD5-C485-4CBA-9EC5-0CE8D337ABBA}" sibTransId="{AE9E9A90-DB1C-4D59-BACF-0FBFFB5E4D43}"/>
    <dgm:cxn modelId="{F1B411E6-F1A4-48EB-A066-B6E8F826DA15}" srcId="{7584F4F9-48A2-4347-9863-4031C6C62E7D}" destId="{E465E990-F064-4D8C-80D1-EC0514C1B446}" srcOrd="2" destOrd="0" parTransId="{15CDB664-DDDF-42E3-AA9F-D6D3644294B4}" sibTransId="{6E007BF0-29C0-4205-95B2-4CCE94A922B4}"/>
    <dgm:cxn modelId="{2C7810F9-54B2-46F8-B34F-502113AC05AE}" type="presOf" srcId="{966454CD-3840-44BA-8DD9-0E5B58D6FEA6}" destId="{FDAACBF8-B40B-4466-AE64-6FE998A9A6B9}" srcOrd="0" destOrd="0" presId="urn:microsoft.com/office/officeart/2005/8/layout/cycle2"/>
    <dgm:cxn modelId="{E3A26D58-9FAA-4820-9B92-3EA33C2A4B7F}" type="presParOf" srcId="{24BAE107-D9BA-42FF-B8AC-23B5C3F35557}" destId="{0B1C5CAB-8004-4511-9294-10F5C0322F76}" srcOrd="0" destOrd="0" presId="urn:microsoft.com/office/officeart/2005/8/layout/cycle2"/>
    <dgm:cxn modelId="{493FD610-53BC-4BA7-B7C8-A83F97F51170}" type="presParOf" srcId="{24BAE107-D9BA-42FF-B8AC-23B5C3F35557}" destId="{68DF15C2-34E9-48CC-B0E6-38C555931F91}" srcOrd="1" destOrd="0" presId="urn:microsoft.com/office/officeart/2005/8/layout/cycle2"/>
    <dgm:cxn modelId="{AA6565EF-A4C9-4404-A8F1-550B701A2080}" type="presParOf" srcId="{68DF15C2-34E9-48CC-B0E6-38C555931F91}" destId="{2C9CDE72-78BA-4BE7-9C44-76EFE78DF59C}" srcOrd="0" destOrd="0" presId="urn:microsoft.com/office/officeart/2005/8/layout/cycle2"/>
    <dgm:cxn modelId="{7E6A1D07-1F18-461D-93F6-60D580D8BF90}" type="presParOf" srcId="{24BAE107-D9BA-42FF-B8AC-23B5C3F35557}" destId="{FDAACBF8-B40B-4466-AE64-6FE998A9A6B9}" srcOrd="2" destOrd="0" presId="urn:microsoft.com/office/officeart/2005/8/layout/cycle2"/>
    <dgm:cxn modelId="{FBF96CD3-B5F1-4E0F-921A-B3985AE53DC3}" type="presParOf" srcId="{24BAE107-D9BA-42FF-B8AC-23B5C3F35557}" destId="{185E9920-867D-4DCC-B23F-BFF99A3A75DD}" srcOrd="3" destOrd="0" presId="urn:microsoft.com/office/officeart/2005/8/layout/cycle2"/>
    <dgm:cxn modelId="{80ED4627-3B1E-4590-82D8-1E8BF2DE6891}" type="presParOf" srcId="{185E9920-867D-4DCC-B23F-BFF99A3A75DD}" destId="{C0D2729D-E969-4E6B-999F-64D453DF1F44}" srcOrd="0" destOrd="0" presId="urn:microsoft.com/office/officeart/2005/8/layout/cycle2"/>
    <dgm:cxn modelId="{34D30812-FAE2-4724-974D-BE6638582D5E}" type="presParOf" srcId="{24BAE107-D9BA-42FF-B8AC-23B5C3F35557}" destId="{A3401CD8-D5C1-4E53-A829-B5D29F6D265C}" srcOrd="4" destOrd="0" presId="urn:microsoft.com/office/officeart/2005/8/layout/cycle2"/>
    <dgm:cxn modelId="{9BD82508-B658-4E45-8BE6-D8A604E7CEFF}" type="presParOf" srcId="{24BAE107-D9BA-42FF-B8AC-23B5C3F35557}" destId="{F6EC78DF-F1FF-4359-BBEA-AB9A9BB39C18}" srcOrd="5" destOrd="0" presId="urn:microsoft.com/office/officeart/2005/8/layout/cycle2"/>
    <dgm:cxn modelId="{F4F1CD45-F644-49B1-9B13-843977AF2918}" type="presParOf" srcId="{F6EC78DF-F1FF-4359-BBEA-AB9A9BB39C18}" destId="{F30B350B-11E3-45A3-A4E7-859336FE6DC9}" srcOrd="0" destOrd="0" presId="urn:microsoft.com/office/officeart/2005/8/layout/cycle2"/>
    <dgm:cxn modelId="{32996DF5-DE60-494E-88B3-2AC6484970E2}" type="presParOf" srcId="{24BAE107-D9BA-42FF-B8AC-23B5C3F35557}" destId="{761209FE-2DFA-480A-A70F-129931A3227B}" srcOrd="6" destOrd="0" presId="urn:microsoft.com/office/officeart/2005/8/layout/cycle2"/>
    <dgm:cxn modelId="{7FE02B27-6642-428C-821A-FE4ABAD6F38D}" type="presParOf" srcId="{24BAE107-D9BA-42FF-B8AC-23B5C3F35557}" destId="{E7D5D817-36D1-4529-B65A-745D77923F36}" srcOrd="7" destOrd="0" presId="urn:microsoft.com/office/officeart/2005/8/layout/cycle2"/>
    <dgm:cxn modelId="{DE7EAF04-89D8-43BA-B249-F32264DB2C1A}" type="presParOf" srcId="{E7D5D817-36D1-4529-B65A-745D77923F36}" destId="{F36102D4-E018-4580-9BD7-C3C0C09F2E8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F68BD8-4EC1-45D2-A936-06EBB188239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3D8E549-89DC-4474-821E-5E148D852E62}">
      <dgm:prSet/>
      <dgm:spPr/>
      <dgm:t>
        <a:bodyPr/>
        <a:lstStyle/>
        <a:p>
          <a:r>
            <a:rPr lang="en-US"/>
            <a:t>🔢 </a:t>
          </a:r>
          <a:r>
            <a:rPr lang="en-US" b="1"/>
            <a:t>Key Variables</a:t>
          </a:r>
          <a:endParaRPr lang="en-US"/>
        </a:p>
      </dgm:t>
    </dgm:pt>
    <dgm:pt modelId="{6737EEDE-2EF0-4E1E-B384-AFFBDE1A0203}" type="parTrans" cxnId="{87321365-BD54-4CD1-B406-7FBDFC055687}">
      <dgm:prSet/>
      <dgm:spPr/>
      <dgm:t>
        <a:bodyPr/>
        <a:lstStyle/>
        <a:p>
          <a:endParaRPr lang="en-US"/>
        </a:p>
      </dgm:t>
    </dgm:pt>
    <dgm:pt modelId="{E0054FCB-1483-4FCA-B9B1-9D64C2C9544F}" type="sibTrans" cxnId="{87321365-BD54-4CD1-B406-7FBDFC055687}">
      <dgm:prSet/>
      <dgm:spPr/>
      <dgm:t>
        <a:bodyPr/>
        <a:lstStyle/>
        <a:p>
          <a:endParaRPr lang="en-US"/>
        </a:p>
      </dgm:t>
    </dgm:pt>
    <dgm:pt modelId="{808F5C47-E7E9-47FB-8BCD-421B116FAB32}">
      <dgm:prSet/>
      <dgm:spPr/>
      <dgm:t>
        <a:bodyPr/>
        <a:lstStyle/>
        <a:p>
          <a:r>
            <a:rPr lang="en-US" b="1"/>
            <a:t>Age:</a:t>
          </a:r>
          <a:r>
            <a:rPr lang="en-US"/>
            <a:t> Patient’s age in years</a:t>
          </a:r>
        </a:p>
      </dgm:t>
    </dgm:pt>
    <dgm:pt modelId="{9A1EC265-B6B5-4305-A1A9-667BA96CC748}" type="parTrans" cxnId="{999285DE-ED19-4DC4-B55F-28A65B2D7A79}">
      <dgm:prSet/>
      <dgm:spPr/>
      <dgm:t>
        <a:bodyPr/>
        <a:lstStyle/>
        <a:p>
          <a:endParaRPr lang="en-US"/>
        </a:p>
      </dgm:t>
    </dgm:pt>
    <dgm:pt modelId="{ADA742AA-FEF3-4AEC-9C36-68873B25C5ED}" type="sibTrans" cxnId="{999285DE-ED19-4DC4-B55F-28A65B2D7A79}">
      <dgm:prSet/>
      <dgm:spPr/>
      <dgm:t>
        <a:bodyPr/>
        <a:lstStyle/>
        <a:p>
          <a:endParaRPr lang="en-US"/>
        </a:p>
      </dgm:t>
    </dgm:pt>
    <dgm:pt modelId="{3BE4E67A-9070-40DF-828B-5CDC84F78B6B}">
      <dgm:prSet/>
      <dgm:spPr/>
      <dgm:t>
        <a:bodyPr/>
        <a:lstStyle/>
        <a:p>
          <a:r>
            <a:rPr lang="en-US" b="1"/>
            <a:t>BMI:</a:t>
          </a:r>
          <a:r>
            <a:rPr lang="en-US"/>
            <a:t> Body Mass Index</a:t>
          </a:r>
        </a:p>
      </dgm:t>
    </dgm:pt>
    <dgm:pt modelId="{5BC5625B-D35F-4B00-BFBA-F6D8C81540F3}" type="parTrans" cxnId="{05DD8800-D71E-4F89-AA87-19551B3BD8BA}">
      <dgm:prSet/>
      <dgm:spPr/>
      <dgm:t>
        <a:bodyPr/>
        <a:lstStyle/>
        <a:p>
          <a:endParaRPr lang="en-US"/>
        </a:p>
      </dgm:t>
    </dgm:pt>
    <dgm:pt modelId="{1D6019AB-EA72-4141-A09E-5F02CEFEF620}" type="sibTrans" cxnId="{05DD8800-D71E-4F89-AA87-19551B3BD8BA}">
      <dgm:prSet/>
      <dgm:spPr/>
      <dgm:t>
        <a:bodyPr/>
        <a:lstStyle/>
        <a:p>
          <a:endParaRPr lang="en-US"/>
        </a:p>
      </dgm:t>
    </dgm:pt>
    <dgm:pt modelId="{DE76DC37-0324-4FB5-B834-9CABA5AC505A}">
      <dgm:prSet/>
      <dgm:spPr/>
      <dgm:t>
        <a:bodyPr/>
        <a:lstStyle/>
        <a:p>
          <a:r>
            <a:rPr lang="en-US" b="1"/>
            <a:t>Smoker:</a:t>
          </a:r>
          <a:r>
            <a:rPr lang="en-US"/>
            <a:t> Smoking status (Yes/No)</a:t>
          </a:r>
        </a:p>
      </dgm:t>
    </dgm:pt>
    <dgm:pt modelId="{BDDA89E5-01D7-42EF-B6A7-31BF5F33C91A}" type="parTrans" cxnId="{A15F3755-249E-406F-9F37-04E4282F13BE}">
      <dgm:prSet/>
      <dgm:spPr/>
      <dgm:t>
        <a:bodyPr/>
        <a:lstStyle/>
        <a:p>
          <a:endParaRPr lang="en-US"/>
        </a:p>
      </dgm:t>
    </dgm:pt>
    <dgm:pt modelId="{32313DAB-5835-40DE-B80E-156F814C44D5}" type="sibTrans" cxnId="{A15F3755-249E-406F-9F37-04E4282F13BE}">
      <dgm:prSet/>
      <dgm:spPr/>
      <dgm:t>
        <a:bodyPr/>
        <a:lstStyle/>
        <a:p>
          <a:endParaRPr lang="en-US"/>
        </a:p>
      </dgm:t>
    </dgm:pt>
    <dgm:pt modelId="{4CABA21E-98E7-418C-BD3F-E74B7A61F2C7}">
      <dgm:prSet/>
      <dgm:spPr/>
      <dgm:t>
        <a:bodyPr/>
        <a:lstStyle/>
        <a:p>
          <a:r>
            <a:rPr lang="en-US" b="1"/>
            <a:t>Chronic Diseases:</a:t>
          </a:r>
          <a:r>
            <a:rPr lang="en-US"/>
            <a:t> Number of chronic conditions</a:t>
          </a:r>
        </a:p>
      </dgm:t>
    </dgm:pt>
    <dgm:pt modelId="{E0EAC531-7979-4A2A-9F83-FE19E64E00E7}" type="parTrans" cxnId="{4B9CC29C-B66D-4682-88A3-506CDFAD49FB}">
      <dgm:prSet/>
      <dgm:spPr/>
      <dgm:t>
        <a:bodyPr/>
        <a:lstStyle/>
        <a:p>
          <a:endParaRPr lang="en-US"/>
        </a:p>
      </dgm:t>
    </dgm:pt>
    <dgm:pt modelId="{B94A2CC1-17CE-4119-8254-9ACF1C42D76D}" type="sibTrans" cxnId="{4B9CC29C-B66D-4682-88A3-506CDFAD49FB}">
      <dgm:prSet/>
      <dgm:spPr/>
      <dgm:t>
        <a:bodyPr/>
        <a:lstStyle/>
        <a:p>
          <a:endParaRPr lang="en-US"/>
        </a:p>
      </dgm:t>
    </dgm:pt>
    <dgm:pt modelId="{2323113D-9DC6-46A4-A5AA-0E798DEFB223}">
      <dgm:prSet/>
      <dgm:spPr/>
      <dgm:t>
        <a:bodyPr/>
        <a:lstStyle/>
        <a:p>
          <a:r>
            <a:rPr lang="en-US" b="1"/>
            <a:t>Hospitalizations (3 yrs):</a:t>
          </a:r>
          <a:r>
            <a:rPr lang="en-US"/>
            <a:t> Count of hospital stays in the last three years</a:t>
          </a:r>
        </a:p>
      </dgm:t>
    </dgm:pt>
    <dgm:pt modelId="{DFB64E19-489F-4718-87CF-F5926CD2FF30}" type="parTrans" cxnId="{B0767033-0F11-40B0-94B3-56120752EE24}">
      <dgm:prSet/>
      <dgm:spPr/>
      <dgm:t>
        <a:bodyPr/>
        <a:lstStyle/>
        <a:p>
          <a:endParaRPr lang="en-US"/>
        </a:p>
      </dgm:t>
    </dgm:pt>
    <dgm:pt modelId="{7C7CAED6-79C6-4095-A5EC-DE952296A94E}" type="sibTrans" cxnId="{B0767033-0F11-40B0-94B3-56120752EE24}">
      <dgm:prSet/>
      <dgm:spPr/>
      <dgm:t>
        <a:bodyPr/>
        <a:lstStyle/>
        <a:p>
          <a:endParaRPr lang="en-US"/>
        </a:p>
      </dgm:t>
    </dgm:pt>
    <dgm:pt modelId="{CC7CC60F-E568-40FC-A219-99D55710157A}">
      <dgm:prSet/>
      <dgm:spPr/>
      <dgm:t>
        <a:bodyPr/>
        <a:lstStyle/>
        <a:p>
          <a:r>
            <a:rPr lang="en-US" b="1"/>
            <a:t>Annual Medical Cost:</a:t>
          </a:r>
          <a:r>
            <a:rPr lang="en-US"/>
            <a:t> Target variable (total yearly expense in USD)</a:t>
          </a:r>
        </a:p>
      </dgm:t>
    </dgm:pt>
    <dgm:pt modelId="{8DC36F72-D8FF-4EF2-A6E2-DD1F093BB618}" type="parTrans" cxnId="{44A4F0A3-7FE8-4CA7-A0D5-459542E84A18}">
      <dgm:prSet/>
      <dgm:spPr/>
      <dgm:t>
        <a:bodyPr/>
        <a:lstStyle/>
        <a:p>
          <a:endParaRPr lang="en-US"/>
        </a:p>
      </dgm:t>
    </dgm:pt>
    <dgm:pt modelId="{0510D031-198B-4CE8-AA9B-2908EACFBD3A}" type="sibTrans" cxnId="{44A4F0A3-7FE8-4CA7-A0D5-459542E84A18}">
      <dgm:prSet/>
      <dgm:spPr/>
      <dgm:t>
        <a:bodyPr/>
        <a:lstStyle/>
        <a:p>
          <a:endParaRPr lang="en-US"/>
        </a:p>
      </dgm:t>
    </dgm:pt>
    <dgm:pt modelId="{36320891-4C38-4F60-8E91-77FC3AABF343}">
      <dgm:prSet/>
      <dgm:spPr/>
      <dgm:t>
        <a:bodyPr/>
        <a:lstStyle/>
        <a:p>
          <a:r>
            <a:rPr lang="en-US" b="1"/>
            <a:t>Region:</a:t>
          </a:r>
          <a:r>
            <a:rPr lang="en-US"/>
            <a:t> Geographic area within the U.S.</a:t>
          </a:r>
        </a:p>
      </dgm:t>
    </dgm:pt>
    <dgm:pt modelId="{2A2D1D8E-9FBC-4125-BBCC-C1C73FF7E61E}" type="parTrans" cxnId="{59D1704C-9664-4E74-BF5B-CA01C0B2EBE3}">
      <dgm:prSet/>
      <dgm:spPr/>
      <dgm:t>
        <a:bodyPr/>
        <a:lstStyle/>
        <a:p>
          <a:endParaRPr lang="en-US"/>
        </a:p>
      </dgm:t>
    </dgm:pt>
    <dgm:pt modelId="{86AFE05E-13FD-4702-91E6-CD997D70E849}" type="sibTrans" cxnId="{59D1704C-9664-4E74-BF5B-CA01C0B2EBE3}">
      <dgm:prSet/>
      <dgm:spPr/>
      <dgm:t>
        <a:bodyPr/>
        <a:lstStyle/>
        <a:p>
          <a:endParaRPr lang="en-US"/>
        </a:p>
      </dgm:t>
    </dgm:pt>
    <dgm:pt modelId="{F3940125-3E9B-4EC2-AC0D-B5CD09C95484}" type="pres">
      <dgm:prSet presAssocID="{5FF68BD8-4EC1-45D2-A936-06EBB1882398}" presName="diagram" presStyleCnt="0">
        <dgm:presLayoutVars>
          <dgm:dir/>
          <dgm:resizeHandles val="exact"/>
        </dgm:presLayoutVars>
      </dgm:prSet>
      <dgm:spPr/>
    </dgm:pt>
    <dgm:pt modelId="{32C2BFE6-5E63-4487-B548-8CA2CD4DB502}" type="pres">
      <dgm:prSet presAssocID="{B3D8E549-89DC-4474-821E-5E148D852E62}" presName="node" presStyleLbl="node1" presStyleIdx="0" presStyleCnt="8">
        <dgm:presLayoutVars>
          <dgm:bulletEnabled val="1"/>
        </dgm:presLayoutVars>
      </dgm:prSet>
      <dgm:spPr/>
    </dgm:pt>
    <dgm:pt modelId="{0F1AC147-9911-4626-A8B0-57A1ACC7E437}" type="pres">
      <dgm:prSet presAssocID="{E0054FCB-1483-4FCA-B9B1-9D64C2C9544F}" presName="sibTrans" presStyleCnt="0"/>
      <dgm:spPr/>
    </dgm:pt>
    <dgm:pt modelId="{A046929E-4D22-4C9F-B3C7-CF6D9802035B}" type="pres">
      <dgm:prSet presAssocID="{808F5C47-E7E9-47FB-8BCD-421B116FAB32}" presName="node" presStyleLbl="node1" presStyleIdx="1" presStyleCnt="8">
        <dgm:presLayoutVars>
          <dgm:bulletEnabled val="1"/>
        </dgm:presLayoutVars>
      </dgm:prSet>
      <dgm:spPr/>
    </dgm:pt>
    <dgm:pt modelId="{51AE0C03-8790-4C77-9D88-1596A696F44C}" type="pres">
      <dgm:prSet presAssocID="{ADA742AA-FEF3-4AEC-9C36-68873B25C5ED}" presName="sibTrans" presStyleCnt="0"/>
      <dgm:spPr/>
    </dgm:pt>
    <dgm:pt modelId="{639C57EF-DC4A-499F-809F-AC1E659BFC0E}" type="pres">
      <dgm:prSet presAssocID="{3BE4E67A-9070-40DF-828B-5CDC84F78B6B}" presName="node" presStyleLbl="node1" presStyleIdx="2" presStyleCnt="8">
        <dgm:presLayoutVars>
          <dgm:bulletEnabled val="1"/>
        </dgm:presLayoutVars>
      </dgm:prSet>
      <dgm:spPr/>
    </dgm:pt>
    <dgm:pt modelId="{A81F645B-2A3D-465F-AD4B-E28D8F68DD19}" type="pres">
      <dgm:prSet presAssocID="{1D6019AB-EA72-4141-A09E-5F02CEFEF620}" presName="sibTrans" presStyleCnt="0"/>
      <dgm:spPr/>
    </dgm:pt>
    <dgm:pt modelId="{4AFB6A4C-AB28-44C3-A4F9-305F453FC4D4}" type="pres">
      <dgm:prSet presAssocID="{DE76DC37-0324-4FB5-B834-9CABA5AC505A}" presName="node" presStyleLbl="node1" presStyleIdx="3" presStyleCnt="8">
        <dgm:presLayoutVars>
          <dgm:bulletEnabled val="1"/>
        </dgm:presLayoutVars>
      </dgm:prSet>
      <dgm:spPr/>
    </dgm:pt>
    <dgm:pt modelId="{ED8B236E-F86F-4229-8C7C-2FCE3DD953A5}" type="pres">
      <dgm:prSet presAssocID="{32313DAB-5835-40DE-B80E-156F814C44D5}" presName="sibTrans" presStyleCnt="0"/>
      <dgm:spPr/>
    </dgm:pt>
    <dgm:pt modelId="{DEDD1C48-7AD2-42FE-8275-FECDF880EF3F}" type="pres">
      <dgm:prSet presAssocID="{4CABA21E-98E7-418C-BD3F-E74B7A61F2C7}" presName="node" presStyleLbl="node1" presStyleIdx="4" presStyleCnt="8">
        <dgm:presLayoutVars>
          <dgm:bulletEnabled val="1"/>
        </dgm:presLayoutVars>
      </dgm:prSet>
      <dgm:spPr/>
    </dgm:pt>
    <dgm:pt modelId="{F913EC10-C46E-42B9-BD8D-9791F4FDA58A}" type="pres">
      <dgm:prSet presAssocID="{B94A2CC1-17CE-4119-8254-9ACF1C42D76D}" presName="sibTrans" presStyleCnt="0"/>
      <dgm:spPr/>
    </dgm:pt>
    <dgm:pt modelId="{19AFF882-3D1F-4091-A434-C8A9004F4EC3}" type="pres">
      <dgm:prSet presAssocID="{2323113D-9DC6-46A4-A5AA-0E798DEFB223}" presName="node" presStyleLbl="node1" presStyleIdx="5" presStyleCnt="8">
        <dgm:presLayoutVars>
          <dgm:bulletEnabled val="1"/>
        </dgm:presLayoutVars>
      </dgm:prSet>
      <dgm:spPr/>
    </dgm:pt>
    <dgm:pt modelId="{46CB90BE-2F7A-432F-9317-D6CA23BB3538}" type="pres">
      <dgm:prSet presAssocID="{7C7CAED6-79C6-4095-A5EC-DE952296A94E}" presName="sibTrans" presStyleCnt="0"/>
      <dgm:spPr/>
    </dgm:pt>
    <dgm:pt modelId="{44C55482-758F-4A36-9B3D-2C5EEB9F256A}" type="pres">
      <dgm:prSet presAssocID="{CC7CC60F-E568-40FC-A219-99D55710157A}" presName="node" presStyleLbl="node1" presStyleIdx="6" presStyleCnt="8">
        <dgm:presLayoutVars>
          <dgm:bulletEnabled val="1"/>
        </dgm:presLayoutVars>
      </dgm:prSet>
      <dgm:spPr/>
    </dgm:pt>
    <dgm:pt modelId="{26FC618C-9EA9-4417-8196-75224FEF860F}" type="pres">
      <dgm:prSet presAssocID="{0510D031-198B-4CE8-AA9B-2908EACFBD3A}" presName="sibTrans" presStyleCnt="0"/>
      <dgm:spPr/>
    </dgm:pt>
    <dgm:pt modelId="{A950F7E1-42C8-438B-9BD3-534E98C1C475}" type="pres">
      <dgm:prSet presAssocID="{36320891-4C38-4F60-8E91-77FC3AABF343}" presName="node" presStyleLbl="node1" presStyleIdx="7" presStyleCnt="8">
        <dgm:presLayoutVars>
          <dgm:bulletEnabled val="1"/>
        </dgm:presLayoutVars>
      </dgm:prSet>
      <dgm:spPr/>
    </dgm:pt>
  </dgm:ptLst>
  <dgm:cxnLst>
    <dgm:cxn modelId="{05DD8800-D71E-4F89-AA87-19551B3BD8BA}" srcId="{5FF68BD8-4EC1-45D2-A936-06EBB1882398}" destId="{3BE4E67A-9070-40DF-828B-5CDC84F78B6B}" srcOrd="2" destOrd="0" parTransId="{5BC5625B-D35F-4B00-BFBA-F6D8C81540F3}" sibTransId="{1D6019AB-EA72-4141-A09E-5F02CEFEF620}"/>
    <dgm:cxn modelId="{8638D51C-F6CC-4810-A1B9-7C83708A7956}" type="presOf" srcId="{808F5C47-E7E9-47FB-8BCD-421B116FAB32}" destId="{A046929E-4D22-4C9F-B3C7-CF6D9802035B}" srcOrd="0" destOrd="0" presId="urn:microsoft.com/office/officeart/2005/8/layout/default"/>
    <dgm:cxn modelId="{39FC0A21-AB02-4789-B8CD-740D6BDBDBB1}" type="presOf" srcId="{5FF68BD8-4EC1-45D2-A936-06EBB1882398}" destId="{F3940125-3E9B-4EC2-AC0D-B5CD09C95484}" srcOrd="0" destOrd="0" presId="urn:microsoft.com/office/officeart/2005/8/layout/default"/>
    <dgm:cxn modelId="{B0767033-0F11-40B0-94B3-56120752EE24}" srcId="{5FF68BD8-4EC1-45D2-A936-06EBB1882398}" destId="{2323113D-9DC6-46A4-A5AA-0E798DEFB223}" srcOrd="5" destOrd="0" parTransId="{DFB64E19-489F-4718-87CF-F5926CD2FF30}" sibTransId="{7C7CAED6-79C6-4095-A5EC-DE952296A94E}"/>
    <dgm:cxn modelId="{87321365-BD54-4CD1-B406-7FBDFC055687}" srcId="{5FF68BD8-4EC1-45D2-A936-06EBB1882398}" destId="{B3D8E549-89DC-4474-821E-5E148D852E62}" srcOrd="0" destOrd="0" parTransId="{6737EEDE-2EF0-4E1E-B384-AFFBDE1A0203}" sibTransId="{E0054FCB-1483-4FCA-B9B1-9D64C2C9544F}"/>
    <dgm:cxn modelId="{59D1704C-9664-4E74-BF5B-CA01C0B2EBE3}" srcId="{5FF68BD8-4EC1-45D2-A936-06EBB1882398}" destId="{36320891-4C38-4F60-8E91-77FC3AABF343}" srcOrd="7" destOrd="0" parTransId="{2A2D1D8E-9FBC-4125-BBCC-C1C73FF7E61E}" sibTransId="{86AFE05E-13FD-4702-91E6-CD997D70E849}"/>
    <dgm:cxn modelId="{5A017370-749D-4337-9FD9-2395E6DFD030}" type="presOf" srcId="{B3D8E549-89DC-4474-821E-5E148D852E62}" destId="{32C2BFE6-5E63-4487-B548-8CA2CD4DB502}" srcOrd="0" destOrd="0" presId="urn:microsoft.com/office/officeart/2005/8/layout/default"/>
    <dgm:cxn modelId="{A15F3755-249E-406F-9F37-04E4282F13BE}" srcId="{5FF68BD8-4EC1-45D2-A936-06EBB1882398}" destId="{DE76DC37-0324-4FB5-B834-9CABA5AC505A}" srcOrd="3" destOrd="0" parTransId="{BDDA89E5-01D7-42EF-B6A7-31BF5F33C91A}" sibTransId="{32313DAB-5835-40DE-B80E-156F814C44D5}"/>
    <dgm:cxn modelId="{15F4E67C-8778-4364-BD0B-9C56D85E8F5D}" type="presOf" srcId="{3BE4E67A-9070-40DF-828B-5CDC84F78B6B}" destId="{639C57EF-DC4A-499F-809F-AC1E659BFC0E}" srcOrd="0" destOrd="0" presId="urn:microsoft.com/office/officeart/2005/8/layout/default"/>
    <dgm:cxn modelId="{9CAE419C-D053-4B1D-B7A3-A71285EBEC3D}" type="presOf" srcId="{DE76DC37-0324-4FB5-B834-9CABA5AC505A}" destId="{4AFB6A4C-AB28-44C3-A4F9-305F453FC4D4}" srcOrd="0" destOrd="0" presId="urn:microsoft.com/office/officeart/2005/8/layout/default"/>
    <dgm:cxn modelId="{4B9CC29C-B66D-4682-88A3-506CDFAD49FB}" srcId="{5FF68BD8-4EC1-45D2-A936-06EBB1882398}" destId="{4CABA21E-98E7-418C-BD3F-E74B7A61F2C7}" srcOrd="4" destOrd="0" parTransId="{E0EAC531-7979-4A2A-9F83-FE19E64E00E7}" sibTransId="{B94A2CC1-17CE-4119-8254-9ACF1C42D76D}"/>
    <dgm:cxn modelId="{44A4F0A3-7FE8-4CA7-A0D5-459542E84A18}" srcId="{5FF68BD8-4EC1-45D2-A936-06EBB1882398}" destId="{CC7CC60F-E568-40FC-A219-99D55710157A}" srcOrd="6" destOrd="0" parTransId="{8DC36F72-D8FF-4EF2-A6E2-DD1F093BB618}" sibTransId="{0510D031-198B-4CE8-AA9B-2908EACFBD3A}"/>
    <dgm:cxn modelId="{018796AF-9461-426F-88AE-545A6918FF0A}" type="presOf" srcId="{36320891-4C38-4F60-8E91-77FC3AABF343}" destId="{A950F7E1-42C8-438B-9BD3-534E98C1C475}" srcOrd="0" destOrd="0" presId="urn:microsoft.com/office/officeart/2005/8/layout/default"/>
    <dgm:cxn modelId="{21CF23C0-B595-4BAE-B75A-6DC273E2076B}" type="presOf" srcId="{2323113D-9DC6-46A4-A5AA-0E798DEFB223}" destId="{19AFF882-3D1F-4091-A434-C8A9004F4EC3}" srcOrd="0" destOrd="0" presId="urn:microsoft.com/office/officeart/2005/8/layout/default"/>
    <dgm:cxn modelId="{D5961BC7-9C4F-4C4D-BAFC-1FF6F9ADDBA9}" type="presOf" srcId="{4CABA21E-98E7-418C-BD3F-E74B7A61F2C7}" destId="{DEDD1C48-7AD2-42FE-8275-FECDF880EF3F}" srcOrd="0" destOrd="0" presId="urn:microsoft.com/office/officeart/2005/8/layout/default"/>
    <dgm:cxn modelId="{999285DE-ED19-4DC4-B55F-28A65B2D7A79}" srcId="{5FF68BD8-4EC1-45D2-A936-06EBB1882398}" destId="{808F5C47-E7E9-47FB-8BCD-421B116FAB32}" srcOrd="1" destOrd="0" parTransId="{9A1EC265-B6B5-4305-A1A9-667BA96CC748}" sibTransId="{ADA742AA-FEF3-4AEC-9C36-68873B25C5ED}"/>
    <dgm:cxn modelId="{1CDF9FE1-F6CF-4B40-9C39-EA01DB660083}" type="presOf" srcId="{CC7CC60F-E568-40FC-A219-99D55710157A}" destId="{44C55482-758F-4A36-9B3D-2C5EEB9F256A}" srcOrd="0" destOrd="0" presId="urn:microsoft.com/office/officeart/2005/8/layout/default"/>
    <dgm:cxn modelId="{E361523E-76B6-4B11-94B2-119820156AEA}" type="presParOf" srcId="{F3940125-3E9B-4EC2-AC0D-B5CD09C95484}" destId="{32C2BFE6-5E63-4487-B548-8CA2CD4DB502}" srcOrd="0" destOrd="0" presId="urn:microsoft.com/office/officeart/2005/8/layout/default"/>
    <dgm:cxn modelId="{6D2E6BDD-747F-462B-AD5E-90DF43711D46}" type="presParOf" srcId="{F3940125-3E9B-4EC2-AC0D-B5CD09C95484}" destId="{0F1AC147-9911-4626-A8B0-57A1ACC7E437}" srcOrd="1" destOrd="0" presId="urn:microsoft.com/office/officeart/2005/8/layout/default"/>
    <dgm:cxn modelId="{12F18971-7373-4EAF-89FB-416FB9CF1438}" type="presParOf" srcId="{F3940125-3E9B-4EC2-AC0D-B5CD09C95484}" destId="{A046929E-4D22-4C9F-B3C7-CF6D9802035B}" srcOrd="2" destOrd="0" presId="urn:microsoft.com/office/officeart/2005/8/layout/default"/>
    <dgm:cxn modelId="{DB620B5F-52B8-4896-89A3-51DCB9BD4CB0}" type="presParOf" srcId="{F3940125-3E9B-4EC2-AC0D-B5CD09C95484}" destId="{51AE0C03-8790-4C77-9D88-1596A696F44C}" srcOrd="3" destOrd="0" presId="urn:microsoft.com/office/officeart/2005/8/layout/default"/>
    <dgm:cxn modelId="{158CDD0E-9926-43B0-AE91-00A51E692327}" type="presParOf" srcId="{F3940125-3E9B-4EC2-AC0D-B5CD09C95484}" destId="{639C57EF-DC4A-499F-809F-AC1E659BFC0E}" srcOrd="4" destOrd="0" presId="urn:microsoft.com/office/officeart/2005/8/layout/default"/>
    <dgm:cxn modelId="{413960D1-7924-4E4C-88E4-0B5591470C72}" type="presParOf" srcId="{F3940125-3E9B-4EC2-AC0D-B5CD09C95484}" destId="{A81F645B-2A3D-465F-AD4B-E28D8F68DD19}" srcOrd="5" destOrd="0" presId="urn:microsoft.com/office/officeart/2005/8/layout/default"/>
    <dgm:cxn modelId="{3C8AC8DE-9B82-4912-88A1-EC7B40B47028}" type="presParOf" srcId="{F3940125-3E9B-4EC2-AC0D-B5CD09C95484}" destId="{4AFB6A4C-AB28-44C3-A4F9-305F453FC4D4}" srcOrd="6" destOrd="0" presId="urn:microsoft.com/office/officeart/2005/8/layout/default"/>
    <dgm:cxn modelId="{EE60A82D-999D-4CEF-9B37-9C7DF4B1CE7F}" type="presParOf" srcId="{F3940125-3E9B-4EC2-AC0D-B5CD09C95484}" destId="{ED8B236E-F86F-4229-8C7C-2FCE3DD953A5}" srcOrd="7" destOrd="0" presId="urn:microsoft.com/office/officeart/2005/8/layout/default"/>
    <dgm:cxn modelId="{694389FF-22CC-446A-B787-60782DD183C1}" type="presParOf" srcId="{F3940125-3E9B-4EC2-AC0D-B5CD09C95484}" destId="{DEDD1C48-7AD2-42FE-8275-FECDF880EF3F}" srcOrd="8" destOrd="0" presId="urn:microsoft.com/office/officeart/2005/8/layout/default"/>
    <dgm:cxn modelId="{C01D8076-5537-4FAA-984B-118BF410D27E}" type="presParOf" srcId="{F3940125-3E9B-4EC2-AC0D-B5CD09C95484}" destId="{F913EC10-C46E-42B9-BD8D-9791F4FDA58A}" srcOrd="9" destOrd="0" presId="urn:microsoft.com/office/officeart/2005/8/layout/default"/>
    <dgm:cxn modelId="{CFC0B810-130D-40D8-BE8A-5FFE9782AE61}" type="presParOf" srcId="{F3940125-3E9B-4EC2-AC0D-B5CD09C95484}" destId="{19AFF882-3D1F-4091-A434-C8A9004F4EC3}" srcOrd="10" destOrd="0" presId="urn:microsoft.com/office/officeart/2005/8/layout/default"/>
    <dgm:cxn modelId="{223C2141-5A4E-4D1E-97B9-4EF1166E32D9}" type="presParOf" srcId="{F3940125-3E9B-4EC2-AC0D-B5CD09C95484}" destId="{46CB90BE-2F7A-432F-9317-D6CA23BB3538}" srcOrd="11" destOrd="0" presId="urn:microsoft.com/office/officeart/2005/8/layout/default"/>
    <dgm:cxn modelId="{16EBD044-536D-460A-9449-27E53ABF74BA}" type="presParOf" srcId="{F3940125-3E9B-4EC2-AC0D-B5CD09C95484}" destId="{44C55482-758F-4A36-9B3D-2C5EEB9F256A}" srcOrd="12" destOrd="0" presId="urn:microsoft.com/office/officeart/2005/8/layout/default"/>
    <dgm:cxn modelId="{081383E5-3297-4422-A64C-77D316B7A5FC}" type="presParOf" srcId="{F3940125-3E9B-4EC2-AC0D-B5CD09C95484}" destId="{26FC618C-9EA9-4417-8196-75224FEF860F}" srcOrd="13" destOrd="0" presId="urn:microsoft.com/office/officeart/2005/8/layout/default"/>
    <dgm:cxn modelId="{DBFC4EC0-4511-45CA-A8E5-D79221718145}" type="presParOf" srcId="{F3940125-3E9B-4EC2-AC0D-B5CD09C95484}" destId="{A950F7E1-42C8-438B-9BD3-534E98C1C475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B3EF6-6FCD-4002-B97A-3F9EE6B365AD}">
      <dsp:nvSpPr>
        <dsp:cNvPr id="0" name=""/>
        <dsp:cNvSpPr/>
      </dsp:nvSpPr>
      <dsp:spPr>
        <a:xfrm>
          <a:off x="1067" y="0"/>
          <a:ext cx="4161680" cy="1892808"/>
        </a:xfrm>
        <a:prstGeom prst="rect">
          <a:avLst/>
        </a:prstGeom>
        <a:gradFill flip="none" rotWithShape="0">
          <a:gsLst>
            <a:gs pos="0">
              <a:srgbClr val="3399FF">
                <a:tint val="66000"/>
                <a:satMod val="160000"/>
              </a:srgbClr>
            </a:gs>
            <a:gs pos="50000">
              <a:srgbClr val="3399FF">
                <a:tint val="44500"/>
                <a:satMod val="160000"/>
              </a:srgbClr>
            </a:gs>
            <a:gs pos="100000">
              <a:srgbClr val="3399FF">
                <a:tint val="23500"/>
                <a:satMod val="160000"/>
              </a:srgbClr>
            </a:gs>
          </a:gsLst>
          <a:lin ang="2700000" scaled="1"/>
          <a:tileRect/>
        </a:gra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4461" tIns="330200" rIns="324461" bIns="33020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Analyzing U.S. Medical Cost Drivers to Guide Allianz Germany’s Market Entry Strategy</a:t>
          </a:r>
          <a:endParaRPr lang="en-US" sz="1500" kern="1200" dirty="0"/>
        </a:p>
      </dsp:txBody>
      <dsp:txXfrm>
        <a:off x="1067" y="719267"/>
        <a:ext cx="4161680" cy="1135684"/>
      </dsp:txXfrm>
    </dsp:sp>
    <dsp:sp modelId="{4F7F58E5-58CA-4305-8F16-7A86DC4AFED6}">
      <dsp:nvSpPr>
        <dsp:cNvPr id="0" name=""/>
        <dsp:cNvSpPr/>
      </dsp:nvSpPr>
      <dsp:spPr>
        <a:xfrm>
          <a:off x="1797986" y="189280"/>
          <a:ext cx="567842" cy="5678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271" tIns="12700" rIns="44271" bIns="1270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</a:t>
          </a:r>
        </a:p>
      </dsp:txBody>
      <dsp:txXfrm>
        <a:off x="1881145" y="272439"/>
        <a:ext cx="401524" cy="401524"/>
      </dsp:txXfrm>
    </dsp:sp>
    <dsp:sp modelId="{58F6EA57-956D-456A-A218-F1B7A9F7DF8E}">
      <dsp:nvSpPr>
        <dsp:cNvPr id="0" name=""/>
        <dsp:cNvSpPr/>
      </dsp:nvSpPr>
      <dsp:spPr>
        <a:xfrm>
          <a:off x="1067" y="1892736"/>
          <a:ext cx="4161680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7D44D-3093-48AF-A0E4-1A9FA6822A8B}">
      <dsp:nvSpPr>
        <dsp:cNvPr id="0" name=""/>
        <dsp:cNvSpPr/>
      </dsp:nvSpPr>
      <dsp:spPr>
        <a:xfrm>
          <a:off x="4578916" y="0"/>
          <a:ext cx="4161680" cy="189280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4461" tIns="330200" rIns="324461" bIns="33020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Analyzing health cost trends to support market entry and risk-based pricing</a:t>
          </a:r>
          <a:endParaRPr lang="en-US" sz="1500" kern="1200" dirty="0"/>
        </a:p>
      </dsp:txBody>
      <dsp:txXfrm>
        <a:off x="4578916" y="719267"/>
        <a:ext cx="4161680" cy="1135684"/>
      </dsp:txXfrm>
    </dsp:sp>
    <dsp:sp modelId="{EFB9E37D-92E1-4137-A1CA-635B776D55B0}">
      <dsp:nvSpPr>
        <dsp:cNvPr id="0" name=""/>
        <dsp:cNvSpPr/>
      </dsp:nvSpPr>
      <dsp:spPr>
        <a:xfrm>
          <a:off x="6375835" y="189280"/>
          <a:ext cx="567842" cy="5678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271" tIns="12700" rIns="44271" bIns="1270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2</a:t>
          </a:r>
        </a:p>
      </dsp:txBody>
      <dsp:txXfrm>
        <a:off x="6458994" y="272439"/>
        <a:ext cx="401524" cy="401524"/>
      </dsp:txXfrm>
    </dsp:sp>
    <dsp:sp modelId="{C85014B5-9A2E-4D89-A978-BB84C9658B1A}">
      <dsp:nvSpPr>
        <dsp:cNvPr id="0" name=""/>
        <dsp:cNvSpPr/>
      </dsp:nvSpPr>
      <dsp:spPr>
        <a:xfrm>
          <a:off x="4578916" y="1892736"/>
          <a:ext cx="4161680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1C5CAB-8004-4511-9294-10F5C0322F76}">
      <dsp:nvSpPr>
        <dsp:cNvPr id="0" name=""/>
        <dsp:cNvSpPr/>
      </dsp:nvSpPr>
      <dsp:spPr>
        <a:xfrm>
          <a:off x="3310123" y="963"/>
          <a:ext cx="1609352" cy="16093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Goal: Support Allianz Germany's entry into the U.S. insurance market.</a:t>
          </a:r>
        </a:p>
      </dsp:txBody>
      <dsp:txXfrm>
        <a:off x="3545807" y="236647"/>
        <a:ext cx="1137984" cy="1137984"/>
      </dsp:txXfrm>
    </dsp:sp>
    <dsp:sp modelId="{68DF15C2-34E9-48CC-B0E6-38C555931F91}">
      <dsp:nvSpPr>
        <dsp:cNvPr id="0" name=""/>
        <dsp:cNvSpPr/>
      </dsp:nvSpPr>
      <dsp:spPr>
        <a:xfrm rot="2700000">
          <a:off x="4746732" y="1379976"/>
          <a:ext cx="427965" cy="543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765534" y="1443215"/>
        <a:ext cx="299576" cy="325894"/>
      </dsp:txXfrm>
    </dsp:sp>
    <dsp:sp modelId="{FDAACBF8-B40B-4466-AE64-6FE998A9A6B9}">
      <dsp:nvSpPr>
        <dsp:cNvPr id="0" name=""/>
        <dsp:cNvSpPr/>
      </dsp:nvSpPr>
      <dsp:spPr>
        <a:xfrm>
          <a:off x="5019083" y="1709923"/>
          <a:ext cx="1609352" cy="16093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Approach: Combined EDA, predictive modeling, and dashboarding.</a:t>
          </a:r>
        </a:p>
      </dsp:txBody>
      <dsp:txXfrm>
        <a:off x="5254767" y="1945607"/>
        <a:ext cx="1137984" cy="1137984"/>
      </dsp:txXfrm>
    </dsp:sp>
    <dsp:sp modelId="{185E9920-867D-4DCC-B23F-BFF99A3A75DD}">
      <dsp:nvSpPr>
        <dsp:cNvPr id="0" name=""/>
        <dsp:cNvSpPr/>
      </dsp:nvSpPr>
      <dsp:spPr>
        <a:xfrm rot="8100000">
          <a:off x="4763862" y="3088937"/>
          <a:ext cx="427965" cy="543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4873449" y="3152176"/>
        <a:ext cx="299576" cy="325894"/>
      </dsp:txXfrm>
    </dsp:sp>
    <dsp:sp modelId="{A3401CD8-D5C1-4E53-A829-B5D29F6D265C}">
      <dsp:nvSpPr>
        <dsp:cNvPr id="0" name=""/>
        <dsp:cNvSpPr/>
      </dsp:nvSpPr>
      <dsp:spPr>
        <a:xfrm>
          <a:off x="3310123" y="3418883"/>
          <a:ext cx="1609352" cy="16093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Outcome: Identified key cost drivers including smoking, BMI, and age.</a:t>
          </a:r>
        </a:p>
      </dsp:txBody>
      <dsp:txXfrm>
        <a:off x="3545807" y="3654567"/>
        <a:ext cx="1137984" cy="1137984"/>
      </dsp:txXfrm>
    </dsp:sp>
    <dsp:sp modelId="{F6EC78DF-F1FF-4359-BBEA-AB9A9BB39C18}">
      <dsp:nvSpPr>
        <dsp:cNvPr id="0" name=""/>
        <dsp:cNvSpPr/>
      </dsp:nvSpPr>
      <dsp:spPr>
        <a:xfrm rot="13500000">
          <a:off x="3054901" y="3106066"/>
          <a:ext cx="427965" cy="543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3164488" y="3260089"/>
        <a:ext cx="299576" cy="325894"/>
      </dsp:txXfrm>
    </dsp:sp>
    <dsp:sp modelId="{761209FE-2DFA-480A-A70F-129931A3227B}">
      <dsp:nvSpPr>
        <dsp:cNvPr id="0" name=""/>
        <dsp:cNvSpPr/>
      </dsp:nvSpPr>
      <dsp:spPr>
        <a:xfrm>
          <a:off x="1601163" y="1709923"/>
          <a:ext cx="1609352" cy="16093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Strategy: Develop risk-based pricing leveraging model insights.</a:t>
          </a:r>
        </a:p>
      </dsp:txBody>
      <dsp:txXfrm>
        <a:off x="1836847" y="1945607"/>
        <a:ext cx="1137984" cy="1137984"/>
      </dsp:txXfrm>
    </dsp:sp>
    <dsp:sp modelId="{E7D5D817-36D1-4529-B65A-745D77923F36}">
      <dsp:nvSpPr>
        <dsp:cNvPr id="0" name=""/>
        <dsp:cNvSpPr/>
      </dsp:nvSpPr>
      <dsp:spPr>
        <a:xfrm rot="18900000">
          <a:off x="3037772" y="1397106"/>
          <a:ext cx="427965" cy="543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056574" y="1551129"/>
        <a:ext cx="299576" cy="3258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C2BFE6-5E63-4487-B548-8CA2CD4DB502}">
      <dsp:nvSpPr>
        <dsp:cNvPr id="0" name=""/>
        <dsp:cNvSpPr/>
      </dsp:nvSpPr>
      <dsp:spPr>
        <a:xfrm>
          <a:off x="0" y="893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🔢 </a:t>
          </a:r>
          <a:r>
            <a:rPr lang="en-US" sz="1300" b="1" kern="1200"/>
            <a:t>Key Variables</a:t>
          </a:r>
          <a:endParaRPr lang="en-US" sz="1300" kern="1200"/>
        </a:p>
      </dsp:txBody>
      <dsp:txXfrm>
        <a:off x="0" y="893"/>
        <a:ext cx="1568767" cy="941260"/>
      </dsp:txXfrm>
    </dsp:sp>
    <dsp:sp modelId="{A046929E-4D22-4C9F-B3C7-CF6D9802035B}">
      <dsp:nvSpPr>
        <dsp:cNvPr id="0" name=""/>
        <dsp:cNvSpPr/>
      </dsp:nvSpPr>
      <dsp:spPr>
        <a:xfrm>
          <a:off x="1725644" y="893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Age:</a:t>
          </a:r>
          <a:r>
            <a:rPr lang="en-US" sz="1300" kern="1200"/>
            <a:t> Patient’s age in years</a:t>
          </a:r>
        </a:p>
      </dsp:txBody>
      <dsp:txXfrm>
        <a:off x="1725644" y="893"/>
        <a:ext cx="1568767" cy="941260"/>
      </dsp:txXfrm>
    </dsp:sp>
    <dsp:sp modelId="{639C57EF-DC4A-499F-809F-AC1E659BFC0E}">
      <dsp:nvSpPr>
        <dsp:cNvPr id="0" name=""/>
        <dsp:cNvSpPr/>
      </dsp:nvSpPr>
      <dsp:spPr>
        <a:xfrm>
          <a:off x="3451288" y="893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BMI:</a:t>
          </a:r>
          <a:r>
            <a:rPr lang="en-US" sz="1300" kern="1200"/>
            <a:t> Body Mass Index</a:t>
          </a:r>
        </a:p>
      </dsp:txBody>
      <dsp:txXfrm>
        <a:off x="3451288" y="893"/>
        <a:ext cx="1568767" cy="941260"/>
      </dsp:txXfrm>
    </dsp:sp>
    <dsp:sp modelId="{4AFB6A4C-AB28-44C3-A4F9-305F453FC4D4}">
      <dsp:nvSpPr>
        <dsp:cNvPr id="0" name=""/>
        <dsp:cNvSpPr/>
      </dsp:nvSpPr>
      <dsp:spPr>
        <a:xfrm>
          <a:off x="0" y="1099030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Smoker:</a:t>
          </a:r>
          <a:r>
            <a:rPr lang="en-US" sz="1300" kern="1200"/>
            <a:t> Smoking status (Yes/No)</a:t>
          </a:r>
        </a:p>
      </dsp:txBody>
      <dsp:txXfrm>
        <a:off x="0" y="1099030"/>
        <a:ext cx="1568767" cy="941260"/>
      </dsp:txXfrm>
    </dsp:sp>
    <dsp:sp modelId="{DEDD1C48-7AD2-42FE-8275-FECDF880EF3F}">
      <dsp:nvSpPr>
        <dsp:cNvPr id="0" name=""/>
        <dsp:cNvSpPr/>
      </dsp:nvSpPr>
      <dsp:spPr>
        <a:xfrm>
          <a:off x="1725644" y="1099030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Chronic Diseases:</a:t>
          </a:r>
          <a:r>
            <a:rPr lang="en-US" sz="1300" kern="1200"/>
            <a:t> Number of chronic conditions</a:t>
          </a:r>
        </a:p>
      </dsp:txBody>
      <dsp:txXfrm>
        <a:off x="1725644" y="1099030"/>
        <a:ext cx="1568767" cy="941260"/>
      </dsp:txXfrm>
    </dsp:sp>
    <dsp:sp modelId="{19AFF882-3D1F-4091-A434-C8A9004F4EC3}">
      <dsp:nvSpPr>
        <dsp:cNvPr id="0" name=""/>
        <dsp:cNvSpPr/>
      </dsp:nvSpPr>
      <dsp:spPr>
        <a:xfrm>
          <a:off x="3451288" y="1099030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Hospitalizations (3 yrs):</a:t>
          </a:r>
          <a:r>
            <a:rPr lang="en-US" sz="1300" kern="1200"/>
            <a:t> Count of hospital stays in the last three years</a:t>
          </a:r>
        </a:p>
      </dsp:txBody>
      <dsp:txXfrm>
        <a:off x="3451288" y="1099030"/>
        <a:ext cx="1568767" cy="941260"/>
      </dsp:txXfrm>
    </dsp:sp>
    <dsp:sp modelId="{44C55482-758F-4A36-9B3D-2C5EEB9F256A}">
      <dsp:nvSpPr>
        <dsp:cNvPr id="0" name=""/>
        <dsp:cNvSpPr/>
      </dsp:nvSpPr>
      <dsp:spPr>
        <a:xfrm>
          <a:off x="862822" y="2197167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Annual Medical Cost:</a:t>
          </a:r>
          <a:r>
            <a:rPr lang="en-US" sz="1300" kern="1200"/>
            <a:t> Target variable (total yearly expense in USD)</a:t>
          </a:r>
        </a:p>
      </dsp:txBody>
      <dsp:txXfrm>
        <a:off x="862822" y="2197167"/>
        <a:ext cx="1568767" cy="941260"/>
      </dsp:txXfrm>
    </dsp:sp>
    <dsp:sp modelId="{A950F7E1-42C8-438B-9BD3-534E98C1C475}">
      <dsp:nvSpPr>
        <dsp:cNvPr id="0" name=""/>
        <dsp:cNvSpPr/>
      </dsp:nvSpPr>
      <dsp:spPr>
        <a:xfrm>
          <a:off x="2588466" y="2197167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Region:</a:t>
          </a:r>
          <a:r>
            <a:rPr lang="en-US" sz="1300" kern="1200"/>
            <a:t> Geographic area within the U.S.</a:t>
          </a:r>
        </a:p>
      </dsp:txBody>
      <dsp:txXfrm>
        <a:off x="2588466" y="2197167"/>
        <a:ext cx="1568767" cy="941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74D6E-5B1F-42CA-BB26-240968BF48EF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31A2B-D8F5-4831-9B1A-10BFD1571C8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7256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31A2B-D8F5-4831-9B1A-10BFD1571C8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6715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2614-5D8A-464D-8CAA-1F5A170E24CB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9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FD62B-1718-4792-8251-45E90B74192E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10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FE87-5746-406D-B0B6-CF70D7C996CE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09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E1B5D-A511-437A-BD08-B0C9B23BAD95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2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99F0C-6D8C-4CF9-B4D9-F5B68B5C6F65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2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7AECB-D098-4200-BB17-D326FB27A923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34C-6BB7-4E28-ADFA-A25D181310E3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67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5E147-4F05-4540-85EF-85C101B8DC21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6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620B-E389-4DFB-97C6-1A94A402D0AE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53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1858-BE3B-45A3-BF99-4CBE73A8A370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00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F8B6-38F3-4019-8562-7E7B9B14E3AD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5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AF44-D01D-4315-A775-430488D924B9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70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hyperlink" Target="https://github.com/YOUR-GITHUB-USERNAME" TargetMode="External"/><Relationship Id="rId4" Type="http://schemas.openxmlformats.org/officeDocument/2006/relationships/hyperlink" Target="https://www.linkedin.com/in/YOUR-LINKEDIN-USERNAM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" name="Rectangle 11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oup of people sitting around a table&#10;&#10;AI-generated content may be incorrect.">
            <a:extLst>
              <a:ext uri="{FF2B5EF4-FFF2-40B4-BE49-F238E27FC236}">
                <a16:creationId xmlns:a16="http://schemas.microsoft.com/office/drawing/2014/main" id="{57EFE395-9B4F-A245-20E2-7842BE58BE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5438"/>
          <a:stretch>
            <a:fillRect/>
          </a:stretch>
        </p:blipFill>
        <p:spPr>
          <a:xfrm>
            <a:off x="1429363" y="457200"/>
            <a:ext cx="6285273" cy="5943600"/>
          </a:xfrm>
          <a:prstGeom prst="rect">
            <a:avLst/>
          </a:prstGeom>
        </p:spPr>
      </p:pic>
      <p:graphicFrame>
        <p:nvGraphicFramePr>
          <p:cNvPr id="104" name="TextBox 1">
            <a:extLst>
              <a:ext uri="{FF2B5EF4-FFF2-40B4-BE49-F238E27FC236}">
                <a16:creationId xmlns:a16="http://schemas.microsoft.com/office/drawing/2014/main" id="{EF565FF9-513B-49C9-2108-8A6930B5E6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866725"/>
              </p:ext>
            </p:extLst>
          </p:nvPr>
        </p:nvGraphicFramePr>
        <p:xfrm>
          <a:off x="210312" y="4809744"/>
          <a:ext cx="8741664" cy="18928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usiness handshake">
            <a:extLst>
              <a:ext uri="{FF2B5EF4-FFF2-40B4-BE49-F238E27FC236}">
                <a16:creationId xmlns:a16="http://schemas.microsoft.com/office/drawing/2014/main" id="{381CBDD9-8ED4-68B0-470C-D25C74F06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3429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59D4E3-F537-7107-4B8F-86F6F593D765}"/>
              </a:ext>
            </a:extLst>
          </p:cNvPr>
          <p:cNvSpPr txBox="1"/>
          <p:nvPr/>
        </p:nvSpPr>
        <p:spPr>
          <a:xfrm>
            <a:off x="155448" y="504920"/>
            <a:ext cx="4416552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50" dirty="0"/>
              <a:t>Welcome, and thank you for joining us </a:t>
            </a:r>
            <a:r>
              <a:rPr lang="en-US" sz="1050" b="1" dirty="0"/>
              <a:t>i</a:t>
            </a:r>
            <a:r>
              <a:rPr lang="en-US" sz="1050" dirty="0"/>
              <a:t>n today’s presentation, we’ll explore how </a:t>
            </a:r>
            <a:r>
              <a:rPr lang="en-US" sz="1050" b="1" dirty="0"/>
              <a:t>data analytics reveals the key drivers of U.S. medical insurance costs</a:t>
            </a:r>
            <a:r>
              <a:rPr lang="en-US" sz="1050" dirty="0"/>
              <a:t>,</a:t>
            </a:r>
            <a:br>
              <a:rPr lang="en-US" sz="1050" dirty="0"/>
            </a:br>
            <a:r>
              <a:rPr lang="en-US" sz="1050" dirty="0"/>
              <a:t>helping </a:t>
            </a:r>
            <a:r>
              <a:rPr lang="en-US" sz="1050" b="1" dirty="0"/>
              <a:t>Allianz Germany</a:t>
            </a:r>
            <a:r>
              <a:rPr lang="en-US" sz="1050" dirty="0"/>
              <a:t> design fair, competitive, and risk-adjusted pricing strategies for market entry.</a:t>
            </a:r>
            <a:endParaRPr lang="de-DE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6EA4E-0BEF-BFBD-BFC6-594D8801BEAC}"/>
              </a:ext>
            </a:extLst>
          </p:cNvPr>
          <p:cNvSpPr txBox="1"/>
          <p:nvPr/>
        </p:nvSpPr>
        <p:spPr>
          <a:xfrm>
            <a:off x="4572000" y="4147566"/>
            <a:ext cx="4005072" cy="187743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Sruthi Thulasi Das</a:t>
            </a:r>
            <a:br>
              <a:rPr lang="de-DE" sz="1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de-DE" sz="1400" dirty="0">
                <a:latin typeface="Segoe UI" panose="020B0502040204020203" pitchFamily="34" charset="0"/>
                <a:cs typeface="Segoe UI" panose="020B0502040204020203" pitchFamily="34" charset="0"/>
              </a:rPr>
              <a:t>🎓 </a:t>
            </a:r>
            <a:r>
              <a:rPr lang="de-DE" sz="1400" i="1" dirty="0">
                <a:latin typeface="Segoe UI" panose="020B0502040204020203" pitchFamily="34" charset="0"/>
                <a:cs typeface="Segoe UI" panose="020B0502040204020203" pitchFamily="34" charset="0"/>
              </a:rPr>
              <a:t>Bachelor‘s degree in Computer Science</a:t>
            </a:r>
            <a:br>
              <a:rPr lang="de-DE" sz="1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de-DE" sz="1400" dirty="0">
                <a:latin typeface="Segoe UI" panose="020B0502040204020203" pitchFamily="34" charset="0"/>
                <a:cs typeface="Segoe UI" panose="020B0502040204020203" pitchFamily="34" charset="0"/>
              </a:rPr>
              <a:t>💼 </a:t>
            </a:r>
            <a:r>
              <a:rPr lang="de-DE" sz="1400" i="1" dirty="0">
                <a:latin typeface="Segoe UI" panose="020B0502040204020203" pitchFamily="34" charset="0"/>
                <a:cs typeface="Segoe UI" panose="020B0502040204020203" pitchFamily="34" charset="0"/>
              </a:rPr>
              <a:t>Aspiring Data Analyst | Web Developer</a:t>
            </a:r>
            <a:br>
              <a:rPr lang="de-DE" sz="1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de-DE" sz="1400" dirty="0">
                <a:latin typeface="Segoe UI" panose="020B0502040204020203" pitchFamily="34" charset="0"/>
                <a:cs typeface="Segoe UI" panose="020B0502040204020203" pitchFamily="34" charset="0"/>
              </a:rPr>
              <a:t>🌍 </a:t>
            </a:r>
            <a:r>
              <a:rPr lang="de-DE" sz="1400" i="1" dirty="0">
                <a:latin typeface="Segoe UI" panose="020B0502040204020203" pitchFamily="34" charset="0"/>
                <a:cs typeface="Segoe UI" panose="020B0502040204020203" pitchFamily="34" charset="0"/>
              </a:rPr>
              <a:t>Focusing on Data Analytics roles in Germany</a:t>
            </a:r>
          </a:p>
          <a:p>
            <a:endParaRPr lang="en-US" sz="1400" dirty="0"/>
          </a:p>
          <a:p>
            <a:r>
              <a:rPr lang="en-US" sz="1400" dirty="0"/>
              <a:t>🔗 </a:t>
            </a:r>
            <a:r>
              <a:rPr lang="en-US" sz="1400" b="1" dirty="0"/>
              <a:t>Connect with me:</a:t>
            </a:r>
            <a:endParaRPr lang="en-US" sz="1400" dirty="0">
              <a:hlinkClick r:id="rId4"/>
            </a:endParaRPr>
          </a:p>
          <a:p>
            <a:r>
              <a:rPr lang="en-US" sz="1400" b="1" dirty="0">
                <a:hlinkClick r:id="rId4"/>
              </a:rPr>
              <a:t>LinkedIn</a:t>
            </a:r>
            <a:r>
              <a:rPr lang="en-US" sz="1400" b="1" dirty="0"/>
              <a:t>: </a:t>
            </a:r>
            <a:r>
              <a:rPr lang="en-US" sz="900" b="1" dirty="0"/>
              <a:t>https://www.linkedin.com/in/sruthi-thulasi-das-547103152/</a:t>
            </a:r>
            <a:endParaRPr lang="en-US" sz="900" dirty="0">
              <a:hlinkClick r:id="rId5"/>
            </a:endParaRPr>
          </a:p>
          <a:p>
            <a:r>
              <a:rPr lang="en-US" sz="1400" b="1" dirty="0">
                <a:hlinkClick r:id="rId5"/>
              </a:rPr>
              <a:t>GitHub</a:t>
            </a:r>
            <a:r>
              <a:rPr lang="en-US" sz="1400" b="1" dirty="0"/>
              <a:t>: </a:t>
            </a:r>
            <a:r>
              <a:rPr lang="en-US" sz="900" b="1" dirty="0"/>
              <a:t>https://github.com/Sruthi-t-das</a:t>
            </a:r>
            <a:endParaRPr lang="de-DE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8D69086F-FDA8-FDDC-0ECB-4C5FC3C543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1993392"/>
            <a:ext cx="3118104" cy="311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50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F82BF3E2-EB0E-40D6-8835-2367A5316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846" y="2385781"/>
            <a:ext cx="5082153" cy="4451890"/>
          </a:xfrm>
          <a:custGeom>
            <a:avLst/>
            <a:gdLst>
              <a:gd name="connsiteX0" fmla="*/ 3600823 w 6043520"/>
              <a:gd name="connsiteY0" fmla="*/ 0 h 5294033"/>
              <a:gd name="connsiteX1" fmla="*/ 5891281 w 6043520"/>
              <a:gd name="connsiteY1" fmla="*/ 822253 h 5294033"/>
              <a:gd name="connsiteX2" fmla="*/ 6043520 w 6043520"/>
              <a:gd name="connsiteY2" fmla="*/ 960617 h 5294033"/>
              <a:gd name="connsiteX3" fmla="*/ 6043520 w 6043520"/>
              <a:gd name="connsiteY3" fmla="*/ 5294033 h 5294033"/>
              <a:gd name="connsiteX4" fmla="*/ 423445 w 6043520"/>
              <a:gd name="connsiteY4" fmla="*/ 5294033 h 5294033"/>
              <a:gd name="connsiteX5" fmla="*/ 282971 w 6043520"/>
              <a:gd name="connsiteY5" fmla="*/ 5002426 h 5294033"/>
              <a:gd name="connsiteX6" fmla="*/ 0 w 6043520"/>
              <a:gd name="connsiteY6" fmla="*/ 3600823 h 5294033"/>
              <a:gd name="connsiteX7" fmla="*/ 3600823 w 6043520"/>
              <a:gd name="connsiteY7" fmla="*/ 0 h 529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3520" h="5294033">
                <a:moveTo>
                  <a:pt x="3600823" y="0"/>
                </a:moveTo>
                <a:cubicBezTo>
                  <a:pt x="4470871" y="0"/>
                  <a:pt x="5268847" y="308574"/>
                  <a:pt x="5891281" y="822253"/>
                </a:cubicBezTo>
                <a:lnTo>
                  <a:pt x="6043520" y="960617"/>
                </a:lnTo>
                <a:lnTo>
                  <a:pt x="6043520" y="5294033"/>
                </a:lnTo>
                <a:lnTo>
                  <a:pt x="423445" y="5294033"/>
                </a:lnTo>
                <a:lnTo>
                  <a:pt x="282971" y="5002426"/>
                </a:lnTo>
                <a:cubicBezTo>
                  <a:pt x="100759" y="4571630"/>
                  <a:pt x="0" y="4097993"/>
                  <a:pt x="0" y="3600823"/>
                </a:cubicBezTo>
                <a:cubicBezTo>
                  <a:pt x="0" y="1612143"/>
                  <a:pt x="1612143" y="0"/>
                  <a:pt x="3600823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B6FFAAC-8A48-4FBF-BAFE-BAD367694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75581" y="2499512"/>
            <a:ext cx="4968420" cy="4338157"/>
          </a:xfrm>
          <a:custGeom>
            <a:avLst/>
            <a:gdLst>
              <a:gd name="connsiteX0" fmla="*/ 3465576 w 5908273"/>
              <a:gd name="connsiteY0" fmla="*/ 0 h 5158786"/>
              <a:gd name="connsiteX1" fmla="*/ 5670004 w 5908273"/>
              <a:gd name="connsiteY1" fmla="*/ 791369 h 5158786"/>
              <a:gd name="connsiteX2" fmla="*/ 5908273 w 5908273"/>
              <a:gd name="connsiteY2" fmla="*/ 1007923 h 5158786"/>
              <a:gd name="connsiteX3" fmla="*/ 5908273 w 5908273"/>
              <a:gd name="connsiteY3" fmla="*/ 5158786 h 5158786"/>
              <a:gd name="connsiteX4" fmla="*/ 443374 w 5908273"/>
              <a:gd name="connsiteY4" fmla="*/ 5158786 h 5158786"/>
              <a:gd name="connsiteX5" fmla="*/ 418277 w 5908273"/>
              <a:gd name="connsiteY5" fmla="*/ 5117476 h 5158786"/>
              <a:gd name="connsiteX6" fmla="*/ 0 w 5908273"/>
              <a:gd name="connsiteY6" fmla="*/ 3465576 h 5158786"/>
              <a:gd name="connsiteX7" fmla="*/ 3465576 w 5908273"/>
              <a:gd name="connsiteY7" fmla="*/ 0 h 5158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08273" h="5158786">
                <a:moveTo>
                  <a:pt x="3465576" y="0"/>
                </a:moveTo>
                <a:cubicBezTo>
                  <a:pt x="4302945" y="0"/>
                  <a:pt x="5070948" y="296984"/>
                  <a:pt x="5670004" y="791369"/>
                </a:cubicBezTo>
                <a:lnTo>
                  <a:pt x="5908273" y="1007923"/>
                </a:lnTo>
                <a:lnTo>
                  <a:pt x="5908273" y="5158786"/>
                </a:lnTo>
                <a:lnTo>
                  <a:pt x="443374" y="5158786"/>
                </a:lnTo>
                <a:lnTo>
                  <a:pt x="418277" y="5117476"/>
                </a:lnTo>
                <a:cubicBezTo>
                  <a:pt x="151523" y="4626427"/>
                  <a:pt x="0" y="4063697"/>
                  <a:pt x="0" y="3465576"/>
                </a:cubicBezTo>
                <a:cubicBezTo>
                  <a:pt x="0" y="1551591"/>
                  <a:pt x="1551591" y="0"/>
                  <a:pt x="346557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81E86DD-89E6-42B2-8675-84B7C56BF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62901" y="2144795"/>
            <a:ext cx="3429000" cy="3429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40EF577-B6F8-4C57-B956-AB860B38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65771" y="2247665"/>
            <a:ext cx="3223260" cy="3223260"/>
          </a:xfrm>
          <a:custGeom>
            <a:avLst/>
            <a:gdLst>
              <a:gd name="connsiteX0" fmla="*/ 2148840 w 4297680"/>
              <a:gd name="connsiteY0" fmla="*/ 0 h 4297680"/>
              <a:gd name="connsiteX1" fmla="*/ 4297680 w 4297680"/>
              <a:gd name="connsiteY1" fmla="*/ 2148840 h 4297680"/>
              <a:gd name="connsiteX2" fmla="*/ 2148840 w 4297680"/>
              <a:gd name="connsiteY2" fmla="*/ 4297680 h 4297680"/>
              <a:gd name="connsiteX3" fmla="*/ 0 w 4297680"/>
              <a:gd name="connsiteY3" fmla="*/ 2148840 h 4297680"/>
              <a:gd name="connsiteX4" fmla="*/ 2148840 w 4297680"/>
              <a:gd name="connsiteY4" fmla="*/ 0 h 429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97680" h="4297680">
                <a:moveTo>
                  <a:pt x="2148840" y="0"/>
                </a:moveTo>
                <a:cubicBezTo>
                  <a:pt x="3335612" y="0"/>
                  <a:pt x="4297680" y="962068"/>
                  <a:pt x="4297680" y="2148840"/>
                </a:cubicBezTo>
                <a:cubicBezTo>
                  <a:pt x="4297680" y="3335612"/>
                  <a:pt x="3335612" y="4297680"/>
                  <a:pt x="2148840" y="4297680"/>
                </a:cubicBezTo>
                <a:cubicBezTo>
                  <a:pt x="962068" y="4297680"/>
                  <a:pt x="0" y="3335612"/>
                  <a:pt x="0" y="2148840"/>
                </a:cubicBezTo>
                <a:cubicBezTo>
                  <a:pt x="0" y="962068"/>
                  <a:pt x="962068" y="0"/>
                  <a:pt x="21488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EA518CE4-E4D4-4D8A-980F-6D692AC96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866591" cy="3634148"/>
          </a:xfrm>
          <a:custGeom>
            <a:avLst/>
            <a:gdLst>
              <a:gd name="connsiteX0" fmla="*/ 0 w 5155454"/>
              <a:gd name="connsiteY0" fmla="*/ 0 h 4845530"/>
              <a:gd name="connsiteX1" fmla="*/ 4766270 w 5155454"/>
              <a:gd name="connsiteY1" fmla="*/ 0 h 4845530"/>
              <a:gd name="connsiteX2" fmla="*/ 4896671 w 5155454"/>
              <a:gd name="connsiteY2" fmla="*/ 270697 h 4845530"/>
              <a:gd name="connsiteX3" fmla="*/ 5155454 w 5155454"/>
              <a:gd name="connsiteY3" fmla="*/ 1552495 h 4845530"/>
              <a:gd name="connsiteX4" fmla="*/ 1862419 w 5155454"/>
              <a:gd name="connsiteY4" fmla="*/ 4845530 h 4845530"/>
              <a:gd name="connsiteX5" fmla="*/ 21252 w 5155454"/>
              <a:gd name="connsiteY5" fmla="*/ 4283132 h 4845530"/>
              <a:gd name="connsiteX6" fmla="*/ 0 w 5155454"/>
              <a:gd name="connsiteY6" fmla="*/ 4267240 h 4845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5454" h="4845530">
                <a:moveTo>
                  <a:pt x="0" y="0"/>
                </a:moveTo>
                <a:lnTo>
                  <a:pt x="4766270" y="0"/>
                </a:lnTo>
                <a:lnTo>
                  <a:pt x="4896671" y="270697"/>
                </a:lnTo>
                <a:cubicBezTo>
                  <a:pt x="5063308" y="664671"/>
                  <a:pt x="5155454" y="1097822"/>
                  <a:pt x="5155454" y="1552495"/>
                </a:cubicBezTo>
                <a:cubicBezTo>
                  <a:pt x="5155454" y="3371188"/>
                  <a:pt x="3681112" y="4845530"/>
                  <a:pt x="1862419" y="4845530"/>
                </a:cubicBezTo>
                <a:cubicBezTo>
                  <a:pt x="1180409" y="4845530"/>
                  <a:pt x="546824" y="4638201"/>
                  <a:pt x="21252" y="4283132"/>
                </a:cubicBezTo>
                <a:lnTo>
                  <a:pt x="0" y="426724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5E6FAE32-AB12-4E77-A677-F6BD5D71A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762824" cy="3538985"/>
          </a:xfrm>
          <a:custGeom>
            <a:avLst/>
            <a:gdLst>
              <a:gd name="connsiteX0" fmla="*/ 0 w 5017099"/>
              <a:gd name="connsiteY0" fmla="*/ 0 h 4718647"/>
              <a:gd name="connsiteX1" fmla="*/ 4599738 w 5017099"/>
              <a:gd name="connsiteY1" fmla="*/ 0 h 4718647"/>
              <a:gd name="connsiteX2" fmla="*/ 4636346 w 5017099"/>
              <a:gd name="connsiteY2" fmla="*/ 60259 h 4718647"/>
              <a:gd name="connsiteX3" fmla="*/ 5017099 w 5017099"/>
              <a:gd name="connsiteY3" fmla="*/ 1563967 h 4718647"/>
              <a:gd name="connsiteX4" fmla="*/ 1862419 w 5017099"/>
              <a:gd name="connsiteY4" fmla="*/ 4718647 h 4718647"/>
              <a:gd name="connsiteX5" fmla="*/ 98607 w 5017099"/>
              <a:gd name="connsiteY5" fmla="*/ 4179877 h 4718647"/>
              <a:gd name="connsiteX6" fmla="*/ 0 w 5017099"/>
              <a:gd name="connsiteY6" fmla="*/ 4106140 h 471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17099" h="4718647">
                <a:moveTo>
                  <a:pt x="0" y="0"/>
                </a:moveTo>
                <a:lnTo>
                  <a:pt x="4599738" y="0"/>
                </a:lnTo>
                <a:lnTo>
                  <a:pt x="4636346" y="60259"/>
                </a:lnTo>
                <a:cubicBezTo>
                  <a:pt x="4879170" y="507256"/>
                  <a:pt x="5017099" y="1019504"/>
                  <a:pt x="5017099" y="1563967"/>
                </a:cubicBezTo>
                <a:cubicBezTo>
                  <a:pt x="5017099" y="3306249"/>
                  <a:pt x="3604701" y="4718647"/>
                  <a:pt x="1862419" y="4718647"/>
                </a:cubicBezTo>
                <a:cubicBezTo>
                  <a:pt x="1209063" y="4718647"/>
                  <a:pt x="602098" y="4520029"/>
                  <a:pt x="98607" y="4179877"/>
                </a:cubicBezTo>
                <a:lnTo>
                  <a:pt x="0" y="41061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12" name="Picture 11" descr="A yellow and orange graph&#10;&#10;AI-generated content may be incorrect.">
            <a:extLst>
              <a:ext uri="{FF2B5EF4-FFF2-40B4-BE49-F238E27FC236}">
                <a16:creationId xmlns:a16="http://schemas.microsoft.com/office/drawing/2014/main" id="{B2F57928-5DB2-AFAD-0066-331FDB87D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17" y="422825"/>
            <a:ext cx="2657410" cy="2172909"/>
          </a:xfrm>
          <a:prstGeom prst="rect">
            <a:avLst/>
          </a:prstGeom>
        </p:spPr>
      </p:pic>
      <p:pic>
        <p:nvPicPr>
          <p:cNvPr id="8" name="Picture 7" descr="A logo of a powerpoint&#10;&#10;AI-generated content may be incorrect.">
            <a:extLst>
              <a:ext uri="{FF2B5EF4-FFF2-40B4-BE49-F238E27FC236}">
                <a16:creationId xmlns:a16="http://schemas.microsoft.com/office/drawing/2014/main" id="{BA5046D5-38C2-E60D-89E2-4A2B53EF9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51" y="524609"/>
            <a:ext cx="1385523" cy="1385523"/>
          </a:xfrm>
          <a:prstGeom prst="rect">
            <a:avLst/>
          </a:prstGeom>
        </p:spPr>
      </p:pic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2F6B32C1-BA91-470A-8C1B-33264F8B2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7371" y="0"/>
            <a:ext cx="3698163" cy="2672696"/>
          </a:xfrm>
          <a:custGeom>
            <a:avLst/>
            <a:gdLst>
              <a:gd name="connsiteX0" fmla="*/ 5102 w 4444096"/>
              <a:gd name="connsiteY0" fmla="*/ 0 h 3211788"/>
              <a:gd name="connsiteX1" fmla="*/ 4444096 w 4444096"/>
              <a:gd name="connsiteY1" fmla="*/ 0 h 3211788"/>
              <a:gd name="connsiteX2" fmla="*/ 4444096 w 4444096"/>
              <a:gd name="connsiteY2" fmla="*/ 2908319 h 3211788"/>
              <a:gd name="connsiteX3" fmla="*/ 4321598 w 4444096"/>
              <a:gd name="connsiteY3" fmla="*/ 2967330 h 3211788"/>
              <a:gd name="connsiteX4" fmla="*/ 3110753 w 4444096"/>
              <a:gd name="connsiteY4" fmla="*/ 3211788 h 3211788"/>
              <a:gd name="connsiteX5" fmla="*/ 0 w 4444096"/>
              <a:gd name="connsiteY5" fmla="*/ 101035 h 321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4096" h="3211788">
                <a:moveTo>
                  <a:pt x="5102" y="0"/>
                </a:moveTo>
                <a:lnTo>
                  <a:pt x="4444096" y="0"/>
                </a:lnTo>
                <a:lnTo>
                  <a:pt x="4444096" y="2908319"/>
                </a:lnTo>
                <a:lnTo>
                  <a:pt x="4321598" y="2967330"/>
                </a:lnTo>
                <a:cubicBezTo>
                  <a:pt x="3949433" y="3124742"/>
                  <a:pt x="3540258" y="3211788"/>
                  <a:pt x="3110753" y="3211788"/>
                </a:cubicBezTo>
                <a:cubicBezTo>
                  <a:pt x="1392732" y="3211788"/>
                  <a:pt x="0" y="1819056"/>
                  <a:pt x="0" y="10103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459570ED-BE4C-49E8-86BC-A81140CFE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5831" y="0"/>
            <a:ext cx="3559705" cy="2534238"/>
          </a:xfrm>
          <a:custGeom>
            <a:avLst/>
            <a:gdLst>
              <a:gd name="connsiteX0" fmla="*/ 5102 w 4277711"/>
              <a:gd name="connsiteY0" fmla="*/ 0 h 3045402"/>
              <a:gd name="connsiteX1" fmla="*/ 4277711 w 4277711"/>
              <a:gd name="connsiteY1" fmla="*/ 0 h 3045402"/>
              <a:gd name="connsiteX2" fmla="*/ 4277711 w 4277711"/>
              <a:gd name="connsiteY2" fmla="*/ 2723810 h 3045402"/>
              <a:gd name="connsiteX3" fmla="*/ 4090449 w 4277711"/>
              <a:gd name="connsiteY3" fmla="*/ 2814019 h 3045402"/>
              <a:gd name="connsiteX4" fmla="*/ 2944368 w 4277711"/>
              <a:gd name="connsiteY4" fmla="*/ 3045402 h 3045402"/>
              <a:gd name="connsiteX5" fmla="*/ 0 w 4277711"/>
              <a:gd name="connsiteY5" fmla="*/ 101034 h 3045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711" h="3045402">
                <a:moveTo>
                  <a:pt x="5102" y="0"/>
                </a:moveTo>
                <a:lnTo>
                  <a:pt x="4277711" y="0"/>
                </a:lnTo>
                <a:lnTo>
                  <a:pt x="4277711" y="2723810"/>
                </a:lnTo>
                <a:lnTo>
                  <a:pt x="4090449" y="2814019"/>
                </a:lnTo>
                <a:cubicBezTo>
                  <a:pt x="3738190" y="2963012"/>
                  <a:pt x="3350901" y="3045402"/>
                  <a:pt x="2944368" y="3045402"/>
                </a:cubicBezTo>
                <a:cubicBezTo>
                  <a:pt x="1318238" y="3045402"/>
                  <a:pt x="0" y="1727164"/>
                  <a:pt x="0" y="10103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Picture 5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D55D8E8F-B8B4-0B8A-920C-12069BC3C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391" y="338657"/>
            <a:ext cx="2533914" cy="1388960"/>
          </a:xfrm>
          <a:prstGeom prst="rect">
            <a:avLst/>
          </a:prstGeom>
        </p:spPr>
      </p:pic>
      <p:pic>
        <p:nvPicPr>
          <p:cNvPr id="16" name="Picture 15" descr="A logo of a cat&#10;&#10;AI-generated content may be incorrect.">
            <a:extLst>
              <a:ext uri="{FF2B5EF4-FFF2-40B4-BE49-F238E27FC236}">
                <a16:creationId xmlns:a16="http://schemas.microsoft.com/office/drawing/2014/main" id="{8D78096F-1599-3582-1EE1-5BB4DBB6E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978" y="4679525"/>
            <a:ext cx="2307031" cy="1332310"/>
          </a:xfrm>
          <a:prstGeom prst="rect">
            <a:avLst/>
          </a:prstGeom>
        </p:spPr>
      </p:pic>
      <p:pic>
        <p:nvPicPr>
          <p:cNvPr id="14" name="Picture 13" descr="A logo for a company&#10;&#10;AI-generated content may be incorrect.">
            <a:extLst>
              <a:ext uri="{FF2B5EF4-FFF2-40B4-BE49-F238E27FC236}">
                <a16:creationId xmlns:a16="http://schemas.microsoft.com/office/drawing/2014/main" id="{7D4AD22D-2FBD-9F7F-5EC2-85ABE47DE5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13" y="3313794"/>
            <a:ext cx="2036935" cy="1348903"/>
          </a:xfrm>
          <a:prstGeom prst="rect">
            <a:avLst/>
          </a:prstGeom>
        </p:spPr>
      </p:pic>
      <p:pic>
        <p:nvPicPr>
          <p:cNvPr id="4" name="Picture 3" descr="A red paper boat with black text&#10;&#10;AI-generated content may be incorrect.">
            <a:extLst>
              <a:ext uri="{FF2B5EF4-FFF2-40B4-BE49-F238E27FC236}">
                <a16:creationId xmlns:a16="http://schemas.microsoft.com/office/drawing/2014/main" id="{0CFC5DA6-25A4-4B7C-73A4-197690B52A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4943" y="4273609"/>
            <a:ext cx="3122380" cy="203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9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dirty="0"/>
              <a:t>Executive Summary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1F982D5E-1053-B258-F823-3322D4150C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9463249"/>
              </p:ext>
            </p:extLst>
          </p:nvPr>
        </p:nvGraphicFramePr>
        <p:xfrm>
          <a:off x="457200" y="1371600"/>
          <a:ext cx="82296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building&#10;&#10;AI-generated content may be incorrect.">
            <a:extLst>
              <a:ext uri="{FF2B5EF4-FFF2-40B4-BE49-F238E27FC236}">
                <a16:creationId xmlns:a16="http://schemas.microsoft.com/office/drawing/2014/main" id="{0472D240-527B-4AA5-947A-BCE1378BF1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0" r="1" b="1"/>
          <a:stretch>
            <a:fillRect/>
          </a:stretch>
        </p:blipFill>
        <p:spPr>
          <a:xfrm>
            <a:off x="3851910" y="107007"/>
            <a:ext cx="5212080" cy="341071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2F6A4E-A81F-61FE-D517-20F3A6300C84}"/>
              </a:ext>
            </a:extLst>
          </p:cNvPr>
          <p:cNvSpPr txBox="1"/>
          <p:nvPr/>
        </p:nvSpPr>
        <p:spPr>
          <a:xfrm>
            <a:off x="713231" y="4089798"/>
            <a:ext cx="7699249" cy="258532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b="1" dirty="0"/>
              <a:t>👥 Stakeholder View</a:t>
            </a:r>
            <a:br>
              <a:rPr lang="en-US" dirty="0"/>
            </a:br>
            <a:r>
              <a:rPr lang="en-US" dirty="0"/>
              <a:t>Allianz Germany’s </a:t>
            </a:r>
            <a:r>
              <a:rPr lang="en-US" b="1" dirty="0"/>
              <a:t>Pricing and Underwriting Team</a:t>
            </a:r>
          </a:p>
          <a:p>
            <a:endParaRPr lang="en-US" dirty="0"/>
          </a:p>
          <a:p>
            <a:r>
              <a:rPr lang="en-US" b="1" dirty="0"/>
              <a:t>Their Goals:</a:t>
            </a:r>
            <a:endParaRPr lang="en-US" dirty="0"/>
          </a:p>
          <a:p>
            <a:r>
              <a:rPr lang="en-US" dirty="0"/>
              <a:t>Develop </a:t>
            </a:r>
            <a:r>
              <a:rPr lang="en-US" b="1" dirty="0"/>
              <a:t>risk-based premium plans</a:t>
            </a:r>
            <a:r>
              <a:rPr lang="en-US" dirty="0"/>
              <a:t> using medical and demographic data.</a:t>
            </a:r>
          </a:p>
          <a:p>
            <a:r>
              <a:rPr lang="en-US" dirty="0"/>
              <a:t>Avoid </a:t>
            </a:r>
            <a:r>
              <a:rPr lang="en-US" b="1" dirty="0"/>
              <a:t>underpricing</a:t>
            </a:r>
            <a:r>
              <a:rPr lang="en-US" dirty="0"/>
              <a:t> high-risk individuals (e.g., smokers, obese, chronically ill).</a:t>
            </a:r>
          </a:p>
          <a:p>
            <a:r>
              <a:rPr lang="en-US" b="1" dirty="0"/>
              <a:t>Attract low-risk, healthy customers</a:t>
            </a:r>
            <a:r>
              <a:rPr lang="en-US" dirty="0"/>
              <a:t> with competitive, fair premiums.</a:t>
            </a:r>
          </a:p>
          <a:p>
            <a:r>
              <a:rPr lang="en-US" dirty="0"/>
              <a:t>Build a </a:t>
            </a:r>
            <a:r>
              <a:rPr lang="en-US" b="1" dirty="0"/>
              <a:t>sustainable and data-informed market entry strategy</a:t>
            </a:r>
            <a:r>
              <a:rPr lang="en-US" dirty="0"/>
              <a:t> in the U.S.</a:t>
            </a:r>
          </a:p>
          <a:p>
            <a:endParaRPr lang="de-DE" dirty="0"/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FFD768C2-4D9A-1D57-ABBB-B13E38D09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913" y="4089798"/>
            <a:ext cx="2086567" cy="93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104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619464-1DEA-0A78-2F29-AFEE927D643A}"/>
              </a:ext>
            </a:extLst>
          </p:cNvPr>
          <p:cNvSpPr txBox="1"/>
          <p:nvPr/>
        </p:nvSpPr>
        <p:spPr>
          <a:xfrm>
            <a:off x="429768" y="464326"/>
            <a:ext cx="8421624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de-DE" b="1" dirty="0"/>
              <a:t>Dataset Overview</a:t>
            </a:r>
            <a:endParaRPr lang="de-DE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de-DE" b="1" dirty="0"/>
              <a:t>Source:</a:t>
            </a:r>
            <a:r>
              <a:rPr lang="de-DE" dirty="0"/>
              <a:t> U.S. Medical Insurance dataset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de-DE" b="1" dirty="0"/>
              <a:t>Size:</a:t>
            </a:r>
            <a:r>
              <a:rPr lang="de-DE" dirty="0"/>
              <a:t> 100000 records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de-DE" b="1" dirty="0"/>
              <a:t>Features:</a:t>
            </a:r>
            <a:r>
              <a:rPr lang="de-DE" dirty="0"/>
              <a:t> 7 attributes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de-DE" b="1" dirty="0"/>
              <a:t>Type:</a:t>
            </a:r>
            <a:r>
              <a:rPr lang="de-DE" dirty="0"/>
              <a:t> Structured tabular data combining demographics, lifestyle, and medical indicators</a:t>
            </a:r>
          </a:p>
          <a:p>
            <a:endParaRPr lang="de-DE" dirty="0"/>
          </a:p>
          <a:p>
            <a:pPr>
              <a:buNone/>
            </a:pPr>
            <a:r>
              <a:rPr lang="de-DE" dirty="0"/>
              <a:t>      </a:t>
            </a:r>
            <a:r>
              <a:rPr lang="de-DE" i="1" dirty="0"/>
              <a:t>Focus: Demographics + Lifestyle + Health data → Predict annual medical cost</a:t>
            </a:r>
            <a:endParaRPr lang="de-DE" dirty="0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0521DA9A-0279-A0C3-A94C-637FAECF7D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493208"/>
              </p:ext>
            </p:extLst>
          </p:nvPr>
        </p:nvGraphicFramePr>
        <p:xfrm>
          <a:off x="1783080" y="3029772"/>
          <a:ext cx="5020056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6510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Background">
            <a:extLst>
              <a:ext uri="{FF2B5EF4-FFF2-40B4-BE49-F238E27FC236}">
                <a16:creationId xmlns:a16="http://schemas.microsoft.com/office/drawing/2014/main" id="{7DE220E6-BA55-4F04-B3C4-F4985F3E7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6" name="tint">
            <a:extLst>
              <a:ext uri="{FF2B5EF4-FFF2-40B4-BE49-F238E27FC236}">
                <a16:creationId xmlns:a16="http://schemas.microsoft.com/office/drawing/2014/main" id="{5AE190BC-D2FD-433E-AB89-0DF68EFD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9233" y="0"/>
            <a:ext cx="784767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43E8FEA2-54EE-4F84-B5DB-A055A7D80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333" y="0"/>
            <a:ext cx="4556665" cy="6858000"/>
          </a:xfrm>
          <a:prstGeom prst="rect">
            <a:avLst/>
          </a:prstGeom>
          <a:ln>
            <a:noFill/>
          </a:ln>
          <a:effectLst>
            <a:outerShdw blurRad="508000" dist="190500" dir="5460000" sx="93000" sy="93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112324" y="762002"/>
            <a:ext cx="3812220" cy="1090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1900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Hypotheses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1200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To identify the main factors influencing annual medical costs, the following hypotheses were formulated: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endParaRPr lang="en-US" sz="1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computer and a stethoscope next to a clipboard&#10;&#10;AI-generated content may be incorrect.">
            <a:extLst>
              <a:ext uri="{FF2B5EF4-FFF2-40B4-BE49-F238E27FC236}">
                <a16:creationId xmlns:a16="http://schemas.microsoft.com/office/drawing/2014/main" id="{05B1A179-57A2-571D-AC69-F711543269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67" r="15855"/>
          <a:stretch>
            <a:fillRect/>
          </a:stretch>
        </p:blipFill>
        <p:spPr>
          <a:xfrm>
            <a:off x="571025" y="1172880"/>
            <a:ext cx="3405752" cy="451224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4771689" y="1852323"/>
            <a:ext cx="4187952" cy="3769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1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/>
              <a:t>H1:</a:t>
            </a:r>
            <a:r>
              <a:rPr lang="en-US" sz="1400" dirty="0"/>
              <a:t> Smoking significantly increases annual   medical cost.</a:t>
            </a:r>
          </a:p>
          <a:p>
            <a:pPr marL="514350" lvl="1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/>
              <a:t>H2:</a:t>
            </a:r>
            <a:r>
              <a:rPr lang="en-US" sz="1400" dirty="0"/>
              <a:t> Higher BMI leads to higher annual medical cost.</a:t>
            </a:r>
          </a:p>
          <a:p>
            <a:pPr marL="514350" lvl="1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/>
              <a:t>H3:</a:t>
            </a:r>
            <a:r>
              <a:rPr lang="en-US" sz="1400" dirty="0"/>
              <a:t> Age is positively correlated with annual medical cost.</a:t>
            </a:r>
          </a:p>
          <a:p>
            <a:pPr marL="514350" lvl="1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/>
              <a:t>H4:</a:t>
            </a:r>
            <a:r>
              <a:rPr lang="en-US" sz="1400" dirty="0"/>
              <a:t> Individuals with chronic diseases have higher annual medical costs.</a:t>
            </a:r>
          </a:p>
          <a:p>
            <a:pPr marL="514350" lvl="1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/>
              <a:t>H5:</a:t>
            </a:r>
            <a:r>
              <a:rPr lang="en-US" sz="1400" dirty="0"/>
              <a:t> Individuals with more hospitalizations over the past three years have higher annual medical costs.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</a:t>
            </a:r>
            <a:r>
              <a:rPr lang="en-US" sz="1400" i="1" dirty="0"/>
              <a:t>Each hypothesis is tested through exploratory data analysis and regression modeling to quantify its impact on cost variation.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71120-52C4-59EF-FD2A-FB74F7835A3C}"/>
              </a:ext>
            </a:extLst>
          </p:cNvPr>
          <p:cNvSpPr txBox="1"/>
          <p:nvPr/>
        </p:nvSpPr>
        <p:spPr>
          <a:xfrm>
            <a:off x="858692" y="2405894"/>
            <a:ext cx="3986392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H₁</a:t>
            </a:r>
            <a:r>
              <a:rPr lang="en-US" sz="1700" dirty="0"/>
              <a:t>: Individuals who </a:t>
            </a:r>
            <a:r>
              <a:rPr lang="en-US" sz="1700" b="1" dirty="0"/>
              <a:t>smoke</a:t>
            </a:r>
            <a:r>
              <a:rPr lang="en-US" sz="1700" dirty="0"/>
              <a:t> will have higher annual medical costs than non-smokers, due to elevated health risks and higher incidence of chronic diseases.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erson breaking a cigarette&#10;&#10;AI-generated content may be incorrect.">
            <a:extLst>
              <a:ext uri="{FF2B5EF4-FFF2-40B4-BE49-F238E27FC236}">
                <a16:creationId xmlns:a16="http://schemas.microsoft.com/office/drawing/2014/main" id="{A01E9C31-1C1E-4312-5A34-64AB2A678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975" y="1880998"/>
            <a:ext cx="3127897" cy="312789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7898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D172FD-E342-507E-FEAA-E56F6C753319}"/>
              </a:ext>
            </a:extLst>
          </p:cNvPr>
          <p:cNvSpPr txBox="1"/>
          <p:nvPr/>
        </p:nvSpPr>
        <p:spPr>
          <a:xfrm>
            <a:off x="709128" y="1308614"/>
            <a:ext cx="3986392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Analysis &amp; Insights</a:t>
            </a:r>
          </a:p>
          <a:p>
            <a:pPr marL="5715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US" sz="1600" b="1" dirty="0"/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Average medical costs for </a:t>
            </a:r>
            <a:r>
              <a:rPr lang="en-US" sz="1600" b="1" dirty="0"/>
              <a:t>current smokers</a:t>
            </a:r>
            <a:r>
              <a:rPr lang="en-US" sz="1600" dirty="0"/>
              <a:t> are </a:t>
            </a:r>
            <a:r>
              <a:rPr lang="en-US" sz="1600" b="1" dirty="0"/>
              <a:t>significantly higher</a:t>
            </a:r>
            <a:r>
              <a:rPr lang="en-US" sz="1600" dirty="0"/>
              <a:t> than for </a:t>
            </a:r>
            <a:r>
              <a:rPr lang="en-US" sz="1600" b="1" dirty="0"/>
              <a:t>non-smokers</a:t>
            </a:r>
            <a:r>
              <a:rPr lang="en-US" sz="1600" dirty="0"/>
              <a:t>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/>
              <a:t>Box plot</a:t>
            </a:r>
            <a:r>
              <a:rPr lang="en-US" sz="1600" dirty="0"/>
              <a:t> clearly shows higher median and upper quartile values among smokers, indicating more high-cost outliers.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/>
              <a:t>Former smokers</a:t>
            </a:r>
            <a:r>
              <a:rPr lang="en-US" sz="1600" dirty="0"/>
              <a:t> also show moderately higher costs, likely due to residual health effects.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Findings support </a:t>
            </a:r>
            <a:r>
              <a:rPr lang="en-US" sz="1600" b="1" dirty="0"/>
              <a:t>H₁</a:t>
            </a:r>
            <a:r>
              <a:rPr lang="en-US" sz="1600" dirty="0"/>
              <a:t>, confirming smoking is a </a:t>
            </a:r>
            <a:r>
              <a:rPr lang="en-US" sz="1600" b="1" dirty="0"/>
              <a:t>key cost driver</a:t>
            </a:r>
            <a:r>
              <a:rPr lang="en-US" sz="1600" dirty="0"/>
              <a:t> for insurers.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EF7AEA-7E52-B593-3789-676717302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975" y="2119500"/>
            <a:ext cx="3127897" cy="265089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13228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E243E-A36F-FB95-A5D5-D0D5E456E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5C0EF-F378-C576-A145-473275388AEF}"/>
              </a:ext>
            </a:extLst>
          </p:cNvPr>
          <p:cNvSpPr txBox="1"/>
          <p:nvPr/>
        </p:nvSpPr>
        <p:spPr>
          <a:xfrm>
            <a:off x="858692" y="2405894"/>
            <a:ext cx="3986392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H₂</a:t>
            </a:r>
            <a:r>
              <a:rPr lang="en-US" sz="1700" dirty="0"/>
              <a:t>: Individuals with </a:t>
            </a:r>
            <a:r>
              <a:rPr lang="en-US" sz="1700" b="1" dirty="0"/>
              <a:t>higher BMI </a:t>
            </a:r>
            <a:r>
              <a:rPr lang="en-US" sz="1700" dirty="0"/>
              <a:t>(Body Mass Index) will have higher annual medical costs due to increased health risks and chronic conditions.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erson using a computer&#10;&#10;AI-generated content may be incorrect.">
            <a:extLst>
              <a:ext uri="{FF2B5EF4-FFF2-40B4-BE49-F238E27FC236}">
                <a16:creationId xmlns:a16="http://schemas.microsoft.com/office/drawing/2014/main" id="{69601F28-D70E-1259-893C-10E53CF03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9" y="1737360"/>
            <a:ext cx="3341664" cy="276148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08456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0C706-557B-214C-6643-78D662E44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515B4-4098-224B-DF35-C1DDF4790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43" y="1597192"/>
            <a:ext cx="3518704" cy="3226582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72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BDEA6D0-9E07-6B39-0328-AD7765B32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34" y="1739239"/>
            <a:ext cx="3518704" cy="294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80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BDF215-FE01-8536-317D-EB2469FE700C}"/>
              </a:ext>
            </a:extLst>
          </p:cNvPr>
          <p:cNvSpPr txBox="1"/>
          <p:nvPr/>
        </p:nvSpPr>
        <p:spPr>
          <a:xfrm>
            <a:off x="3607694" y="649480"/>
            <a:ext cx="4916510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 Analysis &amp; Insights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1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The </a:t>
            </a:r>
            <a:r>
              <a:rPr lang="en-US" sz="1700" b="1" dirty="0"/>
              <a:t>scatter plot</a:t>
            </a:r>
            <a:r>
              <a:rPr lang="en-US" sz="1700" dirty="0"/>
              <a:t> indicates a </a:t>
            </a:r>
            <a:r>
              <a:rPr lang="en-US" sz="1700" b="1" dirty="0"/>
              <a:t>moderate positive relationship</a:t>
            </a:r>
            <a:r>
              <a:rPr lang="en-US" sz="1700" dirty="0"/>
              <a:t> between BMI and annual medical cost — costs generally rise with BMI but not in a strictly linear pattern.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Box plot by BMI band</a:t>
            </a:r>
            <a:r>
              <a:rPr lang="en-US" sz="1700" dirty="0"/>
              <a:t> shows that individuals in the </a:t>
            </a:r>
            <a:r>
              <a:rPr lang="en-US" sz="1700" b="1" dirty="0"/>
              <a:t>“Obese I”</a:t>
            </a:r>
            <a:r>
              <a:rPr lang="en-US" sz="1700" dirty="0"/>
              <a:t> and </a:t>
            </a:r>
            <a:r>
              <a:rPr lang="en-US" sz="1700" b="1" dirty="0"/>
              <a:t>“Obese II+”</a:t>
            </a:r>
            <a:r>
              <a:rPr lang="en-US" sz="1700" dirty="0"/>
              <a:t> groups have </a:t>
            </a:r>
            <a:r>
              <a:rPr lang="en-US" sz="1700" b="1" dirty="0"/>
              <a:t>noticeably higher median costs</a:t>
            </a:r>
            <a:r>
              <a:rPr lang="en-US" sz="1700" dirty="0"/>
              <a:t>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</a:t>
            </a:r>
            <a:r>
              <a:rPr lang="en-US" sz="1700" b="1" dirty="0"/>
              <a:t>Cost variation</a:t>
            </a:r>
            <a:r>
              <a:rPr lang="en-US" sz="1700" dirty="0"/>
              <a:t> widens among higher BMI groups, indicating </a:t>
            </a:r>
            <a:r>
              <a:rPr lang="en-US" sz="1700" b="1" dirty="0"/>
              <a:t>greater unpredictability</a:t>
            </a:r>
            <a:r>
              <a:rPr lang="en-US" sz="1700" dirty="0"/>
              <a:t> in medical expenses.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Findings </a:t>
            </a:r>
            <a:r>
              <a:rPr lang="en-US" sz="1700" b="1" dirty="0"/>
              <a:t>partially support H₂</a:t>
            </a:r>
            <a:r>
              <a:rPr lang="en-US" sz="1700" dirty="0"/>
              <a:t>, confirming BMI’s influence on medical costs, though the relationship is </a:t>
            </a:r>
            <a:r>
              <a:rPr lang="en-US" sz="1700" b="1" dirty="0"/>
              <a:t>not perfectly linear</a:t>
            </a:r>
            <a:r>
              <a:rPr lang="en-US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0799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6F031C-7B6B-3162-7340-1459E2053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02A2CC-7596-2D93-8A71-75E3B149D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E972C-8222-C098-4A59-377630C40D47}"/>
              </a:ext>
            </a:extLst>
          </p:cNvPr>
          <p:cNvSpPr txBox="1"/>
          <p:nvPr/>
        </p:nvSpPr>
        <p:spPr>
          <a:xfrm>
            <a:off x="133349" y="2405894"/>
            <a:ext cx="5173625" cy="7849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 dirty="0"/>
              <a:t>H3</a:t>
            </a:r>
            <a:r>
              <a:rPr lang="en-US" sz="1600" dirty="0"/>
              <a:t>:</a:t>
            </a:r>
            <a:r>
              <a:rPr lang="en-US" sz="1600" b="1" dirty="0"/>
              <a:t> Age </a:t>
            </a:r>
            <a:r>
              <a:rPr lang="en-US" sz="1600" dirty="0"/>
              <a:t>is positively correlated with </a:t>
            </a:r>
            <a:r>
              <a:rPr lang="en-US" sz="1600" dirty="0" err="1"/>
              <a:t>annual_medical_cost</a:t>
            </a:r>
            <a:r>
              <a:rPr lang="en-US" sz="1600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9922AD-59EE-FD3F-3B43-B5CF7C136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C05096-F5D3-B456-728D-690C091A9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74B4C6-00FC-0905-5393-526DD6632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5F529A-A02B-C0BF-3DBF-643CA8A8A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hand over a group of wooden figures&#10;&#10;AI-generated content may be incorrect.">
            <a:extLst>
              <a:ext uri="{FF2B5EF4-FFF2-40B4-BE49-F238E27FC236}">
                <a16:creationId xmlns:a16="http://schemas.microsoft.com/office/drawing/2014/main" id="{6DB45F86-3588-DB22-2E3F-FF619FA41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973" y="1476789"/>
            <a:ext cx="3427451" cy="322856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70330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C1BE3C-26EF-D5B6-7BF2-4A071D38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48396F1-6045-71AB-AC36-653B836B1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A529A9-65B8-3E45-13ED-B071754A5F2C}"/>
              </a:ext>
            </a:extLst>
          </p:cNvPr>
          <p:cNvSpPr txBox="1"/>
          <p:nvPr/>
        </p:nvSpPr>
        <p:spPr>
          <a:xfrm>
            <a:off x="709128" y="1308614"/>
            <a:ext cx="3986392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Analysis &amp; Insights</a:t>
            </a:r>
          </a:p>
          <a:p>
            <a:pPr marL="5715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US" sz="1600" b="1" dirty="0"/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The bar chart shows a </a:t>
            </a:r>
            <a:r>
              <a:rPr lang="en-US" sz="1600" b="1" dirty="0"/>
              <a:t>clear upward trend</a:t>
            </a:r>
            <a:r>
              <a:rPr lang="en-US" sz="1600" dirty="0"/>
              <a:t> in annual medical costs with increasing age.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The </a:t>
            </a:r>
            <a:r>
              <a:rPr lang="en-US" sz="1600" b="1" dirty="0"/>
              <a:t>65+ age group</a:t>
            </a:r>
            <a:r>
              <a:rPr lang="en-US" sz="1600" dirty="0"/>
              <a:t> has the </a:t>
            </a:r>
            <a:r>
              <a:rPr lang="en-US" sz="1600" b="1" dirty="0"/>
              <a:t>highest average medical expenses</a:t>
            </a:r>
            <a:r>
              <a:rPr lang="en-US" sz="1600" dirty="0"/>
              <a:t>, followed by the 55–64 range.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This pattern suggests that </a:t>
            </a:r>
            <a:r>
              <a:rPr lang="en-US" sz="1600" b="1" dirty="0"/>
              <a:t>age is positively correlated</a:t>
            </a:r>
            <a:r>
              <a:rPr lang="en-US" sz="1600" dirty="0"/>
              <a:t> with annual medical costs.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Findings </a:t>
            </a:r>
            <a:r>
              <a:rPr lang="en-US" sz="1600" b="1" dirty="0"/>
              <a:t>strongly support H₃</a:t>
            </a:r>
            <a:r>
              <a:rPr lang="en-US" sz="1600" dirty="0"/>
              <a:t>, confirming that medical costs rise progressively with age due to age-related conditions and healthcare utilization.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D540A6-8B5D-4802-6804-50F819959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DD6C1C-26BB-9CE0-9805-700861243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D72944-2926-626D-8C63-BBF46E9C0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23C22D-590A-21A1-4FC5-37041CD62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1DF1B-84A0-B1BE-2E67-FBA8C2E65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075" y="1777937"/>
            <a:ext cx="3867150" cy="274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819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73314-C3F3-3789-521C-F134E18AA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0900FC-2BD5-E854-180F-4A65B2C4D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70B8FE-C17C-480B-194B-B1B7F9C77A23}"/>
              </a:ext>
            </a:extLst>
          </p:cNvPr>
          <p:cNvSpPr txBox="1"/>
          <p:nvPr/>
        </p:nvSpPr>
        <p:spPr>
          <a:xfrm>
            <a:off x="638175" y="2405895"/>
            <a:ext cx="4419599" cy="6421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 dirty="0"/>
              <a:t>H4</a:t>
            </a:r>
            <a:r>
              <a:rPr lang="en-US" sz="1600" dirty="0"/>
              <a:t>: Individuals with </a:t>
            </a:r>
            <a:r>
              <a:rPr lang="en-US" sz="1600" b="1" dirty="0"/>
              <a:t>chronic diseases </a:t>
            </a:r>
            <a:r>
              <a:rPr lang="en-US" sz="1600" dirty="0"/>
              <a:t>have higher annual medical costs.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9BA513-C602-DDFD-F409-3D3705818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05D96D-8DF0-D7ED-781A-7E5969EF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F13F24-5A07-DB3D-4B8D-86A5348D3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955811-258B-9671-DDB0-20552EE2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doctor writing on a clipboard&#10;&#10;AI-generated content may be incorrect.">
            <a:extLst>
              <a:ext uri="{FF2B5EF4-FFF2-40B4-BE49-F238E27FC236}">
                <a16:creationId xmlns:a16="http://schemas.microsoft.com/office/drawing/2014/main" id="{26606A1D-D838-DFB1-D550-737619504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075" y="1555149"/>
            <a:ext cx="3200400" cy="306447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29967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DAE7A-3F80-9DAD-01F4-4A32EC55F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FC5005E-3400-AD2C-B76C-6FF520F20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9752E2-2C54-A443-2377-D5FC1BBE3315}"/>
              </a:ext>
            </a:extLst>
          </p:cNvPr>
          <p:cNvSpPr txBox="1"/>
          <p:nvPr/>
        </p:nvSpPr>
        <p:spPr>
          <a:xfrm>
            <a:off x="709128" y="1308614"/>
            <a:ext cx="3986392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Analysis &amp; Insights</a:t>
            </a:r>
          </a:p>
          <a:p>
            <a:pPr marL="5715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US" sz="1600" b="1" dirty="0"/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The chart shows a </a:t>
            </a:r>
            <a:r>
              <a:rPr lang="en-US" sz="1600" b="1" dirty="0"/>
              <a:t>strong positive correlation</a:t>
            </a:r>
            <a:r>
              <a:rPr lang="en-US" sz="1600" dirty="0"/>
              <a:t> between the number of chronic diseases and annual medical cost.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Medical costs </a:t>
            </a:r>
            <a:r>
              <a:rPr lang="en-US" sz="1600" b="1" dirty="0"/>
              <a:t>rise consistently</a:t>
            </a:r>
            <a:r>
              <a:rPr lang="en-US" sz="1600" dirty="0"/>
              <a:t> from around </a:t>
            </a:r>
            <a:r>
              <a:rPr lang="en-US" sz="1600" b="1" dirty="0"/>
              <a:t>$2,000 (no chronic conditions)</a:t>
            </a:r>
            <a:r>
              <a:rPr lang="en-US" sz="1600" dirty="0"/>
              <a:t> to over </a:t>
            </a:r>
            <a:r>
              <a:rPr lang="en-US" sz="1600" b="1" dirty="0"/>
              <a:t>$7,000 for four chronic diseases</a:t>
            </a:r>
            <a:r>
              <a:rPr lang="en-US" sz="1600" dirty="0"/>
              <a:t>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This </a:t>
            </a:r>
            <a:r>
              <a:rPr lang="en-US" sz="1600" b="1" dirty="0"/>
              <a:t>linear upward trend</a:t>
            </a:r>
            <a:r>
              <a:rPr lang="en-US" sz="1600" dirty="0"/>
              <a:t> indicates that chronic illness burden is a </a:t>
            </a:r>
            <a:r>
              <a:rPr lang="en-US" sz="1600" b="1" dirty="0"/>
              <a:t>key cost driver</a:t>
            </a:r>
            <a:r>
              <a:rPr lang="en-US" sz="1600" dirty="0"/>
              <a:t>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Findings </a:t>
            </a:r>
            <a:r>
              <a:rPr lang="en-US" sz="1600" b="1" dirty="0"/>
              <a:t>strongly support H₄</a:t>
            </a:r>
            <a:r>
              <a:rPr lang="en-US" sz="1600" dirty="0"/>
              <a:t>, confirming that each additional chronic condition leads to a significant increase in average annual expenses.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0FB11A-056F-CB42-5B9C-1285F92B3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5EB5D0-BF3F-D4BD-9D46-90ED90A9C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84112A-575A-4722-1831-0403B23AE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128C7B-D136-059C-3BFA-8C345275C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CDA12C-F875-4BA4-FECC-6D4487045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078" y="1587406"/>
            <a:ext cx="3632674" cy="308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A7BFF1-0F98-0EAD-4310-FE257A2DB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02EAB91-357B-1E1C-43A4-942A1966F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216603-E05D-0854-7D29-F5437610C317}"/>
              </a:ext>
            </a:extLst>
          </p:cNvPr>
          <p:cNvSpPr txBox="1"/>
          <p:nvPr/>
        </p:nvSpPr>
        <p:spPr>
          <a:xfrm>
            <a:off x="858692" y="2841248"/>
            <a:ext cx="3986392" cy="8707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 dirty="0"/>
              <a:t>H5</a:t>
            </a:r>
            <a:r>
              <a:rPr lang="en-US" sz="1600" dirty="0"/>
              <a:t>: Individuals with more </a:t>
            </a:r>
            <a:r>
              <a:rPr lang="en-US" sz="1600" b="1" dirty="0"/>
              <a:t>hospitalizations over the past 3 years </a:t>
            </a:r>
            <a:r>
              <a:rPr lang="en-US" sz="1600" dirty="0"/>
              <a:t>have higher annual medical costs.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6DA23B-8564-E1D5-71EE-E9E84F65A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D31BA0-F088-3E58-55C2-C536D9C35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B61060-BA0A-640F-AD58-91084632D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230DF8-9159-BBB7-8BE7-2532182FC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erson in a hospital bed&#10;&#10;AI-generated content may be incorrect.">
            <a:extLst>
              <a:ext uri="{FF2B5EF4-FFF2-40B4-BE49-F238E27FC236}">
                <a16:creationId xmlns:a16="http://schemas.microsoft.com/office/drawing/2014/main" id="{48C3F20E-7072-ACF9-C5FE-A4999A446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982" y="1409700"/>
            <a:ext cx="3836118" cy="31051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38875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0ABE3-514B-B9DC-F647-7905933F1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F9AD637-4A4E-6E6D-8807-925146630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2BF5BB-EB2D-18F6-7203-274C642801CD}"/>
              </a:ext>
            </a:extLst>
          </p:cNvPr>
          <p:cNvSpPr txBox="1"/>
          <p:nvPr/>
        </p:nvSpPr>
        <p:spPr>
          <a:xfrm>
            <a:off x="709128" y="1308614"/>
            <a:ext cx="3986392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Analysis &amp; Insights</a:t>
            </a:r>
          </a:p>
          <a:p>
            <a:pPr marL="5715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US" sz="1600" b="1" dirty="0"/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The chart shows a </a:t>
            </a:r>
            <a:r>
              <a:rPr lang="en-US" sz="1600" b="1" dirty="0"/>
              <a:t>strong, almost linear rise</a:t>
            </a:r>
            <a:r>
              <a:rPr lang="en-US" sz="1600" dirty="0"/>
              <a:t> in annual medical costs with the number of hospitalizations.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Average cost increases from </a:t>
            </a:r>
            <a:r>
              <a:rPr lang="en-US" sz="1600" b="1" dirty="0"/>
              <a:t>$2,810 (no hospitalizations)</a:t>
            </a:r>
            <a:r>
              <a:rPr lang="en-US" sz="1600" dirty="0"/>
              <a:t> to nearly </a:t>
            </a:r>
            <a:r>
              <a:rPr lang="en-US" sz="1600" b="1" dirty="0"/>
              <a:t>$9,600 for three hospitalizations</a:t>
            </a:r>
            <a:r>
              <a:rPr lang="en-US" sz="1600" dirty="0"/>
              <a:t>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This demonstrates that </a:t>
            </a:r>
            <a:r>
              <a:rPr lang="en-US" sz="1600" b="1" dirty="0"/>
              <a:t>frequent hospital stays</a:t>
            </a:r>
            <a:r>
              <a:rPr lang="en-US" sz="1600" dirty="0"/>
              <a:t> are a major contributor to total medical expenses.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Findings </a:t>
            </a:r>
            <a:r>
              <a:rPr lang="en-US" sz="1600" b="1" dirty="0"/>
              <a:t>strongly support H₅</a:t>
            </a:r>
            <a:r>
              <a:rPr lang="en-US" sz="1600" dirty="0"/>
              <a:t>, confirming hospitalization frequency as a </a:t>
            </a:r>
            <a:r>
              <a:rPr lang="en-US" sz="1600" b="1" dirty="0"/>
              <a:t>critical driver of cost escalation</a:t>
            </a:r>
            <a:r>
              <a:rPr lang="en-US" sz="1600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330128-0898-D491-82B7-5DC2FA5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791236-B213-D957-16BE-8B9128F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74ECB2-1BC5-453F-5DE5-B449CC3B1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2D222A-371A-0AD7-9D45-F2A890AB4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09B83-4F83-E1FA-7D2F-095DAA40D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070" y="1308614"/>
            <a:ext cx="3796273" cy="34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35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6CC174-B7FF-1A59-92FB-BB1CC36D9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628775"/>
            <a:ext cx="4998872" cy="33147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31E66D-6790-85C4-4FAA-0A747A88A5AB}"/>
              </a:ext>
            </a:extLst>
          </p:cNvPr>
          <p:cNvSpPr txBox="1"/>
          <p:nvPr/>
        </p:nvSpPr>
        <p:spPr>
          <a:xfrm>
            <a:off x="5810250" y="1895301"/>
            <a:ext cx="2830544" cy="287092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cs typeface="Segoe UI" panose="020B0502040204020203" pitchFamily="34" charset="0"/>
              </a:rPr>
              <a:t>Let’s See These Insights in Action!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>
              <a:cs typeface="Segoe UI" panose="020B0502040204020203" pitchFamily="34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cs typeface="Segoe UI" panose="020B0502040204020203" pitchFamily="34" charset="0"/>
              </a:rPr>
              <a:t>We’ve validated our hypotheses through data analysis —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1400" dirty="0">
                <a:cs typeface="Segoe UI" panose="020B0502040204020203" pitchFamily="34" charset="0"/>
              </a:rPr>
            </a:br>
            <a:r>
              <a:rPr lang="en-US" sz="1400" dirty="0">
                <a:cs typeface="Segoe UI" panose="020B0502040204020203" pitchFamily="34" charset="0"/>
              </a:rPr>
              <a:t>Now, let’s explore these relationships </a:t>
            </a:r>
            <a:r>
              <a:rPr lang="en-US" sz="1400" b="1" dirty="0">
                <a:cs typeface="Segoe UI" panose="020B0502040204020203" pitchFamily="34" charset="0"/>
              </a:rPr>
              <a:t>interactively</a:t>
            </a:r>
            <a:r>
              <a:rPr lang="en-US" sz="1400" dirty="0">
                <a:cs typeface="Segoe UI" panose="020B0502040204020203" pitchFamily="34" charset="0"/>
              </a:rPr>
              <a:t> using our </a:t>
            </a:r>
            <a:r>
              <a:rPr lang="en-US" sz="1400" b="1" dirty="0">
                <a:cs typeface="Segoe UI" panose="020B0502040204020203" pitchFamily="34" charset="0"/>
              </a:rPr>
              <a:t>Power BI dashboard</a:t>
            </a:r>
            <a:r>
              <a:rPr lang="en-US" sz="1400" dirty="0">
                <a:cs typeface="Segoe UI" panose="020B0502040204020203" pitchFamily="34" charset="0"/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cs typeface="Segoe UI" panose="020B0502040204020203" pitchFamily="34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cs typeface="Segoe UI" panose="020B0502040204020203" pitchFamily="34" charset="0"/>
              </a:rPr>
              <a:t> The dashboard allows us to: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400" dirty="0">
              <a:cs typeface="Segoe UI" panose="020B0502040204020203" pitchFamily="34" charset="0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>
                <a:cs typeface="Segoe UI" panose="020B0502040204020203" pitchFamily="34" charset="0"/>
              </a:rPr>
              <a:t>Filter</a:t>
            </a:r>
            <a:r>
              <a:rPr lang="en-US" sz="1400" dirty="0">
                <a:cs typeface="Segoe UI" panose="020B0502040204020203" pitchFamily="34" charset="0"/>
              </a:rPr>
              <a:t> by smoker status, region, age, and chronic conditions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>
                <a:cs typeface="Segoe UI" panose="020B0502040204020203" pitchFamily="34" charset="0"/>
              </a:rPr>
              <a:t>Compare</a:t>
            </a:r>
            <a:r>
              <a:rPr lang="en-US" sz="1400" dirty="0">
                <a:cs typeface="Segoe UI" panose="020B0502040204020203" pitchFamily="34" charset="0"/>
              </a:rPr>
              <a:t> costs dynamically across different risk groups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>
                <a:cs typeface="Segoe UI" panose="020B0502040204020203" pitchFamily="34" charset="0"/>
              </a:rPr>
              <a:t>Visualize trends</a:t>
            </a:r>
            <a:r>
              <a:rPr lang="en-US" sz="1400" dirty="0">
                <a:cs typeface="Segoe UI" panose="020B0502040204020203" pitchFamily="34" charset="0"/>
              </a:rPr>
              <a:t> in real time with dynamic cards and charts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9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2DFF062-EFCE-9E87-DA7F-5C0D0D3E1FA0}"/>
              </a:ext>
            </a:extLst>
          </p:cNvPr>
          <p:cNvSpPr txBox="1"/>
          <p:nvPr/>
        </p:nvSpPr>
        <p:spPr>
          <a:xfrm>
            <a:off x="2600325" y="705072"/>
            <a:ext cx="4535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Interactive Dashboard Exploration - POWERBI</a:t>
            </a:r>
          </a:p>
          <a:p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9F1D43-AACD-54D9-E674-90BF736A4F6A}"/>
              </a:ext>
            </a:extLst>
          </p:cNvPr>
          <p:cNvSpPr txBox="1"/>
          <p:nvPr/>
        </p:nvSpPr>
        <p:spPr>
          <a:xfrm>
            <a:off x="962025" y="5744764"/>
            <a:ext cx="76787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“From static insights to interactive intelligence — bringing the data story to life.”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2354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539A7-108C-94D8-3544-89F248BD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CA3EF-DBF5-6593-9683-34C06C176BF1}"/>
              </a:ext>
            </a:extLst>
          </p:cNvPr>
          <p:cNvSpPr txBox="1"/>
          <p:nvPr/>
        </p:nvSpPr>
        <p:spPr>
          <a:xfrm>
            <a:off x="495030" y="2767106"/>
            <a:ext cx="2160621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Predictive Modeling Insights</a:t>
            </a:r>
            <a:endParaRPr lang="en-US" sz="35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F333EC-613A-B3F9-8FE2-C560E56E8493}"/>
              </a:ext>
            </a:extLst>
          </p:cNvPr>
          <p:cNvSpPr txBox="1"/>
          <p:nvPr/>
        </p:nvSpPr>
        <p:spPr>
          <a:xfrm>
            <a:off x="3229052" y="4226826"/>
            <a:ext cx="54754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Interpretation:</a:t>
            </a:r>
          </a:p>
          <a:p>
            <a:endParaRPr lang="en-US" sz="1400" b="1" dirty="0"/>
          </a:p>
          <a:p>
            <a:r>
              <a:rPr lang="en-US" sz="1400" dirty="0"/>
              <a:t>The model explains </a:t>
            </a:r>
            <a:r>
              <a:rPr lang="en-US" sz="1400" b="1" dirty="0"/>
              <a:t>44% of the variation</a:t>
            </a:r>
            <a:r>
              <a:rPr lang="en-US" sz="1400" dirty="0"/>
              <a:t> in medical costs — reasonable for real-world healthcare data.</a:t>
            </a:r>
          </a:p>
          <a:p>
            <a:r>
              <a:rPr lang="en-US" sz="1400" dirty="0"/>
              <a:t>Indicates </a:t>
            </a:r>
            <a:r>
              <a:rPr lang="en-US" sz="1400" b="1" dirty="0"/>
              <a:t>nonlinear influences</a:t>
            </a:r>
            <a:r>
              <a:rPr lang="en-US" sz="1400" dirty="0"/>
              <a:t> and interaction effects not fully captured by a simple regression.</a:t>
            </a:r>
          </a:p>
          <a:p>
            <a:r>
              <a:rPr lang="en-US" sz="1400" dirty="0"/>
              <a:t>Smoking, BMI, and Chronic Disease Count emerge as the </a:t>
            </a:r>
            <a:r>
              <a:rPr lang="en-US" sz="1400" b="1" dirty="0"/>
              <a:t>strongest cost predictors</a:t>
            </a:r>
            <a:r>
              <a:rPr lang="en-US" sz="1400" dirty="0"/>
              <a:t>.</a:t>
            </a:r>
          </a:p>
          <a:p>
            <a:endParaRPr lang="de-DE" sz="1400" dirty="0"/>
          </a:p>
          <a:p>
            <a:endParaRPr lang="de-D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45B2E-49E6-99DE-00C0-3FD62100CDF5}"/>
              </a:ext>
            </a:extLst>
          </p:cNvPr>
          <p:cNvSpPr txBox="1"/>
          <p:nvPr/>
        </p:nvSpPr>
        <p:spPr>
          <a:xfrm>
            <a:off x="6475494" y="3379606"/>
            <a:ext cx="24208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b="1" dirty="0"/>
              <a:t>Mean Absolute Error (MAE):</a:t>
            </a:r>
            <a:r>
              <a:rPr lang="de-DE" sz="1050" dirty="0"/>
              <a:t> 1,430</a:t>
            </a:r>
          </a:p>
          <a:p>
            <a:r>
              <a:rPr lang="de-DE" sz="1050" b="1" dirty="0"/>
              <a:t>Root Mean </a:t>
            </a:r>
            <a:r>
              <a:rPr lang="de-DE" sz="1050" b="1" dirty="0" err="1"/>
              <a:t>Squared</a:t>
            </a:r>
            <a:r>
              <a:rPr lang="de-DE" sz="1050" b="1" dirty="0"/>
              <a:t> Error (RMSE):</a:t>
            </a:r>
            <a:r>
              <a:rPr lang="de-DE" sz="1050" dirty="0"/>
              <a:t> 2,348</a:t>
            </a:r>
          </a:p>
          <a:p>
            <a:r>
              <a:rPr lang="de-DE" sz="1050" b="1" dirty="0"/>
              <a:t>R² (Model </a:t>
            </a:r>
            <a:r>
              <a:rPr lang="de-DE" sz="1050" b="1" dirty="0" err="1"/>
              <a:t>Accuracy</a:t>
            </a:r>
            <a:r>
              <a:rPr lang="de-DE" sz="1050" b="1" dirty="0"/>
              <a:t>):</a:t>
            </a:r>
            <a:r>
              <a:rPr lang="de-DE" sz="1050" dirty="0"/>
              <a:t> 0.44</a:t>
            </a:r>
          </a:p>
          <a:p>
            <a:r>
              <a:rPr lang="de-DE" sz="1050" b="1" dirty="0" err="1"/>
              <a:t>Explained</a:t>
            </a:r>
            <a:r>
              <a:rPr lang="de-DE" sz="1050" b="1" dirty="0"/>
              <a:t> </a:t>
            </a:r>
            <a:r>
              <a:rPr lang="de-DE" sz="1050" b="1" dirty="0" err="1"/>
              <a:t>Variance</a:t>
            </a:r>
            <a:r>
              <a:rPr lang="de-DE" sz="1050" b="1" dirty="0"/>
              <a:t> Score:</a:t>
            </a:r>
            <a:r>
              <a:rPr lang="de-DE" sz="1050" dirty="0"/>
              <a:t> 0.44</a:t>
            </a:r>
          </a:p>
          <a:p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99A96A-0BF4-3A88-5FD7-AC949F1E7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084"/>
            <a:ext cx="4324572" cy="307355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18057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5F524-D03A-C932-6BA0-EFFA816C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1F6E8CC-F65C-F6F4-DFB3-1DB8CDA6D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09AF75-438F-1F40-CD29-1D0AAE321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1A3E16-B7A4-0F97-9BFF-2C1FCA9EF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072FD32-89C6-6520-F1CA-E7E2F2B0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1A4C634-2488-74DE-4F0A-31A33BC8A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FEB8A-A839-494C-543F-2B9E0E717FD6}"/>
              </a:ext>
            </a:extLst>
          </p:cNvPr>
          <p:cNvSpPr txBox="1"/>
          <p:nvPr/>
        </p:nvSpPr>
        <p:spPr>
          <a:xfrm>
            <a:off x="495030" y="2767106"/>
            <a:ext cx="2160621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Predictive Modeling Insights</a:t>
            </a:r>
            <a:endParaRPr lang="en-US" sz="35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76215C-FA8D-A177-FF19-62A0D58E4116}"/>
              </a:ext>
            </a:extLst>
          </p:cNvPr>
          <p:cNvSpPr txBox="1"/>
          <p:nvPr/>
        </p:nvSpPr>
        <p:spPr>
          <a:xfrm>
            <a:off x="3229052" y="4226826"/>
            <a:ext cx="54754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Interpretation:</a:t>
            </a:r>
          </a:p>
          <a:p>
            <a:endParaRPr lang="en-US" sz="1400" b="1" dirty="0"/>
          </a:p>
          <a:p>
            <a:r>
              <a:rPr lang="en-US" sz="1400" dirty="0"/>
              <a:t>he </a:t>
            </a:r>
            <a:r>
              <a:rPr lang="en-US" sz="1400" b="1" dirty="0" err="1"/>
              <a:t>XGBoost</a:t>
            </a:r>
            <a:r>
              <a:rPr lang="en-US" sz="1400" b="1" dirty="0"/>
              <a:t> model improved accuracy</a:t>
            </a:r>
            <a:r>
              <a:rPr lang="en-US" sz="1400" dirty="0"/>
              <a:t> from 0.44 → </a:t>
            </a:r>
            <a:r>
              <a:rPr lang="en-US" sz="1400" b="1" dirty="0"/>
              <a:t>0.63 R²</a:t>
            </a:r>
            <a:r>
              <a:rPr lang="en-US" sz="1400" dirty="0"/>
              <a:t>, showing stronger predictive capability.</a:t>
            </a:r>
          </a:p>
          <a:p>
            <a:r>
              <a:rPr lang="en-US" sz="1400" dirty="0"/>
              <a:t>Captures </a:t>
            </a:r>
            <a:r>
              <a:rPr lang="en-US" sz="1400" b="1" dirty="0"/>
              <a:t>non-linear relationships</a:t>
            </a:r>
            <a:r>
              <a:rPr lang="en-US" sz="1400" dirty="0"/>
              <a:t> between lifestyle (smoking, BMI) and cost.</a:t>
            </a:r>
          </a:p>
          <a:p>
            <a:r>
              <a:rPr lang="en-US" sz="1400" dirty="0"/>
              <a:t>Reduces error margins significantly, making it </a:t>
            </a:r>
            <a:r>
              <a:rPr lang="en-US" sz="1400" b="1" dirty="0"/>
              <a:t>more reliable for premium pricing simulations</a:t>
            </a:r>
            <a:r>
              <a:rPr lang="en-US" sz="1400" dirty="0"/>
              <a:t>.</a:t>
            </a:r>
            <a:endParaRPr lang="de-DE" sz="1400" dirty="0"/>
          </a:p>
          <a:p>
            <a:endParaRPr lang="de-D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FF75B5-273C-D832-14C3-AD17B73F0DCC}"/>
              </a:ext>
            </a:extLst>
          </p:cNvPr>
          <p:cNvSpPr txBox="1"/>
          <p:nvPr/>
        </p:nvSpPr>
        <p:spPr>
          <a:xfrm>
            <a:off x="6475494" y="3379606"/>
            <a:ext cx="25923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b="1" dirty="0"/>
              <a:t>Mean Absolute Error (MAE):</a:t>
            </a:r>
            <a:r>
              <a:rPr lang="de-DE" sz="1050" dirty="0"/>
              <a:t> 943.60</a:t>
            </a:r>
          </a:p>
          <a:p>
            <a:r>
              <a:rPr lang="de-DE" sz="1050" b="1" dirty="0"/>
              <a:t>Root Mean </a:t>
            </a:r>
            <a:r>
              <a:rPr lang="de-DE" sz="1050" b="1" dirty="0" err="1"/>
              <a:t>Squared</a:t>
            </a:r>
            <a:r>
              <a:rPr lang="de-DE" sz="1050" b="1" dirty="0"/>
              <a:t> Error (RMSE):</a:t>
            </a:r>
            <a:r>
              <a:rPr lang="de-DE" sz="1050" dirty="0"/>
              <a:t> 1,904.75</a:t>
            </a:r>
          </a:p>
          <a:p>
            <a:r>
              <a:rPr lang="de-DE" sz="1050" b="1" dirty="0"/>
              <a:t>R² (Model </a:t>
            </a:r>
            <a:r>
              <a:rPr lang="de-DE" sz="1050" b="1" dirty="0" err="1"/>
              <a:t>Accuracy</a:t>
            </a:r>
            <a:r>
              <a:rPr lang="de-DE" sz="1050" b="1" dirty="0"/>
              <a:t>):</a:t>
            </a:r>
            <a:r>
              <a:rPr lang="de-DE" sz="1050" dirty="0"/>
              <a:t> 0.631</a:t>
            </a:r>
          </a:p>
          <a:p>
            <a:r>
              <a:rPr lang="de-DE" sz="1050" b="1" dirty="0" err="1"/>
              <a:t>Explained</a:t>
            </a:r>
            <a:r>
              <a:rPr lang="de-DE" sz="1050" b="1" dirty="0"/>
              <a:t> </a:t>
            </a:r>
            <a:r>
              <a:rPr lang="de-DE" sz="1050" b="1" dirty="0" err="1"/>
              <a:t>Variance</a:t>
            </a:r>
            <a:r>
              <a:rPr lang="de-DE" sz="1050" b="1" dirty="0"/>
              <a:t> Score:</a:t>
            </a:r>
            <a:r>
              <a:rPr lang="de-DE" sz="1050" dirty="0"/>
              <a:t> 0.643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AB5C7-F7C6-2567-2544-CD1F2892C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913" y="45610"/>
            <a:ext cx="4330923" cy="305450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96366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medical cost calculator&#10;&#10;AI-generated content may be incorrect.">
            <a:extLst>
              <a:ext uri="{FF2B5EF4-FFF2-40B4-BE49-F238E27FC236}">
                <a16:creationId xmlns:a16="http://schemas.microsoft.com/office/drawing/2014/main" id="{F140F5A5-3AEC-D38D-0149-48886B369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35" y="457200"/>
            <a:ext cx="6442929" cy="59436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42728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tag with white text&#10;&#10;AI-generated content may be incorrect.">
            <a:extLst>
              <a:ext uri="{FF2B5EF4-FFF2-40B4-BE49-F238E27FC236}">
                <a16:creationId xmlns:a16="http://schemas.microsoft.com/office/drawing/2014/main" id="{F80E249F-BB47-7B33-5590-C80181931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950" y="0"/>
            <a:ext cx="4441825" cy="20654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04D24F-2D5F-46AE-630D-42B2D66128BC}"/>
              </a:ext>
            </a:extLst>
          </p:cNvPr>
          <p:cNvSpPr txBox="1"/>
          <p:nvPr/>
        </p:nvSpPr>
        <p:spPr>
          <a:xfrm>
            <a:off x="1266826" y="2224385"/>
            <a:ext cx="6629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Apply higher premiums for smokers and introduce “Quit &amp; Save” incentives to encourage healthy behavior.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Use BMI as a moderate risk factor and offer wellness-based discounts for maintaining healthy weight levels.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Implement age-tiered pricing and design senior-specific plans with preventive health coverage.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Include chronic-care management benefits and health monitoring programs in policy design.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Offer post-hospital recovery plans and preventive care initiatives .</a:t>
            </a:r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11117-FAFC-D378-01D9-A92AB2FC9E77}"/>
              </a:ext>
            </a:extLst>
          </p:cNvPr>
          <p:cNvSpPr txBox="1"/>
          <p:nvPr/>
        </p:nvSpPr>
        <p:spPr>
          <a:xfrm>
            <a:off x="1381125" y="5647640"/>
            <a:ext cx="694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Together, these insights help Allianz create fair, data-driven, and health-focused insurance  pricing models for a successful U.S. market entry.</a:t>
            </a:r>
            <a:endParaRPr lang="de-DE" sz="1600" b="1" i="1" dirty="0"/>
          </a:p>
        </p:txBody>
      </p:sp>
    </p:spTree>
    <p:extLst>
      <p:ext uri="{BB962C8B-B14F-4D97-AF65-F5344CB8AC3E}">
        <p14:creationId xmlns:p14="http://schemas.microsoft.com/office/powerpoint/2010/main" val="739367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66AC3-5B8B-E246-95F3-3C72C3A46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tag with white text&#10;&#10;AI-generated content may be incorrect.">
            <a:extLst>
              <a:ext uri="{FF2B5EF4-FFF2-40B4-BE49-F238E27FC236}">
                <a16:creationId xmlns:a16="http://schemas.microsoft.com/office/drawing/2014/main" id="{67D0A68E-83EA-ADD1-996C-3DC6FC2FD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950" y="0"/>
            <a:ext cx="4441825" cy="20654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2EA552-AB99-3DD2-26CC-5A5C1617713C}"/>
              </a:ext>
            </a:extLst>
          </p:cNvPr>
          <p:cNvSpPr txBox="1"/>
          <p:nvPr/>
        </p:nvSpPr>
        <p:spPr>
          <a:xfrm>
            <a:off x="1381125" y="2662227"/>
            <a:ext cx="662940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1600" dirty="0"/>
          </a:p>
          <a:p>
            <a:r>
              <a:rPr lang="en-US" b="1" dirty="0"/>
              <a:t>Market Entry Approach</a:t>
            </a:r>
          </a:p>
          <a:p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Enter the U.S. market with </a:t>
            </a:r>
            <a:r>
              <a:rPr lang="en-US" sz="1600" b="1" dirty="0"/>
              <a:t>selective premium strategies</a:t>
            </a:r>
            <a:r>
              <a:rPr lang="en-US" sz="1600" dirty="0"/>
              <a:t> to undercut high national averages.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Focus first on </a:t>
            </a:r>
            <a:r>
              <a:rPr lang="en-US" sz="1600" b="1" dirty="0"/>
              <a:t>low-risk, low-claim segments</a:t>
            </a:r>
            <a:r>
              <a:rPr lang="en-US" sz="1600" dirty="0"/>
              <a:t> to build brand trust and profitability.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81997C-55E4-5021-EB05-B63AB09D58A3}"/>
              </a:ext>
            </a:extLst>
          </p:cNvPr>
          <p:cNvSpPr txBox="1"/>
          <p:nvPr/>
        </p:nvSpPr>
        <p:spPr>
          <a:xfrm>
            <a:off x="1381125" y="5647640"/>
            <a:ext cx="694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Together, these insights help Allianz create fair, data-driven, and health-focused insurance  pricing models for a successful U.S. market entry.</a:t>
            </a:r>
            <a:endParaRPr lang="de-DE" sz="1600" b="1" i="1" dirty="0"/>
          </a:p>
        </p:txBody>
      </p:sp>
    </p:spTree>
    <p:extLst>
      <p:ext uri="{BB962C8B-B14F-4D97-AF65-F5344CB8AC3E}">
        <p14:creationId xmlns:p14="http://schemas.microsoft.com/office/powerpoint/2010/main" val="3526637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handshake&#10;&#10;AI-generated content may be incorrect.">
            <a:extLst>
              <a:ext uri="{FF2B5EF4-FFF2-40B4-BE49-F238E27FC236}">
                <a16:creationId xmlns:a16="http://schemas.microsoft.com/office/drawing/2014/main" id="{463482B5-12D7-73DF-4A05-F958AF351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30" y="1040856"/>
            <a:ext cx="8510939" cy="477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33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1334</Words>
  <Application>Microsoft Office PowerPoint</Application>
  <PresentationFormat>On-screen Show (4:3)</PresentationFormat>
  <Paragraphs>126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Segoe UI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Sruthi Thulasi Das</dc:creator>
  <cp:keywords/>
  <dc:description>generated using python-pptx</dc:description>
  <cp:lastModifiedBy>Sruthi Thulasi Das</cp:lastModifiedBy>
  <cp:revision>34</cp:revision>
  <dcterms:created xsi:type="dcterms:W3CDTF">2013-01-27T09:14:16Z</dcterms:created>
  <dcterms:modified xsi:type="dcterms:W3CDTF">2025-11-03T11:54:44Z</dcterms:modified>
  <cp:category/>
</cp:coreProperties>
</file>