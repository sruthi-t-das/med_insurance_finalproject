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League Spartan" panose="020B0604020202020204" charset="0"/>
      <p:regular r:id="rId31"/>
    </p:embeddedFont>
    <p:embeddedFont>
      <p:font typeface="Open Sans" panose="020B0606030504020204" pitchFamily="34" charset="0"/>
      <p:regular r:id="rId32"/>
    </p:embeddedFont>
    <p:embeddedFont>
      <p:font typeface="Open Sans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github.com/YOUR-GITHUB-USERNAME" TargetMode="External"/><Relationship Id="rId4" Type="http://schemas.openxmlformats.org/officeDocument/2006/relationships/hyperlink" Target="https://www.linkedin.com/in/YOUR-LINKEDIN-USERNAME"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de-DE"/>
          </a:p>
        </p:txBody>
      </p:sp>
      <p:grpSp>
        <p:nvGrpSpPr>
          <p:cNvPr id="3" name="Group 3"/>
          <p:cNvGrpSpPr/>
          <p:nvPr/>
        </p:nvGrpSpPr>
        <p:grpSpPr>
          <a:xfrm>
            <a:off x="10008169" y="1251168"/>
            <a:ext cx="10711300" cy="107113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434274" y="6606818"/>
            <a:ext cx="8036344" cy="976071"/>
            <a:chOff x="0" y="0"/>
            <a:chExt cx="2116568" cy="257072"/>
          </a:xfrm>
        </p:grpSpPr>
        <p:sp>
          <p:nvSpPr>
            <p:cNvPr id="7" name="Freeform 7"/>
            <p:cNvSpPr/>
            <p:nvPr/>
          </p:nvSpPr>
          <p:spPr>
            <a:xfrm>
              <a:off x="0" y="0"/>
              <a:ext cx="2116568" cy="257072"/>
            </a:xfrm>
            <a:custGeom>
              <a:avLst/>
              <a:gdLst/>
              <a:ahLst/>
              <a:cxnLst/>
              <a:rect l="l" t="t" r="r" b="b"/>
              <a:pathLst>
                <a:path w="2116568" h="257072">
                  <a:moveTo>
                    <a:pt x="10597" y="0"/>
                  </a:moveTo>
                  <a:lnTo>
                    <a:pt x="2105971" y="0"/>
                  </a:lnTo>
                  <a:cubicBezTo>
                    <a:pt x="2111823" y="0"/>
                    <a:pt x="2116568" y="4744"/>
                    <a:pt x="2116568" y="10597"/>
                  </a:cubicBezTo>
                  <a:lnTo>
                    <a:pt x="2116568" y="246475"/>
                  </a:lnTo>
                  <a:cubicBezTo>
                    <a:pt x="2116568" y="252328"/>
                    <a:pt x="2111823" y="257072"/>
                    <a:pt x="2105971" y="257072"/>
                  </a:cubicBezTo>
                  <a:lnTo>
                    <a:pt x="10597" y="257072"/>
                  </a:lnTo>
                  <a:cubicBezTo>
                    <a:pt x="4744" y="257072"/>
                    <a:pt x="0" y="252328"/>
                    <a:pt x="0" y="246475"/>
                  </a:cubicBezTo>
                  <a:lnTo>
                    <a:pt x="0" y="10597"/>
                  </a:lnTo>
                  <a:cubicBezTo>
                    <a:pt x="0" y="4744"/>
                    <a:pt x="4744" y="0"/>
                    <a:pt x="10597" y="0"/>
                  </a:cubicBezTo>
                  <a:close/>
                </a:path>
              </a:pathLst>
            </a:custGeom>
            <a:solidFill>
              <a:srgbClr val="0056A8">
                <a:alpha val="40000"/>
              </a:srgbClr>
            </a:solidFill>
          </p:spPr>
          <p:txBody>
            <a:bodyPr/>
            <a:lstStyle/>
            <a:p>
              <a:endParaRPr lang="de-DE"/>
            </a:p>
          </p:txBody>
        </p:sp>
        <p:sp>
          <p:nvSpPr>
            <p:cNvPr id="8" name="TextBox 8"/>
            <p:cNvSpPr txBox="1"/>
            <p:nvPr/>
          </p:nvSpPr>
          <p:spPr>
            <a:xfrm>
              <a:off x="0" y="-38100"/>
              <a:ext cx="2116568" cy="295172"/>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0972904" y="1772496"/>
            <a:ext cx="8781830" cy="9862129"/>
            <a:chOff x="0" y="0"/>
            <a:chExt cx="723766" cy="812800"/>
          </a:xfrm>
        </p:grpSpPr>
        <p:sp>
          <p:nvSpPr>
            <p:cNvPr id="10" name="Freeform 10"/>
            <p:cNvSpPr/>
            <p:nvPr/>
          </p:nvSpPr>
          <p:spPr>
            <a:xfrm>
              <a:off x="0" y="0"/>
              <a:ext cx="723766" cy="812800"/>
            </a:xfrm>
            <a:custGeom>
              <a:avLst/>
              <a:gdLst/>
              <a:ahLst/>
              <a:cxnLst/>
              <a:rect l="l" t="t" r="r" b="b"/>
              <a:pathLst>
                <a:path w="723766" h="812800">
                  <a:moveTo>
                    <a:pt x="361883" y="0"/>
                  </a:moveTo>
                  <a:cubicBezTo>
                    <a:pt x="162020" y="0"/>
                    <a:pt x="0" y="181951"/>
                    <a:pt x="0" y="406400"/>
                  </a:cubicBezTo>
                  <a:cubicBezTo>
                    <a:pt x="0" y="630849"/>
                    <a:pt x="162020" y="812800"/>
                    <a:pt x="361883" y="812800"/>
                  </a:cubicBezTo>
                  <a:cubicBezTo>
                    <a:pt x="561745" y="812800"/>
                    <a:pt x="723766" y="630849"/>
                    <a:pt x="723766" y="406400"/>
                  </a:cubicBezTo>
                  <a:cubicBezTo>
                    <a:pt x="723766" y="181951"/>
                    <a:pt x="561745" y="0"/>
                    <a:pt x="361883" y="0"/>
                  </a:cubicBezTo>
                  <a:close/>
                </a:path>
              </a:pathLst>
            </a:custGeom>
            <a:blipFill>
              <a:blip r:embed="rId3"/>
              <a:stretch>
                <a:fillRect l="-9418" r="-9418"/>
              </a:stretch>
            </a:blipFill>
          </p:spPr>
          <p:txBody>
            <a:bodyPr/>
            <a:lstStyle/>
            <a:p>
              <a:endParaRPr lang="de-DE"/>
            </a:p>
          </p:txBody>
        </p:sp>
      </p:grpSp>
      <p:sp>
        <p:nvSpPr>
          <p:cNvPr id="11" name="TextBox 11"/>
          <p:cNvSpPr txBox="1"/>
          <p:nvPr/>
        </p:nvSpPr>
        <p:spPr>
          <a:xfrm>
            <a:off x="666369" y="2405218"/>
            <a:ext cx="9572154" cy="845769"/>
          </a:xfrm>
          <a:prstGeom prst="rect">
            <a:avLst/>
          </a:prstGeom>
        </p:spPr>
        <p:txBody>
          <a:bodyPr lIns="0" tIns="0" rIns="0" bIns="0" rtlCol="0" anchor="t">
            <a:spAutoFit/>
          </a:bodyPr>
          <a:lstStyle/>
          <a:p>
            <a:pPr algn="ctr">
              <a:lnSpc>
                <a:spcPts val="6932"/>
              </a:lnSpc>
            </a:pPr>
            <a:r>
              <a:rPr lang="en-US" sz="4952" b="1">
                <a:solidFill>
                  <a:srgbClr val="000000">
                    <a:alpha val="72941"/>
                  </a:srgbClr>
                </a:solidFill>
                <a:latin typeface="League Spartan"/>
                <a:ea typeface="League Spartan"/>
                <a:cs typeface="League Spartan"/>
                <a:sym typeface="League Spartan"/>
              </a:rPr>
              <a:t> Health Insurance Analysis</a:t>
            </a:r>
          </a:p>
        </p:txBody>
      </p:sp>
      <p:sp>
        <p:nvSpPr>
          <p:cNvPr id="12" name="TextBox 12"/>
          <p:cNvSpPr txBox="1"/>
          <p:nvPr/>
        </p:nvSpPr>
        <p:spPr>
          <a:xfrm>
            <a:off x="2394888" y="6674986"/>
            <a:ext cx="6749112" cy="1062061"/>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Analyzing health cost trends to support market entry and risk-based pricing</a:t>
            </a:r>
          </a:p>
          <a:p>
            <a:pPr algn="ctr">
              <a:lnSpc>
                <a:spcPts val="2886"/>
              </a:lnSpc>
            </a:pPr>
            <a:endParaRPr lang="en-US" sz="2061" b="1">
              <a:solidFill>
                <a:srgbClr val="000000"/>
              </a:solidFill>
              <a:latin typeface="Open Sans Bold"/>
              <a:ea typeface="Open Sans Bold"/>
              <a:cs typeface="Open Sans Bold"/>
              <a:sym typeface="Open Sans Bold"/>
            </a:endParaRPr>
          </a:p>
        </p:txBody>
      </p:sp>
      <p:sp>
        <p:nvSpPr>
          <p:cNvPr id="13" name="TextBox 13"/>
          <p:cNvSpPr txBox="1"/>
          <p:nvPr/>
        </p:nvSpPr>
        <p:spPr>
          <a:xfrm>
            <a:off x="2394888" y="5247839"/>
            <a:ext cx="6749112" cy="1062061"/>
          </a:xfrm>
          <a:prstGeom prst="rect">
            <a:avLst/>
          </a:prstGeom>
        </p:spPr>
        <p:txBody>
          <a:bodyPr lIns="0" tIns="0" rIns="0" bIns="0" rtlCol="0" anchor="t">
            <a:spAutoFit/>
          </a:bodyPr>
          <a:lstStyle/>
          <a:p>
            <a:pPr algn="ctr">
              <a:lnSpc>
                <a:spcPts val="2886"/>
              </a:lnSpc>
            </a:pPr>
            <a:r>
              <a:rPr lang="en-US" sz="2061" b="1">
                <a:solidFill>
                  <a:srgbClr val="000000"/>
                </a:solidFill>
                <a:latin typeface="Open Sans Bold"/>
                <a:ea typeface="Open Sans Bold"/>
                <a:cs typeface="Open Sans Bold"/>
                <a:sym typeface="Open Sans Bold"/>
              </a:rPr>
              <a:t>Analyzing U.S. Medical Cost Drivers to Guide Allianz Germany’s Market Entry Strategy</a:t>
            </a:r>
          </a:p>
          <a:p>
            <a:pPr algn="ctr">
              <a:lnSpc>
                <a:spcPts val="2886"/>
              </a:lnSpc>
            </a:pPr>
            <a:endParaRPr lang="en-US" sz="2061" b="1">
              <a:solidFill>
                <a:srgbClr val="000000"/>
              </a:solidFill>
              <a:latin typeface="Open Sans Bold"/>
              <a:ea typeface="Open Sans Bold"/>
              <a:cs typeface="Open Sans Bold"/>
              <a:sym typeface="Open Sans Bold"/>
            </a:endParaRPr>
          </a:p>
        </p:txBody>
      </p:sp>
      <p:grpSp>
        <p:nvGrpSpPr>
          <p:cNvPr id="14" name="Group 14"/>
          <p:cNvGrpSpPr/>
          <p:nvPr/>
        </p:nvGrpSpPr>
        <p:grpSpPr>
          <a:xfrm>
            <a:off x="1434274" y="5046757"/>
            <a:ext cx="8036344" cy="1263143"/>
            <a:chOff x="0" y="0"/>
            <a:chExt cx="2116568" cy="332680"/>
          </a:xfrm>
        </p:grpSpPr>
        <p:sp>
          <p:nvSpPr>
            <p:cNvPr id="15" name="Freeform 15"/>
            <p:cNvSpPr/>
            <p:nvPr/>
          </p:nvSpPr>
          <p:spPr>
            <a:xfrm>
              <a:off x="0" y="0"/>
              <a:ext cx="2116568" cy="332680"/>
            </a:xfrm>
            <a:custGeom>
              <a:avLst/>
              <a:gdLst/>
              <a:ahLst/>
              <a:cxnLst/>
              <a:rect l="l" t="t" r="r" b="b"/>
              <a:pathLst>
                <a:path w="2116568" h="332680">
                  <a:moveTo>
                    <a:pt x="10597" y="0"/>
                  </a:moveTo>
                  <a:lnTo>
                    <a:pt x="2105971" y="0"/>
                  </a:lnTo>
                  <a:cubicBezTo>
                    <a:pt x="2111823" y="0"/>
                    <a:pt x="2116568" y="4744"/>
                    <a:pt x="2116568" y="10597"/>
                  </a:cubicBezTo>
                  <a:lnTo>
                    <a:pt x="2116568" y="322083"/>
                  </a:lnTo>
                  <a:cubicBezTo>
                    <a:pt x="2116568" y="327935"/>
                    <a:pt x="2111823" y="332680"/>
                    <a:pt x="2105971" y="332680"/>
                  </a:cubicBezTo>
                  <a:lnTo>
                    <a:pt x="10597" y="332680"/>
                  </a:lnTo>
                  <a:cubicBezTo>
                    <a:pt x="4744" y="332680"/>
                    <a:pt x="0" y="327935"/>
                    <a:pt x="0" y="322083"/>
                  </a:cubicBezTo>
                  <a:lnTo>
                    <a:pt x="0" y="10597"/>
                  </a:lnTo>
                  <a:cubicBezTo>
                    <a:pt x="0" y="4744"/>
                    <a:pt x="4744" y="0"/>
                    <a:pt x="10597" y="0"/>
                  </a:cubicBezTo>
                  <a:close/>
                </a:path>
              </a:pathLst>
            </a:custGeom>
            <a:solidFill>
              <a:srgbClr val="0056A8">
                <a:alpha val="40000"/>
              </a:srgbClr>
            </a:solidFill>
          </p:spPr>
          <p:txBody>
            <a:bodyPr/>
            <a:lstStyle/>
            <a:p>
              <a:endParaRPr lang="de-DE"/>
            </a:p>
          </p:txBody>
        </p:sp>
        <p:sp>
          <p:nvSpPr>
            <p:cNvPr id="16" name="TextBox 16"/>
            <p:cNvSpPr txBox="1"/>
            <p:nvPr/>
          </p:nvSpPr>
          <p:spPr>
            <a:xfrm>
              <a:off x="0" y="-38100"/>
              <a:ext cx="2116568" cy="37078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de-DE"/>
          </a:p>
        </p:txBody>
      </p:sp>
      <p:grpSp>
        <p:nvGrpSpPr>
          <p:cNvPr id="3" name="Group 3"/>
          <p:cNvGrpSpPr/>
          <p:nvPr/>
        </p:nvGrpSpPr>
        <p:grpSpPr>
          <a:xfrm>
            <a:off x="1212005" y="3482741"/>
            <a:ext cx="8556230" cy="4427483"/>
            <a:chOff x="0" y="0"/>
            <a:chExt cx="2253493" cy="1166086"/>
          </a:xfrm>
        </p:grpSpPr>
        <p:sp>
          <p:nvSpPr>
            <p:cNvPr id="4" name="Freeform 4"/>
            <p:cNvSpPr/>
            <p:nvPr/>
          </p:nvSpPr>
          <p:spPr>
            <a:xfrm>
              <a:off x="0" y="0"/>
              <a:ext cx="2253493" cy="1166086"/>
            </a:xfrm>
            <a:custGeom>
              <a:avLst/>
              <a:gdLst/>
              <a:ahLst/>
              <a:cxnLst/>
              <a:rect l="l" t="t" r="r" b="b"/>
              <a:pathLst>
                <a:path w="2253493" h="1166086">
                  <a:moveTo>
                    <a:pt x="9953" y="0"/>
                  </a:moveTo>
                  <a:lnTo>
                    <a:pt x="2243540" y="0"/>
                  </a:lnTo>
                  <a:cubicBezTo>
                    <a:pt x="2249037" y="0"/>
                    <a:pt x="2253493" y="4456"/>
                    <a:pt x="2253493" y="9953"/>
                  </a:cubicBezTo>
                  <a:lnTo>
                    <a:pt x="2253493" y="1156133"/>
                  </a:lnTo>
                  <a:cubicBezTo>
                    <a:pt x="2253493" y="1161630"/>
                    <a:pt x="2249037" y="1166086"/>
                    <a:pt x="2243540" y="1166086"/>
                  </a:cubicBezTo>
                  <a:lnTo>
                    <a:pt x="9953" y="1166086"/>
                  </a:lnTo>
                  <a:cubicBezTo>
                    <a:pt x="4456" y="1166086"/>
                    <a:pt x="0" y="1161630"/>
                    <a:pt x="0" y="1156133"/>
                  </a:cubicBezTo>
                  <a:lnTo>
                    <a:pt x="0" y="9953"/>
                  </a:lnTo>
                  <a:cubicBezTo>
                    <a:pt x="0" y="4456"/>
                    <a:pt x="4456" y="0"/>
                    <a:pt x="9953" y="0"/>
                  </a:cubicBezTo>
                  <a:close/>
                </a:path>
              </a:pathLst>
            </a:custGeom>
            <a:solidFill>
              <a:srgbClr val="0056A8">
                <a:alpha val="40000"/>
              </a:srgbClr>
            </a:solidFill>
          </p:spPr>
          <p:txBody>
            <a:bodyPr/>
            <a:lstStyle/>
            <a:p>
              <a:endParaRPr lang="de-DE"/>
            </a:p>
          </p:txBody>
        </p:sp>
        <p:sp>
          <p:nvSpPr>
            <p:cNvPr id="5" name="TextBox 5"/>
            <p:cNvSpPr txBox="1"/>
            <p:nvPr/>
          </p:nvSpPr>
          <p:spPr>
            <a:xfrm>
              <a:off x="0" y="-38100"/>
              <a:ext cx="2253493" cy="120418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1646132" y="1998199"/>
            <a:ext cx="5613168" cy="6303673"/>
            <a:chOff x="0" y="0"/>
            <a:chExt cx="723766" cy="812800"/>
          </a:xfrm>
        </p:grpSpPr>
        <p:sp>
          <p:nvSpPr>
            <p:cNvPr id="7" name="Freeform 7"/>
            <p:cNvSpPr/>
            <p:nvPr/>
          </p:nvSpPr>
          <p:spPr>
            <a:xfrm rot="24000">
              <a:off x="-1558" y="-1385"/>
              <a:ext cx="726882" cy="815571"/>
            </a:xfrm>
            <a:custGeom>
              <a:avLst/>
              <a:gdLst/>
              <a:ahLst/>
              <a:cxnLst/>
              <a:rect l="l" t="t" r="r" b="b"/>
              <a:pathLst>
                <a:path w="726882" h="815571">
                  <a:moveTo>
                    <a:pt x="360604" y="1395"/>
                  </a:moveTo>
                  <a:cubicBezTo>
                    <a:pt x="160746" y="2790"/>
                    <a:pt x="0" y="185868"/>
                    <a:pt x="1567" y="410311"/>
                  </a:cubicBezTo>
                  <a:cubicBezTo>
                    <a:pt x="3134" y="634754"/>
                    <a:pt x="166421" y="815570"/>
                    <a:pt x="366278" y="814175"/>
                  </a:cubicBezTo>
                  <a:cubicBezTo>
                    <a:pt x="566136" y="812780"/>
                    <a:pt x="726882" y="629702"/>
                    <a:pt x="725315" y="405259"/>
                  </a:cubicBezTo>
                  <a:cubicBezTo>
                    <a:pt x="723748" y="180816"/>
                    <a:pt x="560461" y="0"/>
                    <a:pt x="360604" y="1395"/>
                  </a:cubicBezTo>
                  <a:close/>
                </a:path>
              </a:pathLst>
            </a:custGeom>
            <a:blipFill>
              <a:blip r:embed="rId3"/>
              <a:stretch>
                <a:fillRect l="-6897" r="-5402"/>
              </a:stretch>
            </a:blipFill>
            <a:ln cap="sq">
              <a:noFill/>
              <a:prstDash val="sysDot"/>
              <a:miter/>
            </a:ln>
          </p:spPr>
          <p:txBody>
            <a:bodyPr/>
            <a:lstStyle/>
            <a:p>
              <a:endParaRPr lang="de-DE"/>
            </a:p>
          </p:txBody>
        </p:sp>
      </p:grpSp>
      <p:sp>
        <p:nvSpPr>
          <p:cNvPr id="8" name="TextBox 8"/>
          <p:cNvSpPr txBox="1"/>
          <p:nvPr/>
        </p:nvSpPr>
        <p:spPr>
          <a:xfrm>
            <a:off x="1679597" y="3724200"/>
            <a:ext cx="7819128" cy="3896940"/>
          </a:xfrm>
          <a:prstGeom prst="rect">
            <a:avLst/>
          </a:prstGeom>
        </p:spPr>
        <p:txBody>
          <a:bodyPr lIns="0" tIns="0" rIns="0" bIns="0" rtlCol="0" anchor="t">
            <a:spAutoFit/>
          </a:bodyPr>
          <a:lstStyle/>
          <a:p>
            <a:pPr algn="ctr">
              <a:lnSpc>
                <a:spcPts val="3083"/>
              </a:lnSpc>
            </a:pPr>
            <a:r>
              <a:rPr lang="en-US" sz="2202" b="1">
                <a:solidFill>
                  <a:srgbClr val="000000"/>
                </a:solidFill>
                <a:latin typeface="League Spartan"/>
                <a:ea typeface="League Spartan"/>
                <a:cs typeface="League Spartan"/>
                <a:sym typeface="League Spartan"/>
              </a:rPr>
              <a:t>Sruthi Thulasi Das</a:t>
            </a:r>
          </a:p>
          <a:p>
            <a:pPr algn="ctr">
              <a:lnSpc>
                <a:spcPts val="3083"/>
              </a:lnSpc>
            </a:pPr>
            <a:r>
              <a:rPr lang="en-US" sz="2202" b="1">
                <a:solidFill>
                  <a:srgbClr val="000000"/>
                </a:solidFill>
                <a:latin typeface="League Spartan"/>
                <a:ea typeface="League Spartan"/>
                <a:cs typeface="League Spartan"/>
                <a:sym typeface="League Spartan"/>
              </a:rPr>
              <a:t> 🎓 Bachelor‘s degree in Computer Science</a:t>
            </a:r>
          </a:p>
          <a:p>
            <a:pPr algn="ctr">
              <a:lnSpc>
                <a:spcPts val="3083"/>
              </a:lnSpc>
            </a:pPr>
            <a:r>
              <a:rPr lang="en-US" sz="2202" b="1">
                <a:solidFill>
                  <a:srgbClr val="000000"/>
                </a:solidFill>
                <a:latin typeface="League Spartan"/>
                <a:ea typeface="League Spartan"/>
                <a:cs typeface="League Spartan"/>
                <a:sym typeface="League Spartan"/>
              </a:rPr>
              <a:t> 💼 Aspiring Data Analyst | Web Developer</a:t>
            </a:r>
          </a:p>
          <a:p>
            <a:pPr algn="ctr">
              <a:lnSpc>
                <a:spcPts val="3083"/>
              </a:lnSpc>
            </a:pPr>
            <a:r>
              <a:rPr lang="en-US" sz="2202" b="1">
                <a:solidFill>
                  <a:srgbClr val="000000"/>
                </a:solidFill>
                <a:latin typeface="League Spartan"/>
                <a:ea typeface="League Spartan"/>
                <a:cs typeface="League Spartan"/>
                <a:sym typeface="League Spartan"/>
              </a:rPr>
              <a:t> 🌍 Focusing on Data Analytics roles in Germany</a:t>
            </a:r>
          </a:p>
          <a:p>
            <a:pPr algn="ctr">
              <a:lnSpc>
                <a:spcPts val="3083"/>
              </a:lnSpc>
            </a:pPr>
            <a:endParaRPr lang="en-US" sz="2202" b="1">
              <a:solidFill>
                <a:srgbClr val="000000"/>
              </a:solidFill>
              <a:latin typeface="League Spartan"/>
              <a:ea typeface="League Spartan"/>
              <a:cs typeface="League Spartan"/>
              <a:sym typeface="League Spartan"/>
            </a:endParaRPr>
          </a:p>
          <a:p>
            <a:pPr algn="ctr">
              <a:lnSpc>
                <a:spcPts val="3083"/>
              </a:lnSpc>
            </a:pPr>
            <a:r>
              <a:rPr lang="en-US" sz="2202" b="1">
                <a:solidFill>
                  <a:srgbClr val="000000"/>
                </a:solidFill>
                <a:latin typeface="League Spartan"/>
                <a:ea typeface="League Spartan"/>
                <a:cs typeface="League Spartan"/>
                <a:sym typeface="League Spartan"/>
              </a:rPr>
              <a:t>🔗 Connect with me:</a:t>
            </a:r>
          </a:p>
          <a:p>
            <a:pPr algn="ctr">
              <a:lnSpc>
                <a:spcPts val="3083"/>
              </a:lnSpc>
            </a:pPr>
            <a:r>
              <a:rPr lang="en-US" sz="2202" b="1" u="sng">
                <a:solidFill>
                  <a:srgbClr val="000000"/>
                </a:solidFill>
                <a:latin typeface="League Spartan"/>
                <a:ea typeface="League Spartan"/>
                <a:cs typeface="League Spartan"/>
                <a:sym typeface="League Spartan"/>
                <a:hlinkClick r:id="rId4" tooltip="https://www.linkedin.com/in/YOUR-LINKEDIN-USERNAME"/>
              </a:rPr>
              <a:t>LinkedIn</a:t>
            </a:r>
            <a:r>
              <a:rPr lang="en-US" sz="2202" b="1">
                <a:solidFill>
                  <a:srgbClr val="000000"/>
                </a:solidFill>
                <a:latin typeface="League Spartan"/>
                <a:ea typeface="League Spartan"/>
                <a:cs typeface="League Spartan"/>
                <a:sym typeface="League Spartan"/>
              </a:rPr>
              <a:t>: https://www.linkedin.com/in/sruthi-thulasi-das-547103152/</a:t>
            </a:r>
          </a:p>
          <a:p>
            <a:pPr algn="ctr">
              <a:lnSpc>
                <a:spcPts val="3083"/>
              </a:lnSpc>
            </a:pPr>
            <a:r>
              <a:rPr lang="en-US" sz="2202" b="1" u="sng">
                <a:solidFill>
                  <a:srgbClr val="000000"/>
                </a:solidFill>
                <a:latin typeface="League Spartan"/>
                <a:ea typeface="League Spartan"/>
                <a:cs typeface="League Spartan"/>
                <a:sym typeface="League Spartan"/>
                <a:hlinkClick r:id="rId5" tooltip="https://github.com/YOUR-GITHUB-USERNAME"/>
              </a:rPr>
              <a:t>GitHub</a:t>
            </a:r>
            <a:r>
              <a:rPr lang="en-US" sz="2202" b="1">
                <a:solidFill>
                  <a:srgbClr val="000000"/>
                </a:solidFill>
                <a:latin typeface="League Spartan"/>
                <a:ea typeface="League Spartan"/>
                <a:cs typeface="League Spartan"/>
                <a:sym typeface="League Spartan"/>
              </a:rPr>
              <a:t>: https://github.com/Sruthi-t-das</a:t>
            </a:r>
          </a:p>
          <a:p>
            <a:pPr algn="ctr">
              <a:lnSpc>
                <a:spcPts val="3083"/>
              </a:lnSpc>
              <a:spcBef>
                <a:spcPct val="0"/>
              </a:spcBef>
            </a:pPr>
            <a:endParaRPr lang="en-US" sz="2202" b="1">
              <a:solidFill>
                <a:srgbClr val="000000"/>
              </a:solidFill>
              <a:latin typeface="League Spartan"/>
              <a:ea typeface="League Spartan"/>
              <a:cs typeface="League Spartan"/>
              <a:sym typeface="League Spartan"/>
            </a:endParaRPr>
          </a:p>
        </p:txBody>
      </p:sp>
      <p:sp>
        <p:nvSpPr>
          <p:cNvPr id="9" name="TextBox 9"/>
          <p:cNvSpPr txBox="1"/>
          <p:nvPr/>
        </p:nvSpPr>
        <p:spPr>
          <a:xfrm>
            <a:off x="716761" y="1213068"/>
            <a:ext cx="10256143" cy="1138965"/>
          </a:xfrm>
          <a:prstGeom prst="rect">
            <a:avLst/>
          </a:prstGeom>
        </p:spPr>
        <p:txBody>
          <a:bodyPr lIns="0" tIns="0" rIns="0" bIns="0" rtlCol="0" anchor="t">
            <a:spAutoFit/>
          </a:bodyPr>
          <a:lstStyle/>
          <a:p>
            <a:pPr algn="just">
              <a:lnSpc>
                <a:spcPts val="2322"/>
              </a:lnSpc>
              <a:spcBef>
                <a:spcPct val="0"/>
              </a:spcBef>
            </a:pPr>
            <a:r>
              <a:rPr lang="en-US" sz="1658">
                <a:solidFill>
                  <a:srgbClr val="000000"/>
                </a:solidFill>
                <a:latin typeface="Open Sans"/>
                <a:ea typeface="Open Sans"/>
                <a:cs typeface="Open Sans"/>
                <a:sym typeface="Open Sans"/>
              </a:rPr>
              <a:t>Welcome, and thank you for joining us in today’s presentation, we’ll explore how data analytics reveals the key drivers of U.S. medical insurance costs, helping Allianz Germany design fair, competitive, and risk-adjusted pricing strategies for market entry.</a:t>
            </a:r>
          </a:p>
          <a:p>
            <a:pPr algn="l">
              <a:lnSpc>
                <a:spcPts val="2322"/>
              </a:lnSpc>
              <a:spcBef>
                <a:spcPct val="0"/>
              </a:spcBef>
            </a:pPr>
            <a:endParaRPr lang="en-US" sz="1658">
              <a:solidFill>
                <a:srgbClr val="000000"/>
              </a:solidFill>
              <a:latin typeface="Open Sans"/>
              <a:ea typeface="Open Sans"/>
              <a:cs typeface="Open Sans"/>
              <a:sym typeface="Open Sans"/>
            </a:endParaRPr>
          </a:p>
        </p:txBody>
      </p:sp>
      <p:sp>
        <p:nvSpPr>
          <p:cNvPr id="10" name="TextBox 10"/>
          <p:cNvSpPr txBox="1"/>
          <p:nvPr/>
        </p:nvSpPr>
        <p:spPr>
          <a:xfrm>
            <a:off x="17259300" y="9248775"/>
            <a:ext cx="139452" cy="311150"/>
          </a:xfrm>
          <a:prstGeom prst="rect">
            <a:avLst/>
          </a:prstGeom>
        </p:spPr>
        <p:txBody>
          <a:bodyPr wrap="none" lIns="0" tIns="0" rIns="0" bIns="0" rtlCol="0" anchor="t">
            <a:spAutoFit/>
          </a:bodyPr>
          <a:lstStyle/>
          <a:p>
            <a:pPr algn="ctr">
              <a:lnSpc>
                <a:spcPts val="839"/>
              </a:lnSpc>
              <a:spcBef>
                <a:spcPct val="0"/>
              </a:spcBef>
            </a:pPr>
            <a:r>
              <a:rPr lang="en-US" sz="600" b="1">
                <a:solidFill>
                  <a:srgbClr val="FFFFFF"/>
                </a:solidFill>
                <a:latin typeface="League Spartan"/>
                <a:ea typeface="League Spartan"/>
                <a:cs typeface="League Spartan"/>
                <a:sym typeface="League Spart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88785" y="1143000"/>
            <a:ext cx="2904290" cy="835011"/>
          </a:xfrm>
          <a:prstGeom prst="rect">
            <a:avLst/>
          </a:prstGeom>
        </p:spPr>
        <p:txBody>
          <a:bodyPr lIns="0" tIns="0" rIns="0" bIns="0" rtlCol="0" anchor="t">
            <a:spAutoFit/>
          </a:bodyPr>
          <a:lstStyle/>
          <a:p>
            <a:pPr algn="l">
              <a:lnSpc>
                <a:spcPts val="6249"/>
              </a:lnSpc>
            </a:pPr>
            <a:r>
              <a:rPr lang="en-US" sz="6249" b="1">
                <a:solidFill>
                  <a:srgbClr val="000000"/>
                </a:solidFill>
                <a:latin typeface="League Spartan"/>
                <a:ea typeface="League Spartan"/>
                <a:cs typeface="League Spartan"/>
                <a:sym typeface="League Spartan"/>
              </a:rPr>
              <a:t>TOOLS</a:t>
            </a:r>
          </a:p>
        </p:txBody>
      </p:sp>
      <p:sp>
        <p:nvSpPr>
          <p:cNvPr id="3" name="TextBox 3"/>
          <p:cNvSpPr txBox="1"/>
          <p:nvPr/>
        </p:nvSpPr>
        <p:spPr>
          <a:xfrm>
            <a:off x="17259300" y="9248775"/>
            <a:ext cx="147340" cy="311150"/>
          </a:xfrm>
          <a:prstGeom prst="rect">
            <a:avLst/>
          </a:prstGeom>
        </p:spPr>
        <p:txBody>
          <a:bodyPr wrap="none" lIns="0" tIns="0" rIns="0" bIns="0" rtlCol="0" anchor="t">
            <a:spAutoFit/>
          </a:bodyPr>
          <a:lstStyle/>
          <a:p>
            <a:pPr algn="ctr">
              <a:lnSpc>
                <a:spcPts val="839"/>
              </a:lnSpc>
              <a:spcBef>
                <a:spcPct val="0"/>
              </a:spcBef>
            </a:pPr>
            <a:r>
              <a:rPr lang="en-US" sz="600">
                <a:solidFill>
                  <a:srgbClr val="000000"/>
                </a:solidFill>
                <a:latin typeface="Open Sans"/>
                <a:ea typeface="Open Sans"/>
                <a:cs typeface="Open Sans"/>
                <a:sym typeface="Open Sans"/>
              </a:rPr>
              <a:t>3</a:t>
            </a:r>
          </a:p>
        </p:txBody>
      </p:sp>
      <p:sp>
        <p:nvSpPr>
          <p:cNvPr id="4" name="Freeform 4"/>
          <p:cNvSpPr/>
          <p:nvPr/>
        </p:nvSpPr>
        <p:spPr>
          <a:xfrm>
            <a:off x="2288785" y="2425498"/>
            <a:ext cx="9245191" cy="6922337"/>
          </a:xfrm>
          <a:custGeom>
            <a:avLst/>
            <a:gdLst/>
            <a:ahLst/>
            <a:cxnLst/>
            <a:rect l="l" t="t" r="r" b="b"/>
            <a:pathLst>
              <a:path w="9245191" h="6922337">
                <a:moveTo>
                  <a:pt x="0" y="0"/>
                </a:moveTo>
                <a:lnTo>
                  <a:pt x="9245191" y="0"/>
                </a:lnTo>
                <a:lnTo>
                  <a:pt x="9245191" y="6922337"/>
                </a:lnTo>
                <a:lnTo>
                  <a:pt x="0" y="6922337"/>
                </a:lnTo>
                <a:lnTo>
                  <a:pt x="0" y="0"/>
                </a:lnTo>
                <a:close/>
              </a:path>
            </a:pathLst>
          </a:custGeom>
          <a:blipFill>
            <a:blip r:embed="rId2"/>
            <a:stretch>
              <a:fillRect/>
            </a:stretch>
          </a:blipFill>
        </p:spPr>
        <p:txBody>
          <a:bodyPr/>
          <a:lstStyle/>
          <a:p>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F6"/>
        </a:solidFill>
        <a:effectLst/>
      </p:bgPr>
    </p:bg>
    <p:spTree>
      <p:nvGrpSpPr>
        <p:cNvPr id="1" name=""/>
        <p:cNvGrpSpPr/>
        <p:nvPr/>
      </p:nvGrpSpPr>
      <p:grpSpPr>
        <a:xfrm>
          <a:off x="0" y="0"/>
          <a:ext cx="0" cy="0"/>
          <a:chOff x="0" y="0"/>
          <a:chExt cx="0" cy="0"/>
        </a:xfrm>
      </p:grpSpPr>
      <p:grpSp>
        <p:nvGrpSpPr>
          <p:cNvPr id="2" name="Group 2"/>
          <p:cNvGrpSpPr/>
          <p:nvPr/>
        </p:nvGrpSpPr>
        <p:grpSpPr>
          <a:xfrm>
            <a:off x="79396" y="346454"/>
            <a:ext cx="8686800" cy="88773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88858" y="481787"/>
            <a:ext cx="7626753" cy="819050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6558" r="-62850" b="-19755"/>
              </a:stretch>
            </a:blipFill>
          </p:spPr>
          <p:txBody>
            <a:bodyPr/>
            <a:lstStyle/>
            <a:p>
              <a:endParaRPr lang="de-DE"/>
            </a:p>
          </p:txBody>
        </p:sp>
      </p:grpSp>
      <p:sp>
        <p:nvSpPr>
          <p:cNvPr id="7" name="Freeform 7"/>
          <p:cNvSpPr/>
          <p:nvPr/>
        </p:nvSpPr>
        <p:spPr>
          <a:xfrm>
            <a:off x="7310685" y="2904109"/>
            <a:ext cx="10620414" cy="6505003"/>
          </a:xfrm>
          <a:custGeom>
            <a:avLst/>
            <a:gdLst/>
            <a:ahLst/>
            <a:cxnLst/>
            <a:rect l="l" t="t" r="r" b="b"/>
            <a:pathLst>
              <a:path w="10620414" h="6505003">
                <a:moveTo>
                  <a:pt x="0" y="0"/>
                </a:moveTo>
                <a:lnTo>
                  <a:pt x="10620414" y="0"/>
                </a:lnTo>
                <a:lnTo>
                  <a:pt x="10620414" y="6505003"/>
                </a:lnTo>
                <a:lnTo>
                  <a:pt x="0" y="6505003"/>
                </a:lnTo>
                <a:lnTo>
                  <a:pt x="0" y="0"/>
                </a:lnTo>
                <a:close/>
              </a:path>
            </a:pathLst>
          </a:custGeom>
          <a:blipFill>
            <a:blip r:embed="rId3"/>
            <a:stretch>
              <a:fillRect/>
            </a:stretch>
          </a:blipFill>
        </p:spPr>
        <p:txBody>
          <a:bodyPr/>
          <a:lstStyle/>
          <a:p>
            <a:endParaRPr lang="de-DE"/>
          </a:p>
        </p:txBody>
      </p:sp>
      <p:sp>
        <p:nvSpPr>
          <p:cNvPr id="8" name="TextBox 8"/>
          <p:cNvSpPr txBox="1"/>
          <p:nvPr/>
        </p:nvSpPr>
        <p:spPr>
          <a:xfrm>
            <a:off x="8871245" y="658839"/>
            <a:ext cx="8388055" cy="1416493"/>
          </a:xfrm>
          <a:prstGeom prst="rect">
            <a:avLst/>
          </a:prstGeom>
        </p:spPr>
        <p:txBody>
          <a:bodyPr lIns="0" tIns="0" rIns="0" bIns="0" rtlCol="0" anchor="t">
            <a:spAutoFit/>
          </a:bodyPr>
          <a:lstStyle/>
          <a:p>
            <a:pPr algn="l">
              <a:lnSpc>
                <a:spcPts val="5498"/>
              </a:lnSpc>
            </a:pPr>
            <a:r>
              <a:rPr lang="en-US" sz="5498" b="1">
                <a:solidFill>
                  <a:srgbClr val="000000"/>
                </a:solidFill>
                <a:latin typeface="League Spartan"/>
                <a:ea typeface="League Spartan"/>
                <a:cs typeface="League Spartan"/>
                <a:sym typeface="League Spartan"/>
              </a:rPr>
              <a:t>Executive Summary</a:t>
            </a:r>
          </a:p>
          <a:p>
            <a:pPr algn="l">
              <a:lnSpc>
                <a:spcPts val="5498"/>
              </a:lnSpc>
            </a:pPr>
            <a:endParaRPr lang="en-US" sz="5498" b="1">
              <a:solidFill>
                <a:srgbClr val="000000"/>
              </a:solidFill>
              <a:latin typeface="League Spartan"/>
              <a:ea typeface="League Spartan"/>
              <a:cs typeface="League Spartan"/>
              <a:sym typeface="League Spartan"/>
            </a:endParaRPr>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394" y="342900"/>
            <a:ext cx="7162800" cy="829169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37691" y="2275109"/>
            <a:ext cx="5360206" cy="4038600"/>
            <a:chOff x="0" y="0"/>
            <a:chExt cx="940994" cy="593047"/>
          </a:xfrm>
        </p:grpSpPr>
        <p:sp>
          <p:nvSpPr>
            <p:cNvPr id="6" name="Freeform 6"/>
            <p:cNvSpPr/>
            <p:nvPr/>
          </p:nvSpPr>
          <p:spPr>
            <a:xfrm>
              <a:off x="0" y="0"/>
              <a:ext cx="940994" cy="593047"/>
            </a:xfrm>
            <a:custGeom>
              <a:avLst/>
              <a:gdLst/>
              <a:ahLst/>
              <a:cxnLst/>
              <a:rect l="l" t="t" r="r" b="b"/>
              <a:pathLst>
                <a:path w="940994" h="593047">
                  <a:moveTo>
                    <a:pt x="470497" y="0"/>
                  </a:moveTo>
                  <a:cubicBezTo>
                    <a:pt x="210649" y="0"/>
                    <a:pt x="0" y="132758"/>
                    <a:pt x="0" y="296524"/>
                  </a:cubicBezTo>
                  <a:cubicBezTo>
                    <a:pt x="0" y="460289"/>
                    <a:pt x="210649" y="593047"/>
                    <a:pt x="470497" y="593047"/>
                  </a:cubicBezTo>
                  <a:cubicBezTo>
                    <a:pt x="730345" y="593047"/>
                    <a:pt x="940994" y="460289"/>
                    <a:pt x="940994" y="296524"/>
                  </a:cubicBezTo>
                  <a:cubicBezTo>
                    <a:pt x="940994" y="132758"/>
                    <a:pt x="730345" y="0"/>
                    <a:pt x="470497" y="0"/>
                  </a:cubicBezTo>
                  <a:close/>
                </a:path>
              </a:pathLst>
            </a:custGeom>
            <a:blipFill>
              <a:blip r:embed="rId2">
                <a:alphaModFix amt="90000"/>
              </a:blip>
              <a:stretch>
                <a:fillRect t="-8342" b="-8342"/>
              </a:stretch>
            </a:blipFill>
          </p:spPr>
          <p:txBody>
            <a:bodyPr/>
            <a:lstStyle/>
            <a:p>
              <a:endParaRPr lang="de-DE"/>
            </a:p>
          </p:txBody>
        </p:sp>
      </p:grpSp>
      <p:sp>
        <p:nvSpPr>
          <p:cNvPr id="7" name="TextBox 7"/>
          <p:cNvSpPr txBox="1"/>
          <p:nvPr/>
        </p:nvSpPr>
        <p:spPr>
          <a:xfrm>
            <a:off x="8333957" y="1358587"/>
            <a:ext cx="9283667" cy="835011"/>
          </a:xfrm>
          <a:prstGeom prst="rect">
            <a:avLst/>
          </a:prstGeom>
        </p:spPr>
        <p:txBody>
          <a:bodyPr wrap="square" lIns="0" tIns="0" rIns="0" bIns="0" rtlCol="0" anchor="t">
            <a:spAutoFit/>
          </a:bodyPr>
          <a:lstStyle/>
          <a:p>
            <a:pPr algn="l">
              <a:lnSpc>
                <a:spcPts val="6249"/>
              </a:lnSpc>
            </a:pPr>
            <a:r>
              <a:rPr lang="en-US" sz="6249" dirty="0">
                <a:solidFill>
                  <a:srgbClr val="000000"/>
                </a:solidFill>
                <a:latin typeface="League Spartan"/>
                <a:ea typeface="League Spartan"/>
                <a:cs typeface="League Spartan"/>
                <a:sym typeface="League Spartan"/>
              </a:rPr>
              <a:t>👥 </a:t>
            </a:r>
            <a:r>
              <a:rPr lang="en-US" sz="6249" dirty="0" err="1">
                <a:solidFill>
                  <a:srgbClr val="000000"/>
                </a:solidFill>
                <a:latin typeface="League Spartan"/>
                <a:ea typeface="League Spartan"/>
                <a:cs typeface="League Spartan"/>
                <a:sym typeface="League Spartan"/>
              </a:rPr>
              <a:t>StakeholderView</a:t>
            </a:r>
            <a:endParaRPr lang="en-US" sz="6249" dirty="0">
              <a:solidFill>
                <a:srgbClr val="000000"/>
              </a:solidFill>
              <a:latin typeface="League Spartan"/>
              <a:ea typeface="League Spartan"/>
              <a:cs typeface="League Spartan"/>
              <a:sym typeface="League Spartan"/>
            </a:endParaRPr>
          </a:p>
        </p:txBody>
      </p:sp>
      <p:sp>
        <p:nvSpPr>
          <p:cNvPr id="8" name="TextBox 8"/>
          <p:cNvSpPr txBox="1"/>
          <p:nvPr/>
        </p:nvSpPr>
        <p:spPr>
          <a:xfrm>
            <a:off x="9544528" y="2697043"/>
            <a:ext cx="7128745" cy="382906"/>
          </a:xfrm>
          <a:prstGeom prst="rect">
            <a:avLst/>
          </a:prstGeom>
        </p:spPr>
        <p:txBody>
          <a:bodyPr lIns="0" tIns="0" rIns="0" bIns="0" rtlCol="0" anchor="t">
            <a:spAutoFit/>
          </a:bodyPr>
          <a:lstStyle/>
          <a:p>
            <a:pPr algn="l">
              <a:lnSpc>
                <a:spcPts val="3299"/>
              </a:lnSpc>
            </a:pPr>
            <a:r>
              <a:rPr lang="en-US" sz="2199" b="1">
                <a:solidFill>
                  <a:srgbClr val="000000"/>
                </a:solidFill>
                <a:latin typeface="Open Sans Bold"/>
                <a:ea typeface="Open Sans Bold"/>
                <a:cs typeface="Open Sans Bold"/>
                <a:sym typeface="Open Sans Bold"/>
              </a:rPr>
              <a:t>Allianz Germany’s Pricing and Underwriting Team</a:t>
            </a:r>
          </a:p>
        </p:txBody>
      </p:sp>
      <p:sp>
        <p:nvSpPr>
          <p:cNvPr id="9" name="TextBox 9"/>
          <p:cNvSpPr txBox="1"/>
          <p:nvPr/>
        </p:nvSpPr>
        <p:spPr>
          <a:xfrm>
            <a:off x="8091954" y="5397639"/>
            <a:ext cx="8881730" cy="2695763"/>
          </a:xfrm>
          <a:prstGeom prst="rect">
            <a:avLst/>
          </a:prstGeom>
        </p:spPr>
        <p:txBody>
          <a:bodyPr lIns="0" tIns="0" rIns="0" bIns="0" rtlCol="0" anchor="t">
            <a:spAutoFit/>
          </a:bodyPr>
          <a:lstStyle/>
          <a:p>
            <a:pPr algn="l">
              <a:lnSpc>
                <a:spcPts val="4492"/>
              </a:lnSpc>
            </a:pPr>
            <a:r>
              <a:rPr lang="en-US" sz="2995" b="1">
                <a:solidFill>
                  <a:srgbClr val="000000"/>
                </a:solidFill>
                <a:latin typeface="Open Sans Bold"/>
                <a:ea typeface="Open Sans Bold"/>
                <a:cs typeface="Open Sans Bold"/>
                <a:sym typeface="Open Sans Bold"/>
              </a:rPr>
              <a:t>Goals</a:t>
            </a:r>
          </a:p>
          <a:p>
            <a:pPr algn="l">
              <a:lnSpc>
                <a:spcPts val="3592"/>
              </a:lnSpc>
            </a:pPr>
            <a:endParaRPr lang="en-US" sz="2995" b="1">
              <a:solidFill>
                <a:srgbClr val="000000"/>
              </a:solidFill>
              <a:latin typeface="Open Sans Bold"/>
              <a:ea typeface="Open Sans Bold"/>
              <a:cs typeface="Open Sans Bold"/>
              <a:sym typeface="Open Sans Bold"/>
            </a:endParaRPr>
          </a:p>
          <a:p>
            <a:pPr algn="l">
              <a:lnSpc>
                <a:spcPts val="2842"/>
              </a:lnSpc>
            </a:pPr>
            <a:r>
              <a:rPr lang="en-US" sz="1895">
                <a:solidFill>
                  <a:srgbClr val="000000"/>
                </a:solidFill>
                <a:latin typeface="Open Sans"/>
                <a:ea typeface="Open Sans"/>
                <a:cs typeface="Open Sans"/>
                <a:sym typeface="Open Sans"/>
              </a:rPr>
              <a:t>Develop </a:t>
            </a:r>
            <a:r>
              <a:rPr lang="en-US" sz="1895" b="1">
                <a:solidFill>
                  <a:srgbClr val="000000"/>
                </a:solidFill>
                <a:latin typeface="Open Sans Bold"/>
                <a:ea typeface="Open Sans Bold"/>
                <a:cs typeface="Open Sans Bold"/>
                <a:sym typeface="Open Sans Bold"/>
              </a:rPr>
              <a:t>risk-based premium plans</a:t>
            </a:r>
            <a:r>
              <a:rPr lang="en-US" sz="1895">
                <a:solidFill>
                  <a:srgbClr val="000000"/>
                </a:solidFill>
                <a:latin typeface="Open Sans"/>
                <a:ea typeface="Open Sans"/>
                <a:cs typeface="Open Sans"/>
                <a:sym typeface="Open Sans"/>
              </a:rPr>
              <a:t> using medical and demographic data.</a:t>
            </a:r>
          </a:p>
          <a:p>
            <a:pPr algn="l">
              <a:lnSpc>
                <a:spcPts val="2842"/>
              </a:lnSpc>
            </a:pPr>
            <a:r>
              <a:rPr lang="en-US" sz="1895">
                <a:solidFill>
                  <a:srgbClr val="000000"/>
                </a:solidFill>
                <a:latin typeface="Open Sans"/>
                <a:ea typeface="Open Sans"/>
                <a:cs typeface="Open Sans"/>
                <a:sym typeface="Open Sans"/>
              </a:rPr>
              <a:t>Avoid </a:t>
            </a:r>
            <a:r>
              <a:rPr lang="en-US" sz="1895" b="1">
                <a:solidFill>
                  <a:srgbClr val="000000"/>
                </a:solidFill>
                <a:latin typeface="Open Sans Bold"/>
                <a:ea typeface="Open Sans Bold"/>
                <a:cs typeface="Open Sans Bold"/>
                <a:sym typeface="Open Sans Bold"/>
              </a:rPr>
              <a:t>underpricing</a:t>
            </a:r>
            <a:r>
              <a:rPr lang="en-US" sz="1895">
                <a:solidFill>
                  <a:srgbClr val="000000"/>
                </a:solidFill>
                <a:latin typeface="Open Sans"/>
                <a:ea typeface="Open Sans"/>
                <a:cs typeface="Open Sans"/>
                <a:sym typeface="Open Sans"/>
              </a:rPr>
              <a:t> high-risk individuals (e.g., smokers, obese, chronically ill).</a:t>
            </a:r>
          </a:p>
          <a:p>
            <a:pPr algn="l">
              <a:lnSpc>
                <a:spcPts val="2842"/>
              </a:lnSpc>
            </a:pPr>
            <a:r>
              <a:rPr lang="en-US" sz="1895" b="1">
                <a:solidFill>
                  <a:srgbClr val="000000"/>
                </a:solidFill>
                <a:latin typeface="Open Sans Bold"/>
                <a:ea typeface="Open Sans Bold"/>
                <a:cs typeface="Open Sans Bold"/>
                <a:sym typeface="Open Sans Bold"/>
              </a:rPr>
              <a:t>Attract low-risk, healthy customers</a:t>
            </a:r>
            <a:r>
              <a:rPr lang="en-US" sz="1895">
                <a:solidFill>
                  <a:srgbClr val="000000"/>
                </a:solidFill>
                <a:latin typeface="Open Sans"/>
                <a:ea typeface="Open Sans"/>
                <a:cs typeface="Open Sans"/>
                <a:sym typeface="Open Sans"/>
              </a:rPr>
              <a:t> with competitive, fair premiums.</a:t>
            </a:r>
          </a:p>
          <a:p>
            <a:pPr algn="l">
              <a:lnSpc>
                <a:spcPts val="2842"/>
              </a:lnSpc>
            </a:pPr>
            <a:r>
              <a:rPr lang="en-US" sz="1895">
                <a:solidFill>
                  <a:srgbClr val="000000"/>
                </a:solidFill>
                <a:latin typeface="Open Sans"/>
                <a:ea typeface="Open Sans"/>
                <a:cs typeface="Open Sans"/>
                <a:sym typeface="Open Sans"/>
              </a:rPr>
              <a:t>Build a </a:t>
            </a:r>
            <a:r>
              <a:rPr lang="en-US" sz="1895" b="1">
                <a:solidFill>
                  <a:srgbClr val="000000"/>
                </a:solidFill>
                <a:latin typeface="Open Sans Bold"/>
                <a:ea typeface="Open Sans Bold"/>
                <a:cs typeface="Open Sans Bold"/>
                <a:sym typeface="Open Sans Bold"/>
              </a:rPr>
              <a:t>sustainable and data-informed market entry strategy</a:t>
            </a:r>
            <a:r>
              <a:rPr lang="en-US" sz="1895">
                <a:solidFill>
                  <a:srgbClr val="000000"/>
                </a:solidFill>
                <a:latin typeface="Open Sans"/>
                <a:ea typeface="Open Sans"/>
                <a:cs typeface="Open Sans"/>
                <a:sym typeface="Open Sans"/>
              </a:rPr>
              <a:t> in the U.S.</a:t>
            </a:r>
          </a:p>
          <a:p>
            <a:pPr algn="l">
              <a:lnSpc>
                <a:spcPts val="2242"/>
              </a:lnSpc>
            </a:pPr>
            <a:endParaRPr lang="en-US" sz="1895">
              <a:solidFill>
                <a:srgbClr val="000000"/>
              </a:solidFill>
              <a:latin typeface="Open Sans"/>
              <a:ea typeface="Open Sans"/>
              <a:cs typeface="Open Sans"/>
              <a:sym typeface="Open Sans"/>
            </a:endParaRPr>
          </a:p>
        </p:txBody>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34377" y="3600450"/>
            <a:ext cx="4253623" cy="3086100"/>
            <a:chOff x="0" y="0"/>
            <a:chExt cx="1120296" cy="812800"/>
          </a:xfrm>
        </p:grpSpPr>
        <p:sp>
          <p:nvSpPr>
            <p:cNvPr id="3" name="Freeform 3"/>
            <p:cNvSpPr/>
            <p:nvPr/>
          </p:nvSpPr>
          <p:spPr>
            <a:xfrm>
              <a:off x="0" y="0"/>
              <a:ext cx="1120296" cy="812800"/>
            </a:xfrm>
            <a:custGeom>
              <a:avLst/>
              <a:gdLst/>
              <a:ahLst/>
              <a:cxnLst/>
              <a:rect l="l" t="t" r="r" b="b"/>
              <a:pathLst>
                <a:path w="1120296" h="812800">
                  <a:moveTo>
                    <a:pt x="0" y="0"/>
                  </a:moveTo>
                  <a:lnTo>
                    <a:pt x="1120296" y="0"/>
                  </a:lnTo>
                  <a:lnTo>
                    <a:pt x="1120296"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1120296" cy="8509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302182" y="1744527"/>
            <a:ext cx="7957118" cy="3222558"/>
            <a:chOff x="0" y="0"/>
            <a:chExt cx="1232766" cy="499259"/>
          </a:xfrm>
        </p:grpSpPr>
        <p:sp>
          <p:nvSpPr>
            <p:cNvPr id="6" name="Freeform 6"/>
            <p:cNvSpPr/>
            <p:nvPr/>
          </p:nvSpPr>
          <p:spPr>
            <a:xfrm>
              <a:off x="0" y="0"/>
              <a:ext cx="1232766" cy="499259"/>
            </a:xfrm>
            <a:custGeom>
              <a:avLst/>
              <a:gdLst/>
              <a:ahLst/>
              <a:cxnLst/>
              <a:rect l="l" t="t" r="r" b="b"/>
              <a:pathLst>
                <a:path w="1232766" h="499259">
                  <a:moveTo>
                    <a:pt x="22378" y="0"/>
                  </a:moveTo>
                  <a:lnTo>
                    <a:pt x="1210388" y="0"/>
                  </a:lnTo>
                  <a:cubicBezTo>
                    <a:pt x="1216323" y="0"/>
                    <a:pt x="1222015" y="2358"/>
                    <a:pt x="1226211" y="6554"/>
                  </a:cubicBezTo>
                  <a:cubicBezTo>
                    <a:pt x="1230408" y="10751"/>
                    <a:pt x="1232766" y="16443"/>
                    <a:pt x="1232766" y="22378"/>
                  </a:cubicBezTo>
                  <a:lnTo>
                    <a:pt x="1232766" y="476881"/>
                  </a:lnTo>
                  <a:cubicBezTo>
                    <a:pt x="1232766" y="482816"/>
                    <a:pt x="1230408" y="488508"/>
                    <a:pt x="1226211" y="492704"/>
                  </a:cubicBezTo>
                  <a:cubicBezTo>
                    <a:pt x="1222015" y="496901"/>
                    <a:pt x="1216323" y="499259"/>
                    <a:pt x="1210388" y="499259"/>
                  </a:cubicBezTo>
                  <a:lnTo>
                    <a:pt x="22378" y="499259"/>
                  </a:lnTo>
                  <a:cubicBezTo>
                    <a:pt x="16443" y="499259"/>
                    <a:pt x="10751" y="496901"/>
                    <a:pt x="6554" y="492704"/>
                  </a:cubicBezTo>
                  <a:cubicBezTo>
                    <a:pt x="2358" y="488508"/>
                    <a:pt x="0" y="482816"/>
                    <a:pt x="0" y="476881"/>
                  </a:cubicBezTo>
                  <a:lnTo>
                    <a:pt x="0" y="22378"/>
                  </a:lnTo>
                  <a:cubicBezTo>
                    <a:pt x="0" y="16443"/>
                    <a:pt x="2358" y="10751"/>
                    <a:pt x="6554" y="6554"/>
                  </a:cubicBezTo>
                  <a:cubicBezTo>
                    <a:pt x="10751" y="2358"/>
                    <a:pt x="16443" y="0"/>
                    <a:pt x="22378" y="0"/>
                  </a:cubicBezTo>
                  <a:close/>
                </a:path>
              </a:pathLst>
            </a:custGeom>
            <a:blipFill>
              <a:blip r:embed="rId2"/>
              <a:stretch>
                <a:fillRect t="-15896" b="-15896"/>
              </a:stretch>
            </a:blipFill>
          </p:spPr>
          <p:txBody>
            <a:bodyPr/>
            <a:lstStyle/>
            <a:p>
              <a:endParaRPr lang="de-DE"/>
            </a:p>
          </p:txBody>
        </p:sp>
      </p:grpSp>
      <p:grpSp>
        <p:nvGrpSpPr>
          <p:cNvPr id="7" name="Group 7"/>
          <p:cNvGrpSpPr/>
          <p:nvPr/>
        </p:nvGrpSpPr>
        <p:grpSpPr>
          <a:xfrm>
            <a:off x="9302182" y="5319915"/>
            <a:ext cx="3799072" cy="3222558"/>
            <a:chOff x="0" y="0"/>
            <a:chExt cx="588576" cy="499259"/>
          </a:xfrm>
        </p:grpSpPr>
        <p:sp>
          <p:nvSpPr>
            <p:cNvPr id="8" name="Freeform 8"/>
            <p:cNvSpPr/>
            <p:nvPr/>
          </p:nvSpPr>
          <p:spPr>
            <a:xfrm>
              <a:off x="0" y="0"/>
              <a:ext cx="588576" cy="499259"/>
            </a:xfrm>
            <a:custGeom>
              <a:avLst/>
              <a:gdLst/>
              <a:ahLst/>
              <a:cxnLst/>
              <a:rect l="l" t="t" r="r" b="b"/>
              <a:pathLst>
                <a:path w="588576" h="499259">
                  <a:moveTo>
                    <a:pt x="46870" y="0"/>
                  </a:moveTo>
                  <a:lnTo>
                    <a:pt x="541705" y="0"/>
                  </a:lnTo>
                  <a:cubicBezTo>
                    <a:pt x="567591" y="0"/>
                    <a:pt x="588576" y="20985"/>
                    <a:pt x="588576" y="46870"/>
                  </a:cubicBezTo>
                  <a:lnTo>
                    <a:pt x="588576" y="452388"/>
                  </a:lnTo>
                  <a:cubicBezTo>
                    <a:pt x="588576" y="478274"/>
                    <a:pt x="567591" y="499259"/>
                    <a:pt x="541705" y="499259"/>
                  </a:cubicBezTo>
                  <a:lnTo>
                    <a:pt x="46870" y="499259"/>
                  </a:lnTo>
                  <a:cubicBezTo>
                    <a:pt x="20985" y="499259"/>
                    <a:pt x="0" y="478274"/>
                    <a:pt x="0" y="452388"/>
                  </a:cubicBezTo>
                  <a:lnTo>
                    <a:pt x="0" y="46870"/>
                  </a:lnTo>
                  <a:cubicBezTo>
                    <a:pt x="0" y="20985"/>
                    <a:pt x="20985" y="0"/>
                    <a:pt x="46870" y="0"/>
                  </a:cubicBezTo>
                  <a:close/>
                </a:path>
              </a:pathLst>
            </a:custGeom>
            <a:blipFill>
              <a:blip r:embed="rId3"/>
              <a:stretch>
                <a:fillRect l="-20006" r="-20006"/>
              </a:stretch>
            </a:blipFill>
          </p:spPr>
          <p:txBody>
            <a:bodyPr/>
            <a:lstStyle/>
            <a:p>
              <a:endParaRPr lang="de-DE"/>
            </a:p>
          </p:txBody>
        </p:sp>
      </p:grpSp>
      <p:grpSp>
        <p:nvGrpSpPr>
          <p:cNvPr id="9" name="Group 9"/>
          <p:cNvGrpSpPr/>
          <p:nvPr/>
        </p:nvGrpSpPr>
        <p:grpSpPr>
          <a:xfrm>
            <a:off x="13460228" y="5319915"/>
            <a:ext cx="3799072" cy="3222558"/>
            <a:chOff x="0" y="0"/>
            <a:chExt cx="588576" cy="499259"/>
          </a:xfrm>
        </p:grpSpPr>
        <p:sp>
          <p:nvSpPr>
            <p:cNvPr id="10" name="Freeform 10"/>
            <p:cNvSpPr/>
            <p:nvPr/>
          </p:nvSpPr>
          <p:spPr>
            <a:xfrm>
              <a:off x="0" y="0"/>
              <a:ext cx="588576" cy="499259"/>
            </a:xfrm>
            <a:custGeom>
              <a:avLst/>
              <a:gdLst/>
              <a:ahLst/>
              <a:cxnLst/>
              <a:rect l="l" t="t" r="r" b="b"/>
              <a:pathLst>
                <a:path w="588576" h="499259">
                  <a:moveTo>
                    <a:pt x="46870" y="0"/>
                  </a:moveTo>
                  <a:lnTo>
                    <a:pt x="541705" y="0"/>
                  </a:lnTo>
                  <a:cubicBezTo>
                    <a:pt x="567591" y="0"/>
                    <a:pt x="588576" y="20985"/>
                    <a:pt x="588576" y="46870"/>
                  </a:cubicBezTo>
                  <a:lnTo>
                    <a:pt x="588576" y="452388"/>
                  </a:lnTo>
                  <a:cubicBezTo>
                    <a:pt x="588576" y="478274"/>
                    <a:pt x="567591" y="499259"/>
                    <a:pt x="541705" y="499259"/>
                  </a:cubicBezTo>
                  <a:lnTo>
                    <a:pt x="46870" y="499259"/>
                  </a:lnTo>
                  <a:cubicBezTo>
                    <a:pt x="20985" y="499259"/>
                    <a:pt x="0" y="478274"/>
                    <a:pt x="0" y="452388"/>
                  </a:cubicBezTo>
                  <a:lnTo>
                    <a:pt x="0" y="46870"/>
                  </a:lnTo>
                  <a:cubicBezTo>
                    <a:pt x="0" y="20985"/>
                    <a:pt x="20985" y="0"/>
                    <a:pt x="46870" y="0"/>
                  </a:cubicBezTo>
                  <a:close/>
                </a:path>
              </a:pathLst>
            </a:custGeom>
            <a:blipFill>
              <a:blip r:embed="rId4"/>
              <a:stretch>
                <a:fillRect l="-19623" r="-19623"/>
              </a:stretch>
            </a:blipFill>
          </p:spPr>
          <p:txBody>
            <a:bodyPr/>
            <a:lstStyle/>
            <a:p>
              <a:endParaRPr lang="de-DE"/>
            </a:p>
          </p:txBody>
        </p:sp>
      </p:grpSp>
      <p:sp>
        <p:nvSpPr>
          <p:cNvPr id="11" name="Freeform 11"/>
          <p:cNvSpPr/>
          <p:nvPr/>
        </p:nvSpPr>
        <p:spPr>
          <a:xfrm>
            <a:off x="1223349" y="4967085"/>
            <a:ext cx="7434231" cy="4646394"/>
          </a:xfrm>
          <a:custGeom>
            <a:avLst/>
            <a:gdLst/>
            <a:ahLst/>
            <a:cxnLst/>
            <a:rect l="l" t="t" r="r" b="b"/>
            <a:pathLst>
              <a:path w="7434231" h="4646394">
                <a:moveTo>
                  <a:pt x="0" y="0"/>
                </a:moveTo>
                <a:lnTo>
                  <a:pt x="7434231" y="0"/>
                </a:lnTo>
                <a:lnTo>
                  <a:pt x="7434231" y="4646394"/>
                </a:lnTo>
                <a:lnTo>
                  <a:pt x="0" y="4646394"/>
                </a:lnTo>
                <a:lnTo>
                  <a:pt x="0" y="0"/>
                </a:lnTo>
                <a:close/>
              </a:path>
            </a:pathLst>
          </a:custGeom>
          <a:blipFill>
            <a:blip r:embed="rId5"/>
            <a:stretch>
              <a:fillRect/>
            </a:stretch>
          </a:blipFill>
        </p:spPr>
        <p:txBody>
          <a:bodyPr/>
          <a:lstStyle/>
          <a:p>
            <a:endParaRPr lang="de-DE"/>
          </a:p>
        </p:txBody>
      </p:sp>
      <p:sp>
        <p:nvSpPr>
          <p:cNvPr id="12" name="TextBox 12"/>
          <p:cNvSpPr txBox="1"/>
          <p:nvPr/>
        </p:nvSpPr>
        <p:spPr>
          <a:xfrm>
            <a:off x="1028700" y="677476"/>
            <a:ext cx="7628880" cy="3372274"/>
          </a:xfrm>
          <a:prstGeom prst="rect">
            <a:avLst/>
          </a:prstGeom>
        </p:spPr>
        <p:txBody>
          <a:bodyPr lIns="0" tIns="0" rIns="0" bIns="0" rtlCol="0" anchor="t">
            <a:spAutoFit/>
          </a:bodyPr>
          <a:lstStyle/>
          <a:p>
            <a:pPr algn="ctr">
              <a:lnSpc>
                <a:spcPts val="3266"/>
              </a:lnSpc>
              <a:spcBef>
                <a:spcPct val="0"/>
              </a:spcBef>
            </a:pPr>
            <a:r>
              <a:rPr lang="en-US" sz="2333" b="1">
                <a:solidFill>
                  <a:srgbClr val="000000"/>
                </a:solidFill>
                <a:latin typeface="Canva Sans Bold"/>
                <a:ea typeface="Canva Sans Bold"/>
                <a:cs typeface="Canva Sans Bold"/>
                <a:sym typeface="Canva Sans Bold"/>
              </a:rPr>
              <a:t>Dataset Overview</a:t>
            </a:r>
          </a:p>
          <a:p>
            <a:pPr algn="ctr">
              <a:lnSpc>
                <a:spcPts val="2986"/>
              </a:lnSpc>
              <a:spcBef>
                <a:spcPct val="0"/>
              </a:spcBef>
            </a:pPr>
            <a:endParaRPr lang="en-US" sz="2333" b="1">
              <a:solidFill>
                <a:srgbClr val="000000"/>
              </a:solidFill>
              <a:latin typeface="Canva Sans Bold"/>
              <a:ea typeface="Canva Sans Bold"/>
              <a:cs typeface="Canva Sans Bold"/>
              <a:sym typeface="Canva Sans Bold"/>
            </a:endParaRPr>
          </a:p>
          <a:p>
            <a:pPr algn="ctr">
              <a:lnSpc>
                <a:spcPts val="2986"/>
              </a:lnSpc>
              <a:spcBef>
                <a:spcPct val="0"/>
              </a:spcBef>
            </a:pPr>
            <a:r>
              <a:rPr lang="en-US" sz="2133" b="1">
                <a:solidFill>
                  <a:srgbClr val="000000"/>
                </a:solidFill>
                <a:latin typeface="Canva Sans Bold"/>
                <a:ea typeface="Canva Sans Bold"/>
                <a:cs typeface="Canva Sans Bold"/>
                <a:sym typeface="Canva Sans Bold"/>
              </a:rPr>
              <a:t>•Source: U.S. Medical Insurance dataset</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•Size: 100000 records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•Features: 7 attributes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•Type: Structured tabular data combining demographics, lifestyle, and medical indicators</a:t>
            </a:r>
          </a:p>
          <a:p>
            <a:pPr algn="ctr">
              <a:lnSpc>
                <a:spcPts val="2986"/>
              </a:lnSpc>
              <a:spcBef>
                <a:spcPct val="0"/>
              </a:spcBef>
            </a:pPr>
            <a:r>
              <a:rPr lang="en-US" sz="2133" b="1">
                <a:solidFill>
                  <a:srgbClr val="000000"/>
                </a:solidFill>
                <a:latin typeface="Canva Sans Bold"/>
                <a:ea typeface="Canva Sans Bold"/>
                <a:cs typeface="Canva Sans Bold"/>
                <a:sym typeface="Canva Sans Bold"/>
              </a:rPr>
              <a:t> Focus: Demographics + Lifestyle + Health data → Predict annual medical cost</a:t>
            </a:r>
          </a:p>
        </p:txBody>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1048" y="2706721"/>
            <a:ext cx="247618" cy="24761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270641" y="705002"/>
            <a:ext cx="4435446" cy="3762362"/>
            <a:chOff x="0" y="0"/>
            <a:chExt cx="588576" cy="499259"/>
          </a:xfrm>
        </p:grpSpPr>
        <p:sp>
          <p:nvSpPr>
            <p:cNvPr id="6" name="Freeform 6"/>
            <p:cNvSpPr/>
            <p:nvPr/>
          </p:nvSpPr>
          <p:spPr>
            <a:xfrm>
              <a:off x="0" y="0"/>
              <a:ext cx="588576" cy="499259"/>
            </a:xfrm>
            <a:custGeom>
              <a:avLst/>
              <a:gdLst/>
              <a:ahLst/>
              <a:cxnLst/>
              <a:rect l="l" t="t" r="r" b="b"/>
              <a:pathLst>
                <a:path w="588576" h="499259">
                  <a:moveTo>
                    <a:pt x="40146" y="0"/>
                  </a:moveTo>
                  <a:lnTo>
                    <a:pt x="548430" y="0"/>
                  </a:lnTo>
                  <a:cubicBezTo>
                    <a:pt x="570602" y="0"/>
                    <a:pt x="588576" y="17974"/>
                    <a:pt x="588576" y="40146"/>
                  </a:cubicBezTo>
                  <a:lnTo>
                    <a:pt x="588576" y="459113"/>
                  </a:lnTo>
                  <a:cubicBezTo>
                    <a:pt x="588576" y="481285"/>
                    <a:pt x="570602" y="499259"/>
                    <a:pt x="548430" y="499259"/>
                  </a:cubicBezTo>
                  <a:lnTo>
                    <a:pt x="40146" y="499259"/>
                  </a:lnTo>
                  <a:cubicBezTo>
                    <a:pt x="17974" y="499259"/>
                    <a:pt x="0" y="481285"/>
                    <a:pt x="0" y="459113"/>
                  </a:cubicBezTo>
                  <a:lnTo>
                    <a:pt x="0" y="40146"/>
                  </a:lnTo>
                  <a:cubicBezTo>
                    <a:pt x="0" y="17974"/>
                    <a:pt x="17974" y="0"/>
                    <a:pt x="40146" y="0"/>
                  </a:cubicBezTo>
                  <a:close/>
                </a:path>
              </a:pathLst>
            </a:custGeom>
            <a:blipFill>
              <a:blip r:embed="rId2"/>
              <a:stretch>
                <a:fillRect l="-8132" r="-8132"/>
              </a:stretch>
            </a:blipFill>
          </p:spPr>
          <p:txBody>
            <a:bodyPr/>
            <a:lstStyle/>
            <a:p>
              <a:endParaRPr lang="de-DE"/>
            </a:p>
          </p:txBody>
        </p:sp>
      </p:grpSp>
      <p:grpSp>
        <p:nvGrpSpPr>
          <p:cNvPr id="7" name="Group 7"/>
          <p:cNvGrpSpPr/>
          <p:nvPr/>
        </p:nvGrpSpPr>
        <p:grpSpPr>
          <a:xfrm>
            <a:off x="8279953" y="7200900"/>
            <a:ext cx="4830863" cy="3086100"/>
            <a:chOff x="0" y="0"/>
            <a:chExt cx="1272326" cy="812800"/>
          </a:xfrm>
        </p:grpSpPr>
        <p:sp>
          <p:nvSpPr>
            <p:cNvPr id="8" name="Freeform 8"/>
            <p:cNvSpPr/>
            <p:nvPr/>
          </p:nvSpPr>
          <p:spPr>
            <a:xfrm>
              <a:off x="0" y="0"/>
              <a:ext cx="1272326" cy="812800"/>
            </a:xfrm>
            <a:custGeom>
              <a:avLst/>
              <a:gdLst/>
              <a:ahLst/>
              <a:cxnLst/>
              <a:rect l="l" t="t" r="r" b="b"/>
              <a:pathLst>
                <a:path w="1272326" h="812800">
                  <a:moveTo>
                    <a:pt x="0" y="0"/>
                  </a:moveTo>
                  <a:lnTo>
                    <a:pt x="1272326" y="0"/>
                  </a:lnTo>
                  <a:lnTo>
                    <a:pt x="1272326" y="812800"/>
                  </a:lnTo>
                  <a:lnTo>
                    <a:pt x="0" y="812800"/>
                  </a:lnTo>
                  <a:close/>
                </a:path>
              </a:pathLst>
            </a:custGeom>
            <a:solidFill>
              <a:srgbClr val="0056A8"/>
            </a:solidFill>
          </p:spPr>
          <p:txBody>
            <a:bodyPr/>
            <a:lstStyle/>
            <a:p>
              <a:endParaRPr lang="de-DE"/>
            </a:p>
          </p:txBody>
        </p:sp>
        <p:sp>
          <p:nvSpPr>
            <p:cNvPr id="9" name="TextBox 9"/>
            <p:cNvSpPr txBox="1"/>
            <p:nvPr/>
          </p:nvSpPr>
          <p:spPr>
            <a:xfrm>
              <a:off x="0" y="-38100"/>
              <a:ext cx="1272326" cy="8509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8578090" y="3347507"/>
            <a:ext cx="4234590" cy="5096011"/>
            <a:chOff x="0" y="0"/>
            <a:chExt cx="588576" cy="708307"/>
          </a:xfrm>
        </p:grpSpPr>
        <p:sp>
          <p:nvSpPr>
            <p:cNvPr id="11" name="Freeform 11"/>
            <p:cNvSpPr/>
            <p:nvPr/>
          </p:nvSpPr>
          <p:spPr>
            <a:xfrm>
              <a:off x="0" y="0"/>
              <a:ext cx="588576" cy="708307"/>
            </a:xfrm>
            <a:custGeom>
              <a:avLst/>
              <a:gdLst/>
              <a:ahLst/>
              <a:cxnLst/>
              <a:rect l="l" t="t" r="r" b="b"/>
              <a:pathLst>
                <a:path w="588576" h="708307">
                  <a:moveTo>
                    <a:pt x="42050" y="0"/>
                  </a:moveTo>
                  <a:lnTo>
                    <a:pt x="546526" y="0"/>
                  </a:lnTo>
                  <a:cubicBezTo>
                    <a:pt x="557678" y="0"/>
                    <a:pt x="568374" y="4430"/>
                    <a:pt x="576259" y="12316"/>
                  </a:cubicBezTo>
                  <a:cubicBezTo>
                    <a:pt x="584145" y="20202"/>
                    <a:pt x="588576" y="30898"/>
                    <a:pt x="588576" y="42050"/>
                  </a:cubicBezTo>
                  <a:lnTo>
                    <a:pt x="588576" y="666257"/>
                  </a:lnTo>
                  <a:cubicBezTo>
                    <a:pt x="588576" y="677409"/>
                    <a:pt x="584145" y="688105"/>
                    <a:pt x="576259" y="695990"/>
                  </a:cubicBezTo>
                  <a:cubicBezTo>
                    <a:pt x="568374" y="703876"/>
                    <a:pt x="557678" y="708307"/>
                    <a:pt x="546526" y="708307"/>
                  </a:cubicBezTo>
                  <a:lnTo>
                    <a:pt x="42050" y="708307"/>
                  </a:lnTo>
                  <a:cubicBezTo>
                    <a:pt x="30898" y="708307"/>
                    <a:pt x="20202" y="703876"/>
                    <a:pt x="12316" y="695990"/>
                  </a:cubicBezTo>
                  <a:cubicBezTo>
                    <a:pt x="4430" y="688105"/>
                    <a:pt x="0" y="677409"/>
                    <a:pt x="0" y="666257"/>
                  </a:cubicBezTo>
                  <a:lnTo>
                    <a:pt x="0" y="42050"/>
                  </a:lnTo>
                  <a:cubicBezTo>
                    <a:pt x="0" y="30898"/>
                    <a:pt x="4430" y="20202"/>
                    <a:pt x="12316" y="12316"/>
                  </a:cubicBezTo>
                  <a:cubicBezTo>
                    <a:pt x="20202" y="4430"/>
                    <a:pt x="30898" y="0"/>
                    <a:pt x="42050" y="0"/>
                  </a:cubicBezTo>
                  <a:close/>
                </a:path>
              </a:pathLst>
            </a:custGeom>
            <a:blipFill>
              <a:blip r:embed="rId3"/>
              <a:stretch>
                <a:fillRect t="-12322" b="-12322"/>
              </a:stretch>
            </a:blipFill>
          </p:spPr>
          <p:txBody>
            <a:bodyPr/>
            <a:lstStyle/>
            <a:p>
              <a:endParaRPr lang="de-DE"/>
            </a:p>
          </p:txBody>
        </p:sp>
      </p:grpSp>
      <p:sp>
        <p:nvSpPr>
          <p:cNvPr id="12" name="TextBox 12"/>
          <p:cNvSpPr txBox="1"/>
          <p:nvPr/>
        </p:nvSpPr>
        <p:spPr>
          <a:xfrm>
            <a:off x="1028700" y="351172"/>
            <a:ext cx="4483354" cy="969519"/>
          </a:xfrm>
          <a:prstGeom prst="rect">
            <a:avLst/>
          </a:prstGeom>
        </p:spPr>
        <p:txBody>
          <a:bodyPr lIns="0" tIns="0" rIns="0" bIns="0" rtlCol="0" anchor="t">
            <a:spAutoFit/>
          </a:bodyPr>
          <a:lstStyle/>
          <a:p>
            <a:pPr algn="l">
              <a:lnSpc>
                <a:spcPts val="2655"/>
              </a:lnSpc>
            </a:pPr>
            <a:r>
              <a:rPr lang="en-US" sz="2655" b="1">
                <a:solidFill>
                  <a:srgbClr val="000000"/>
                </a:solidFill>
                <a:latin typeface="League Spartan"/>
                <a:ea typeface="League Spartan"/>
                <a:cs typeface="League Spartan"/>
                <a:sym typeface="League Spartan"/>
              </a:rPr>
              <a:t>Hypotheses</a:t>
            </a:r>
          </a:p>
          <a:p>
            <a:pPr algn="l">
              <a:lnSpc>
                <a:spcPts val="1684"/>
              </a:lnSpc>
            </a:pPr>
            <a:endParaRPr lang="en-US" sz="2655" b="1">
              <a:solidFill>
                <a:srgbClr val="000000"/>
              </a:solidFill>
              <a:latin typeface="League Spartan"/>
              <a:ea typeface="League Spartan"/>
              <a:cs typeface="League Spartan"/>
              <a:sym typeface="League Spartan"/>
            </a:endParaRPr>
          </a:p>
          <a:p>
            <a:pPr algn="l">
              <a:lnSpc>
                <a:spcPts val="1684"/>
              </a:lnSpc>
            </a:pPr>
            <a:endParaRPr lang="en-US" sz="2655" b="1">
              <a:solidFill>
                <a:srgbClr val="000000"/>
              </a:solidFill>
              <a:latin typeface="League Spartan"/>
              <a:ea typeface="League Spartan"/>
              <a:cs typeface="League Spartan"/>
              <a:sym typeface="League Spartan"/>
            </a:endParaRPr>
          </a:p>
          <a:p>
            <a:pPr algn="l">
              <a:lnSpc>
                <a:spcPts val="1684"/>
              </a:lnSpc>
            </a:pPr>
            <a:endParaRPr lang="en-US" sz="2655" b="1">
              <a:solidFill>
                <a:srgbClr val="000000"/>
              </a:solidFill>
              <a:latin typeface="League Spartan"/>
              <a:ea typeface="League Spartan"/>
              <a:cs typeface="League Spartan"/>
              <a:sym typeface="League Spartan"/>
            </a:endParaRPr>
          </a:p>
        </p:txBody>
      </p:sp>
      <p:sp>
        <p:nvSpPr>
          <p:cNvPr id="13" name="TextBox 13"/>
          <p:cNvSpPr txBox="1"/>
          <p:nvPr/>
        </p:nvSpPr>
        <p:spPr>
          <a:xfrm>
            <a:off x="1417375" y="3154522"/>
            <a:ext cx="6288633" cy="601980"/>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Smoking significantly increases annual  medical cost.</a:t>
            </a:r>
          </a:p>
          <a:p>
            <a:pPr algn="l">
              <a:lnSpc>
                <a:spcPts val="2399"/>
              </a:lnSpc>
            </a:pPr>
            <a:endParaRPr lang="en-US" sz="1799" b="1">
              <a:solidFill>
                <a:srgbClr val="000000"/>
              </a:solidFill>
              <a:latin typeface="Open Sans Bold"/>
              <a:ea typeface="Open Sans Bold"/>
              <a:cs typeface="Open Sans Bold"/>
              <a:sym typeface="Open Sans Bold"/>
            </a:endParaRPr>
          </a:p>
        </p:txBody>
      </p:sp>
      <p:sp>
        <p:nvSpPr>
          <p:cNvPr id="14" name="TextBox 14"/>
          <p:cNvSpPr txBox="1"/>
          <p:nvPr/>
        </p:nvSpPr>
        <p:spPr>
          <a:xfrm>
            <a:off x="1417375" y="2691096"/>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H1</a:t>
            </a:r>
          </a:p>
        </p:txBody>
      </p:sp>
      <p:sp>
        <p:nvSpPr>
          <p:cNvPr id="15" name="TextBox 15"/>
          <p:cNvSpPr txBox="1"/>
          <p:nvPr/>
        </p:nvSpPr>
        <p:spPr>
          <a:xfrm>
            <a:off x="1028700" y="1134307"/>
            <a:ext cx="6126467" cy="991358"/>
          </a:xfrm>
          <a:prstGeom prst="rect">
            <a:avLst/>
          </a:prstGeom>
        </p:spPr>
        <p:txBody>
          <a:bodyPr lIns="0" tIns="0" rIns="0" bIns="0" rtlCol="0" anchor="t">
            <a:spAutoFit/>
          </a:bodyPr>
          <a:lstStyle/>
          <a:p>
            <a:pPr algn="l">
              <a:lnSpc>
                <a:spcPts val="2653"/>
              </a:lnSpc>
            </a:pPr>
            <a:r>
              <a:rPr lang="en-US" sz="1769" b="1">
                <a:solidFill>
                  <a:srgbClr val="000000"/>
                </a:solidFill>
                <a:latin typeface="Open Sans Bold"/>
                <a:ea typeface="Open Sans Bold"/>
                <a:cs typeface="Open Sans Bold"/>
                <a:sym typeface="Open Sans Bold"/>
              </a:rPr>
              <a:t>To identify the main factors influencing annual medical costs, the following hypotheses were formulated:</a:t>
            </a:r>
          </a:p>
        </p:txBody>
      </p:sp>
      <p:grpSp>
        <p:nvGrpSpPr>
          <p:cNvPr id="16" name="Group 16"/>
          <p:cNvGrpSpPr/>
          <p:nvPr/>
        </p:nvGrpSpPr>
        <p:grpSpPr>
          <a:xfrm>
            <a:off x="904891" y="7853766"/>
            <a:ext cx="247618" cy="2476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869831" y="6391243"/>
            <a:ext cx="247618" cy="247618"/>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891048" y="5143500"/>
            <a:ext cx="247618" cy="24761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869831" y="3956527"/>
            <a:ext cx="290052" cy="29005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27" name="TextBox 2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1417375" y="4013677"/>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H2</a:t>
            </a:r>
          </a:p>
        </p:txBody>
      </p:sp>
      <p:sp>
        <p:nvSpPr>
          <p:cNvPr id="29" name="TextBox 29"/>
          <p:cNvSpPr txBox="1"/>
          <p:nvPr/>
        </p:nvSpPr>
        <p:spPr>
          <a:xfrm>
            <a:off x="1417375" y="5210710"/>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H3</a:t>
            </a:r>
          </a:p>
        </p:txBody>
      </p:sp>
      <p:sp>
        <p:nvSpPr>
          <p:cNvPr id="30" name="TextBox 30"/>
          <p:cNvSpPr txBox="1"/>
          <p:nvPr/>
        </p:nvSpPr>
        <p:spPr>
          <a:xfrm>
            <a:off x="1417375" y="6448393"/>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H4</a:t>
            </a:r>
          </a:p>
        </p:txBody>
      </p:sp>
      <p:sp>
        <p:nvSpPr>
          <p:cNvPr id="31" name="TextBox 31"/>
          <p:cNvSpPr txBox="1"/>
          <p:nvPr/>
        </p:nvSpPr>
        <p:spPr>
          <a:xfrm>
            <a:off x="1417375" y="7910916"/>
            <a:ext cx="2170348" cy="336018"/>
          </a:xfrm>
          <a:prstGeom prst="rect">
            <a:avLst/>
          </a:prstGeom>
        </p:spPr>
        <p:txBody>
          <a:bodyPr lIns="0" tIns="0" rIns="0" bIns="0" rtlCol="0" anchor="t">
            <a:spAutoFit/>
          </a:bodyPr>
          <a:lstStyle/>
          <a:p>
            <a:pPr algn="l">
              <a:lnSpc>
                <a:spcPts val="2588"/>
              </a:lnSpc>
            </a:pPr>
            <a:r>
              <a:rPr lang="en-US" sz="2588">
                <a:solidFill>
                  <a:srgbClr val="0056A8"/>
                </a:solidFill>
                <a:latin typeface="League Spartan"/>
                <a:ea typeface="League Spartan"/>
                <a:cs typeface="League Spartan"/>
                <a:sym typeface="League Spartan"/>
              </a:rPr>
              <a:t>H5</a:t>
            </a:r>
          </a:p>
        </p:txBody>
      </p:sp>
      <p:sp>
        <p:nvSpPr>
          <p:cNvPr id="32" name="TextBox 32"/>
          <p:cNvSpPr txBox="1"/>
          <p:nvPr/>
        </p:nvSpPr>
        <p:spPr>
          <a:xfrm>
            <a:off x="1417375" y="4429264"/>
            <a:ext cx="6288633" cy="302896"/>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Higher BMI leads to higher annual medical cost.</a:t>
            </a:r>
          </a:p>
        </p:txBody>
      </p:sp>
      <p:sp>
        <p:nvSpPr>
          <p:cNvPr id="33" name="TextBox 33"/>
          <p:cNvSpPr txBox="1"/>
          <p:nvPr/>
        </p:nvSpPr>
        <p:spPr>
          <a:xfrm>
            <a:off x="1417375" y="5589238"/>
            <a:ext cx="6288633" cy="601980"/>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Age is positively correlated with annual medical cost.</a:t>
            </a:r>
          </a:p>
          <a:p>
            <a:pPr algn="l">
              <a:lnSpc>
                <a:spcPts val="2399"/>
              </a:lnSpc>
            </a:pPr>
            <a:endParaRPr lang="en-US" sz="1799" b="1">
              <a:solidFill>
                <a:srgbClr val="000000"/>
              </a:solidFill>
              <a:latin typeface="Open Sans Bold"/>
              <a:ea typeface="Open Sans Bold"/>
              <a:cs typeface="Open Sans Bold"/>
              <a:sym typeface="Open Sans Bold"/>
            </a:endParaRPr>
          </a:p>
        </p:txBody>
      </p:sp>
      <p:sp>
        <p:nvSpPr>
          <p:cNvPr id="34" name="TextBox 34"/>
          <p:cNvSpPr txBox="1"/>
          <p:nvPr/>
        </p:nvSpPr>
        <p:spPr>
          <a:xfrm>
            <a:off x="1417375" y="6832036"/>
            <a:ext cx="6469241" cy="970649"/>
          </a:xfrm>
          <a:prstGeom prst="rect">
            <a:avLst/>
          </a:prstGeom>
        </p:spPr>
        <p:txBody>
          <a:bodyPr lIns="0" tIns="0" rIns="0" bIns="0" rtlCol="0" anchor="t">
            <a:spAutoFit/>
          </a:bodyPr>
          <a:lstStyle/>
          <a:p>
            <a:pPr algn="l">
              <a:lnSpc>
                <a:spcPts val="2777"/>
              </a:lnSpc>
            </a:pPr>
            <a:r>
              <a:rPr lang="en-US" sz="1851" b="1">
                <a:solidFill>
                  <a:srgbClr val="000000"/>
                </a:solidFill>
                <a:latin typeface="Open Sans Bold"/>
                <a:ea typeface="Open Sans Bold"/>
                <a:cs typeface="Open Sans Bold"/>
                <a:sym typeface="Open Sans Bold"/>
              </a:rPr>
              <a:t>Individuals with chronic diseases have higher annual medical costs.</a:t>
            </a:r>
          </a:p>
          <a:p>
            <a:pPr algn="l">
              <a:lnSpc>
                <a:spcPts val="2468"/>
              </a:lnSpc>
            </a:pPr>
            <a:endParaRPr lang="en-US" sz="1851" b="1">
              <a:solidFill>
                <a:srgbClr val="000000"/>
              </a:solidFill>
              <a:latin typeface="Open Sans Bold"/>
              <a:ea typeface="Open Sans Bold"/>
              <a:cs typeface="Open Sans Bold"/>
              <a:sym typeface="Open Sans Bold"/>
            </a:endParaRPr>
          </a:p>
        </p:txBody>
      </p:sp>
      <p:sp>
        <p:nvSpPr>
          <p:cNvPr id="35" name="TextBox 35"/>
          <p:cNvSpPr txBox="1"/>
          <p:nvPr/>
        </p:nvSpPr>
        <p:spPr>
          <a:xfrm>
            <a:off x="1417375" y="8370759"/>
            <a:ext cx="6288633" cy="636271"/>
          </a:xfrm>
          <a:prstGeom prst="rect">
            <a:avLst/>
          </a:prstGeom>
        </p:spPr>
        <p:txBody>
          <a:bodyPr lIns="0" tIns="0" rIns="0" bIns="0" rtlCol="0" anchor="t">
            <a:spAutoFit/>
          </a:bodyPr>
          <a:lstStyle/>
          <a:p>
            <a:pPr algn="l">
              <a:lnSpc>
                <a:spcPts val="2699"/>
              </a:lnSpc>
            </a:pPr>
            <a:r>
              <a:rPr lang="en-US" sz="1799" b="1">
                <a:solidFill>
                  <a:srgbClr val="000000"/>
                </a:solidFill>
                <a:latin typeface="Open Sans Bold"/>
                <a:ea typeface="Open Sans Bold"/>
                <a:cs typeface="Open Sans Bold"/>
                <a:sym typeface="Open Sans Bold"/>
              </a:rPr>
              <a:t>Individuals with more hospitalizations over the past three years have higher annual medical costs.</a:t>
            </a:r>
          </a:p>
        </p:txBody>
      </p:sp>
      <p:sp>
        <p:nvSpPr>
          <p:cNvPr id="36" name="TextBox 3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74247" y="236346"/>
            <a:ext cx="4391275" cy="4649172"/>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27991" r="-27991"/>
              </a:stretch>
            </a:blipFill>
          </p:spPr>
          <p:txBody>
            <a:bodyPr/>
            <a:lstStyle/>
            <a:p>
              <a:endParaRPr lang="de-DE"/>
            </a:p>
          </p:txBody>
        </p:sp>
      </p:grpSp>
      <p:sp>
        <p:nvSpPr>
          <p:cNvPr id="4" name="Freeform 4"/>
          <p:cNvSpPr/>
          <p:nvPr/>
        </p:nvSpPr>
        <p:spPr>
          <a:xfrm>
            <a:off x="1141567" y="2365300"/>
            <a:ext cx="9175076" cy="7661360"/>
          </a:xfrm>
          <a:custGeom>
            <a:avLst/>
            <a:gdLst/>
            <a:ahLst/>
            <a:cxnLst/>
            <a:rect l="l" t="t" r="r" b="b"/>
            <a:pathLst>
              <a:path w="9175076" h="7661360">
                <a:moveTo>
                  <a:pt x="0" y="0"/>
                </a:moveTo>
                <a:lnTo>
                  <a:pt x="9175076" y="0"/>
                </a:lnTo>
                <a:lnTo>
                  <a:pt x="9175076" y="7661360"/>
                </a:lnTo>
                <a:lnTo>
                  <a:pt x="0" y="7661360"/>
                </a:lnTo>
                <a:lnTo>
                  <a:pt x="0" y="0"/>
                </a:lnTo>
                <a:close/>
              </a:path>
            </a:pathLst>
          </a:custGeom>
          <a:blipFill>
            <a:blip r:embed="rId3"/>
            <a:stretch>
              <a:fillRect t="-1324" b="-1324"/>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1</a:t>
            </a:r>
          </a:p>
        </p:txBody>
      </p:sp>
      <p:sp>
        <p:nvSpPr>
          <p:cNvPr id="6" name="TextBox 6"/>
          <p:cNvSpPr txBox="1"/>
          <p:nvPr/>
        </p:nvSpPr>
        <p:spPr>
          <a:xfrm>
            <a:off x="1028700" y="1268031"/>
            <a:ext cx="12386317" cy="725794"/>
          </a:xfrm>
          <a:prstGeom prst="rect">
            <a:avLst/>
          </a:prstGeom>
        </p:spPr>
        <p:txBody>
          <a:bodyPr lIns="0" tIns="0" rIns="0" bIns="0" rtlCol="0" anchor="t">
            <a:spAutoFit/>
          </a:bodyPr>
          <a:lstStyle/>
          <a:p>
            <a:pPr algn="l">
              <a:lnSpc>
                <a:spcPts val="1949"/>
              </a:lnSpc>
            </a:pPr>
            <a:r>
              <a:rPr lang="en-US" sz="1949">
                <a:solidFill>
                  <a:srgbClr val="000000"/>
                </a:solidFill>
                <a:latin typeface="League Spartan"/>
                <a:ea typeface="League Spartan"/>
                <a:cs typeface="League Spartan"/>
                <a:sym typeface="League Spartan"/>
              </a:rPr>
              <a:t>Individ</a:t>
            </a:r>
            <a:r>
              <a:rPr lang="en-US" sz="1949" b="1">
                <a:solidFill>
                  <a:srgbClr val="000000"/>
                </a:solidFill>
                <a:latin typeface="League Spartan"/>
                <a:ea typeface="League Spartan"/>
                <a:cs typeface="League Spartan"/>
                <a:sym typeface="League Spartan"/>
              </a:rPr>
              <a:t>uals who smoke will have higher annual medical costs than non-smokers, due to elevated health risks and higher incidence of chronic diseases.</a:t>
            </a:r>
          </a:p>
          <a:p>
            <a:pPr algn="l">
              <a:lnSpc>
                <a:spcPts val="1949"/>
              </a:lnSpc>
            </a:pPr>
            <a:endParaRPr lang="en-US" sz="1949" b="1">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3" name="TextBox 3"/>
          <p:cNvSpPr txBox="1"/>
          <p:nvPr/>
        </p:nvSpPr>
        <p:spPr>
          <a:xfrm>
            <a:off x="2432255" y="2078747"/>
            <a:ext cx="13230004" cy="5434180"/>
          </a:xfrm>
          <a:prstGeom prst="rect">
            <a:avLst/>
          </a:prstGeom>
        </p:spPr>
        <p:txBody>
          <a:bodyPr lIns="0" tIns="0" rIns="0" bIns="0" rtlCol="0" anchor="t">
            <a:spAutoFit/>
          </a:bodyPr>
          <a:lstStyle/>
          <a:p>
            <a:pPr algn="l">
              <a:lnSpc>
                <a:spcPts val="3928"/>
              </a:lnSpc>
            </a:pPr>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Average medical costs for current smokers are significantly higher than for non-smokers.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Box plot clearly shows higher median and upper quartile values among smokers, indicating more high-cost outliers.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Former smokers also show moderately higher costs, likely due to residual health effects.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support H₁, confirming smoking is a key cost driver for insurers.</a:t>
            </a: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91325" y="171157"/>
            <a:ext cx="4674168" cy="4158259"/>
            <a:chOff x="0" y="0"/>
            <a:chExt cx="1174910" cy="1045230"/>
          </a:xfrm>
        </p:grpSpPr>
        <p:sp>
          <p:nvSpPr>
            <p:cNvPr id="3" name="Freeform 3"/>
            <p:cNvSpPr/>
            <p:nvPr/>
          </p:nvSpPr>
          <p:spPr>
            <a:xfrm>
              <a:off x="0" y="0"/>
              <a:ext cx="1174910" cy="1045230"/>
            </a:xfrm>
            <a:custGeom>
              <a:avLst/>
              <a:gdLst/>
              <a:ahLst/>
              <a:cxnLst/>
              <a:rect l="l" t="t" r="r" b="b"/>
              <a:pathLst>
                <a:path w="1174910" h="1045230">
                  <a:moveTo>
                    <a:pt x="587455" y="0"/>
                  </a:moveTo>
                  <a:cubicBezTo>
                    <a:pt x="263013" y="0"/>
                    <a:pt x="0" y="233983"/>
                    <a:pt x="0" y="522615"/>
                  </a:cubicBezTo>
                  <a:cubicBezTo>
                    <a:pt x="0" y="811247"/>
                    <a:pt x="263013" y="1045230"/>
                    <a:pt x="587455" y="1045230"/>
                  </a:cubicBezTo>
                  <a:cubicBezTo>
                    <a:pt x="911897" y="1045230"/>
                    <a:pt x="1174910" y="811247"/>
                    <a:pt x="1174910" y="522615"/>
                  </a:cubicBezTo>
                  <a:cubicBezTo>
                    <a:pt x="1174910" y="233983"/>
                    <a:pt x="911897" y="0"/>
                    <a:pt x="587455" y="0"/>
                  </a:cubicBezTo>
                  <a:close/>
                </a:path>
              </a:pathLst>
            </a:custGeom>
            <a:blipFill>
              <a:blip r:embed="rId2"/>
              <a:stretch>
                <a:fillRect l="-28990" r="-28990"/>
              </a:stretch>
            </a:blipFill>
          </p:spPr>
          <p:txBody>
            <a:bodyPr/>
            <a:lstStyle/>
            <a:p>
              <a:endParaRPr lang="de-DE"/>
            </a:p>
          </p:txBody>
        </p:sp>
      </p:grpSp>
      <p:sp>
        <p:nvSpPr>
          <p:cNvPr id="4" name="Freeform 4"/>
          <p:cNvSpPr/>
          <p:nvPr/>
        </p:nvSpPr>
        <p:spPr>
          <a:xfrm>
            <a:off x="1028700" y="2435494"/>
            <a:ext cx="11556432" cy="7569463"/>
          </a:xfrm>
          <a:custGeom>
            <a:avLst/>
            <a:gdLst/>
            <a:ahLst/>
            <a:cxnLst/>
            <a:rect l="l" t="t" r="r" b="b"/>
            <a:pathLst>
              <a:path w="11556432" h="7569463">
                <a:moveTo>
                  <a:pt x="0" y="0"/>
                </a:moveTo>
                <a:lnTo>
                  <a:pt x="11556432" y="0"/>
                </a:lnTo>
                <a:lnTo>
                  <a:pt x="11556432" y="7569463"/>
                </a:lnTo>
                <a:lnTo>
                  <a:pt x="0" y="7569463"/>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2</a:t>
            </a:r>
          </a:p>
        </p:txBody>
      </p:sp>
      <p:sp>
        <p:nvSpPr>
          <p:cNvPr id="6" name="TextBox 6"/>
          <p:cNvSpPr txBox="1"/>
          <p:nvPr/>
        </p:nvSpPr>
        <p:spPr>
          <a:xfrm>
            <a:off x="1028700" y="1417988"/>
            <a:ext cx="11370513" cy="847713"/>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a:t>
            </a:r>
            <a:r>
              <a:rPr lang="en-US" sz="2249" b="1">
                <a:solidFill>
                  <a:srgbClr val="000000"/>
                </a:solidFill>
                <a:latin typeface="League Spartan"/>
                <a:ea typeface="League Spartan"/>
                <a:cs typeface="League Spartan"/>
                <a:sym typeface="League Spartan"/>
              </a:rPr>
              <a:t>uals with higher BMI (Body Mass Index) will have higher annual medical costs due to increased health risks and chronic conditions.</a:t>
            </a:r>
          </a:p>
          <a:p>
            <a:pPr algn="l">
              <a:lnSpc>
                <a:spcPts val="2249"/>
              </a:lnSpc>
            </a:pPr>
            <a:endParaRPr lang="en-US" sz="2249" b="1">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822769"/>
            <a:ext cx="11494459" cy="7586343"/>
          </a:xfrm>
          <a:custGeom>
            <a:avLst/>
            <a:gdLst/>
            <a:ahLst/>
            <a:cxnLst/>
            <a:rect l="l" t="t" r="r" b="b"/>
            <a:pathLst>
              <a:path w="11494459" h="7586343">
                <a:moveTo>
                  <a:pt x="0" y="0"/>
                </a:moveTo>
                <a:lnTo>
                  <a:pt x="11494459" y="0"/>
                </a:lnTo>
                <a:lnTo>
                  <a:pt x="11494459" y="7586343"/>
                </a:lnTo>
                <a:lnTo>
                  <a:pt x="0" y="7586343"/>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4" name="TextBox 4"/>
          <p:cNvSpPr txBox="1"/>
          <p:nvPr/>
        </p:nvSpPr>
        <p:spPr>
          <a:xfrm>
            <a:off x="12793178" y="3217232"/>
            <a:ext cx="5188468" cy="5005060"/>
          </a:xfrm>
          <a:prstGeom prst="rect">
            <a:avLst/>
          </a:prstGeom>
        </p:spPr>
        <p:txBody>
          <a:bodyPr lIns="0" tIns="0" rIns="0" bIns="0" rtlCol="0" anchor="t">
            <a:spAutoFit/>
          </a:bodyPr>
          <a:lstStyle/>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The scatter plot indicates a moderate positive relationship between BMI and annual medical cost — costs generally rise with BMI but not in a strictly linear pattern.</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Box plot by BMI band shows that individuals in the “Obese I” and “Obese II+” groups have noticeably higher median costs.</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Cost variation widens among higher BMI groups, indicating greater unpredictability in medical expenses.</a:t>
            </a:r>
          </a:p>
          <a:p>
            <a:pPr algn="l">
              <a:lnSpc>
                <a:spcPts val="2380"/>
              </a:lnSpc>
            </a:pPr>
            <a:endParaRPr lang="en-US" sz="1700" b="1">
              <a:solidFill>
                <a:srgbClr val="000000"/>
              </a:solidFill>
              <a:latin typeface="Canva Sans Bold"/>
              <a:ea typeface="Canva Sans Bold"/>
              <a:cs typeface="Canva Sans Bold"/>
              <a:sym typeface="Canva Sans Bold"/>
            </a:endParaRPr>
          </a:p>
          <a:p>
            <a:pPr marL="367115" lvl="1" indent="-183557" algn="l">
              <a:lnSpc>
                <a:spcPts val="2380"/>
              </a:lnSpc>
              <a:buFont typeface="Arial"/>
              <a:buChar char="•"/>
            </a:pPr>
            <a:r>
              <a:rPr lang="en-US" sz="1700" b="1">
                <a:solidFill>
                  <a:srgbClr val="000000"/>
                </a:solidFill>
                <a:latin typeface="Canva Sans Bold"/>
                <a:ea typeface="Canva Sans Bold"/>
                <a:cs typeface="Canva Sans Bold"/>
                <a:sym typeface="Canva Sans Bold"/>
              </a:rPr>
              <a:t>Findings partially support H₂, confirming BMI’s influence on medical costs, though the relationship is not perfectly linear.</a:t>
            </a:r>
          </a:p>
          <a:p>
            <a:pPr algn="l">
              <a:lnSpc>
                <a:spcPts val="2380"/>
              </a:lnSpc>
            </a:pPr>
            <a:endParaRPr lang="en-US" sz="1700" b="1">
              <a:solidFill>
                <a:srgbClr val="000000"/>
              </a:solidFill>
              <a:latin typeface="Canva Sans Bold"/>
              <a:ea typeface="Canva Sans Bold"/>
              <a:cs typeface="Canva Sans Bold"/>
              <a:sym typeface="Canva Sans Bold"/>
            </a:endParaRPr>
          </a:p>
        </p:txBody>
      </p:sp>
      <p:sp>
        <p:nvSpPr>
          <p:cNvPr id="5" name="TextBox 5"/>
          <p:cNvSpPr txBox="1"/>
          <p:nvPr/>
        </p:nvSpPr>
        <p:spPr>
          <a:xfrm>
            <a:off x="1471068" y="797572"/>
            <a:ext cx="5036599" cy="497805"/>
          </a:xfrm>
          <a:prstGeom prst="rect">
            <a:avLst/>
          </a:prstGeom>
        </p:spPr>
        <p:txBody>
          <a:bodyPr lIns="0" tIns="0" rIns="0" bIns="0" rtlCol="0" anchor="t">
            <a:spAutoFit/>
          </a:bodyPr>
          <a:lstStyle/>
          <a:p>
            <a:pPr algn="ctr">
              <a:lnSpc>
                <a:spcPts val="4061"/>
              </a:lnSpc>
              <a:spcBef>
                <a:spcPct val="0"/>
              </a:spcBef>
            </a:pPr>
            <a:r>
              <a:rPr lang="en-US" sz="29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53575" y="171189"/>
            <a:ext cx="4938716" cy="3597761"/>
            <a:chOff x="0" y="0"/>
            <a:chExt cx="812800" cy="592109"/>
          </a:xfrm>
        </p:grpSpPr>
        <p:sp>
          <p:nvSpPr>
            <p:cNvPr id="3" name="Freeform 3"/>
            <p:cNvSpPr/>
            <p:nvPr/>
          </p:nvSpPr>
          <p:spPr>
            <a:xfrm>
              <a:off x="0" y="0"/>
              <a:ext cx="812800" cy="592109"/>
            </a:xfrm>
            <a:custGeom>
              <a:avLst/>
              <a:gdLst/>
              <a:ahLst/>
              <a:cxnLst/>
              <a:rect l="l" t="t" r="r" b="b"/>
              <a:pathLst>
                <a:path w="812800" h="592109">
                  <a:moveTo>
                    <a:pt x="406400" y="0"/>
                  </a:moveTo>
                  <a:cubicBezTo>
                    <a:pt x="181951" y="0"/>
                    <a:pt x="0" y="132548"/>
                    <a:pt x="0" y="296055"/>
                  </a:cubicBezTo>
                  <a:cubicBezTo>
                    <a:pt x="0" y="459561"/>
                    <a:pt x="181951" y="592109"/>
                    <a:pt x="406400" y="592109"/>
                  </a:cubicBezTo>
                  <a:cubicBezTo>
                    <a:pt x="630849" y="592109"/>
                    <a:pt x="812800" y="459561"/>
                    <a:pt x="812800" y="296055"/>
                  </a:cubicBezTo>
                  <a:cubicBezTo>
                    <a:pt x="812800" y="132548"/>
                    <a:pt x="630849" y="0"/>
                    <a:pt x="406400" y="0"/>
                  </a:cubicBezTo>
                  <a:close/>
                </a:path>
              </a:pathLst>
            </a:custGeom>
            <a:blipFill>
              <a:blip r:embed="rId2"/>
              <a:stretch>
                <a:fillRect l="-41702" r="-11218"/>
              </a:stretch>
            </a:blipFill>
          </p:spPr>
          <p:txBody>
            <a:bodyPr/>
            <a:lstStyle/>
            <a:p>
              <a:endParaRPr lang="de-DE"/>
            </a:p>
          </p:txBody>
        </p:sp>
      </p:grpSp>
      <p:sp>
        <p:nvSpPr>
          <p:cNvPr id="4" name="Freeform 4"/>
          <p:cNvSpPr/>
          <p:nvPr/>
        </p:nvSpPr>
        <p:spPr>
          <a:xfrm>
            <a:off x="581491" y="3453605"/>
            <a:ext cx="13132915" cy="6407118"/>
          </a:xfrm>
          <a:custGeom>
            <a:avLst/>
            <a:gdLst/>
            <a:ahLst/>
            <a:cxnLst/>
            <a:rect l="l" t="t" r="r" b="b"/>
            <a:pathLst>
              <a:path w="13132915" h="6407118">
                <a:moveTo>
                  <a:pt x="0" y="0"/>
                </a:moveTo>
                <a:lnTo>
                  <a:pt x="13132915" y="0"/>
                </a:lnTo>
                <a:lnTo>
                  <a:pt x="13132915" y="6407118"/>
                </a:lnTo>
                <a:lnTo>
                  <a:pt x="0" y="6407118"/>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3</a:t>
            </a:r>
          </a:p>
        </p:txBody>
      </p:sp>
      <p:sp>
        <p:nvSpPr>
          <p:cNvPr id="6" name="TextBox 6"/>
          <p:cNvSpPr txBox="1"/>
          <p:nvPr/>
        </p:nvSpPr>
        <p:spPr>
          <a:xfrm>
            <a:off x="1238310" y="2154844"/>
            <a:ext cx="9999984" cy="571488"/>
          </a:xfrm>
          <a:prstGeom prst="rect">
            <a:avLst/>
          </a:prstGeom>
        </p:spPr>
        <p:txBody>
          <a:bodyPr lIns="0" tIns="0" rIns="0" bIns="0" rtlCol="0" anchor="t">
            <a:spAutoFit/>
          </a:bodyPr>
          <a:lstStyle/>
          <a:p>
            <a:pPr algn="l">
              <a:lnSpc>
                <a:spcPts val="2249"/>
              </a:lnSpc>
            </a:pPr>
            <a:r>
              <a:rPr lang="en-US" sz="2249" b="1">
                <a:solidFill>
                  <a:srgbClr val="000000"/>
                </a:solidFill>
                <a:latin typeface="League Spartan"/>
                <a:ea typeface="League Spartan"/>
                <a:cs typeface="League Spartan"/>
                <a:sym typeface="League Spartan"/>
              </a:rPr>
              <a:t>Age </a:t>
            </a:r>
            <a:r>
              <a:rPr lang="en-US" sz="2249">
                <a:solidFill>
                  <a:srgbClr val="000000"/>
                </a:solidFill>
                <a:latin typeface="League Spartan"/>
                <a:ea typeface="League Spartan"/>
                <a:cs typeface="League Spartan"/>
                <a:sym typeface="League Spartan"/>
              </a:rPr>
              <a:t>is positively correlated with annual_medical_cost.</a:t>
            </a:r>
          </a:p>
          <a:p>
            <a:pPr algn="l">
              <a:lnSpc>
                <a:spcPts val="2249"/>
              </a:lnSpc>
            </a:pPr>
            <a:endParaRPr lang="en-US" sz="2249">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3" name="TextBox 3"/>
          <p:cNvSpPr txBox="1"/>
          <p:nvPr/>
        </p:nvSpPr>
        <p:spPr>
          <a:xfrm>
            <a:off x="2432255" y="2078747"/>
            <a:ext cx="13230004" cy="6920080"/>
          </a:xfrm>
          <a:prstGeom prst="rect">
            <a:avLst/>
          </a:prstGeom>
        </p:spPr>
        <p:txBody>
          <a:bodyPr lIns="0" tIns="0" rIns="0" bIns="0" rtlCol="0" anchor="t">
            <a:spAutoFit/>
          </a:bodyPr>
          <a:lstStyle/>
          <a:p>
            <a:pPr algn="l">
              <a:lnSpc>
                <a:spcPts val="3928"/>
              </a:lnSpc>
            </a:pPr>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bar chart shows a </a:t>
            </a:r>
            <a:r>
              <a:rPr lang="en-US" sz="2805" b="1">
                <a:solidFill>
                  <a:srgbClr val="000000"/>
                </a:solidFill>
                <a:latin typeface="Canva Sans Bold"/>
                <a:ea typeface="Canva Sans Bold"/>
                <a:cs typeface="Canva Sans Bold"/>
                <a:sym typeface="Canva Sans Bold"/>
              </a:rPr>
              <a:t>clear upward trend</a:t>
            </a:r>
            <a:r>
              <a:rPr lang="en-US" sz="2805">
                <a:solidFill>
                  <a:srgbClr val="000000"/>
                </a:solidFill>
                <a:latin typeface="Canva Sans"/>
                <a:ea typeface="Canva Sans"/>
                <a:cs typeface="Canva Sans"/>
                <a:sym typeface="Canva Sans"/>
              </a:rPr>
              <a:t> in annual medical costs with increasing age.</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a:t>
            </a:r>
            <a:r>
              <a:rPr lang="en-US" sz="2805" b="1">
                <a:solidFill>
                  <a:srgbClr val="000000"/>
                </a:solidFill>
                <a:latin typeface="Canva Sans Bold"/>
                <a:ea typeface="Canva Sans Bold"/>
                <a:cs typeface="Canva Sans Bold"/>
                <a:sym typeface="Canva Sans Bold"/>
              </a:rPr>
              <a:t>65+ age group</a:t>
            </a:r>
            <a:r>
              <a:rPr lang="en-US" sz="2805">
                <a:solidFill>
                  <a:srgbClr val="000000"/>
                </a:solidFill>
                <a:latin typeface="Canva Sans"/>
                <a:ea typeface="Canva Sans"/>
                <a:cs typeface="Canva Sans"/>
                <a:sym typeface="Canva Sans"/>
              </a:rPr>
              <a:t> has the </a:t>
            </a:r>
            <a:r>
              <a:rPr lang="en-US" sz="2805" b="1">
                <a:solidFill>
                  <a:srgbClr val="000000"/>
                </a:solidFill>
                <a:latin typeface="Canva Sans Bold"/>
                <a:ea typeface="Canva Sans Bold"/>
                <a:cs typeface="Canva Sans Bold"/>
                <a:sym typeface="Canva Sans Bold"/>
              </a:rPr>
              <a:t>highest average medical expenses</a:t>
            </a:r>
            <a:r>
              <a:rPr lang="en-US" sz="2805">
                <a:solidFill>
                  <a:srgbClr val="000000"/>
                </a:solidFill>
                <a:latin typeface="Canva Sans"/>
                <a:ea typeface="Canva Sans"/>
                <a:cs typeface="Canva Sans"/>
                <a:sym typeface="Canva Sans"/>
              </a:rPr>
              <a:t>, followed by the 55–64 range.</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pattern suggests that </a:t>
            </a:r>
            <a:r>
              <a:rPr lang="en-US" sz="2805" b="1">
                <a:solidFill>
                  <a:srgbClr val="000000"/>
                </a:solidFill>
                <a:latin typeface="Canva Sans Bold"/>
                <a:ea typeface="Canva Sans Bold"/>
                <a:cs typeface="Canva Sans Bold"/>
                <a:sym typeface="Canva Sans Bold"/>
              </a:rPr>
              <a:t>age is positively correlated</a:t>
            </a:r>
            <a:r>
              <a:rPr lang="en-US" sz="2805">
                <a:solidFill>
                  <a:srgbClr val="000000"/>
                </a:solidFill>
                <a:latin typeface="Canva Sans"/>
                <a:ea typeface="Canva Sans"/>
                <a:cs typeface="Canva Sans"/>
                <a:sym typeface="Canva Sans"/>
              </a:rPr>
              <a:t> with annual medical costs.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H₃</a:t>
            </a:r>
            <a:r>
              <a:rPr lang="en-US" sz="2805">
                <a:solidFill>
                  <a:srgbClr val="000000"/>
                </a:solidFill>
                <a:latin typeface="Canva Sans"/>
                <a:ea typeface="Canva Sans"/>
                <a:cs typeface="Canva Sans"/>
                <a:sym typeface="Canva Sans"/>
              </a:rPr>
              <a:t>, confirming that medical costs rise progressively with age due to age-related conditions and healthcare utilization.</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81382" y="340860"/>
            <a:ext cx="4218368" cy="4466109"/>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56138" r="-56138"/>
              </a:stretch>
            </a:blipFill>
          </p:spPr>
          <p:txBody>
            <a:bodyPr/>
            <a:lstStyle/>
            <a:p>
              <a:endParaRPr lang="de-DE"/>
            </a:p>
          </p:txBody>
        </p:sp>
      </p:grpSp>
      <p:sp>
        <p:nvSpPr>
          <p:cNvPr id="4" name="Freeform 4"/>
          <p:cNvSpPr/>
          <p:nvPr/>
        </p:nvSpPr>
        <p:spPr>
          <a:xfrm>
            <a:off x="1028700" y="3065570"/>
            <a:ext cx="8351752" cy="7060191"/>
          </a:xfrm>
          <a:custGeom>
            <a:avLst/>
            <a:gdLst/>
            <a:ahLst/>
            <a:cxnLst/>
            <a:rect l="l" t="t" r="r" b="b"/>
            <a:pathLst>
              <a:path w="8351752" h="7060191">
                <a:moveTo>
                  <a:pt x="0" y="0"/>
                </a:moveTo>
                <a:lnTo>
                  <a:pt x="8351752" y="0"/>
                </a:lnTo>
                <a:lnTo>
                  <a:pt x="8351752" y="7060191"/>
                </a:lnTo>
                <a:lnTo>
                  <a:pt x="0" y="7060191"/>
                </a:lnTo>
                <a:lnTo>
                  <a:pt x="0" y="0"/>
                </a:lnTo>
                <a:close/>
              </a:path>
            </a:pathLst>
          </a:custGeom>
          <a:blipFill>
            <a:blip r:embed="rId3"/>
            <a:stretch>
              <a:fillRect t="-784" b="-784"/>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4</a:t>
            </a:r>
          </a:p>
        </p:txBody>
      </p:sp>
      <p:sp>
        <p:nvSpPr>
          <p:cNvPr id="6" name="TextBox 6"/>
          <p:cNvSpPr txBox="1"/>
          <p:nvPr/>
        </p:nvSpPr>
        <p:spPr>
          <a:xfrm>
            <a:off x="1028700" y="1776251"/>
            <a:ext cx="9999984" cy="571488"/>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Individuals with </a:t>
            </a:r>
            <a:r>
              <a:rPr lang="en-US" sz="2249" b="1">
                <a:solidFill>
                  <a:srgbClr val="000000"/>
                </a:solidFill>
                <a:latin typeface="League Spartan"/>
                <a:ea typeface="League Spartan"/>
                <a:cs typeface="League Spartan"/>
                <a:sym typeface="League Spartan"/>
              </a:rPr>
              <a:t>chronic diseases </a:t>
            </a:r>
            <a:r>
              <a:rPr lang="en-US" sz="2249">
                <a:solidFill>
                  <a:srgbClr val="000000"/>
                </a:solidFill>
                <a:latin typeface="League Spartan"/>
                <a:ea typeface="League Spartan"/>
                <a:cs typeface="League Spartan"/>
                <a:sym typeface="League Spartan"/>
              </a:rPr>
              <a:t>have higher annual medical costs.</a:t>
            </a:r>
          </a:p>
          <a:p>
            <a:pPr algn="l">
              <a:lnSpc>
                <a:spcPts val="2249"/>
              </a:lnSpc>
            </a:pPr>
            <a:endParaRPr lang="en-US" sz="2249">
              <a:solidFill>
                <a:srgbClr val="000000"/>
              </a:solidFill>
              <a:latin typeface="League Spartan"/>
              <a:ea typeface="League Spartan"/>
              <a:cs typeface="League Spartan"/>
              <a:sym typeface="League Spartan"/>
            </a:endParaRP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3" name="TextBox 3"/>
          <p:cNvSpPr txBox="1"/>
          <p:nvPr/>
        </p:nvSpPr>
        <p:spPr>
          <a:xfrm>
            <a:off x="2432255" y="2078747"/>
            <a:ext cx="13230004" cy="5929480"/>
          </a:xfrm>
          <a:prstGeom prst="rect">
            <a:avLst/>
          </a:prstGeom>
        </p:spPr>
        <p:txBody>
          <a:bodyPr lIns="0" tIns="0" rIns="0" bIns="0" rtlCol="0" anchor="t">
            <a:spAutoFit/>
          </a:bodyPr>
          <a:lstStyle/>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chart shows a </a:t>
            </a:r>
            <a:r>
              <a:rPr lang="en-US" sz="2805" b="1">
                <a:solidFill>
                  <a:srgbClr val="000000"/>
                </a:solidFill>
                <a:latin typeface="Canva Sans Bold"/>
                <a:ea typeface="Canva Sans Bold"/>
                <a:cs typeface="Canva Sans Bold"/>
                <a:sym typeface="Canva Sans Bold"/>
              </a:rPr>
              <a:t>strong positive correlation</a:t>
            </a:r>
            <a:r>
              <a:rPr lang="en-US" sz="2805">
                <a:solidFill>
                  <a:srgbClr val="000000"/>
                </a:solidFill>
                <a:latin typeface="Canva Sans"/>
                <a:ea typeface="Canva Sans"/>
                <a:cs typeface="Canva Sans"/>
                <a:sym typeface="Canva Sans"/>
              </a:rPr>
              <a:t> between the number of chronic diseases and annual medical cost.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Medical costs </a:t>
            </a:r>
            <a:r>
              <a:rPr lang="en-US" sz="2805" b="1">
                <a:solidFill>
                  <a:srgbClr val="000000"/>
                </a:solidFill>
                <a:latin typeface="Canva Sans Bold"/>
                <a:ea typeface="Canva Sans Bold"/>
                <a:cs typeface="Canva Sans Bold"/>
                <a:sym typeface="Canva Sans Bold"/>
              </a:rPr>
              <a:t>rise consistently</a:t>
            </a:r>
            <a:r>
              <a:rPr lang="en-US" sz="2805">
                <a:solidFill>
                  <a:srgbClr val="000000"/>
                </a:solidFill>
                <a:latin typeface="Canva Sans"/>
                <a:ea typeface="Canva Sans"/>
                <a:cs typeface="Canva Sans"/>
                <a:sym typeface="Canva Sans"/>
              </a:rPr>
              <a:t> from around </a:t>
            </a:r>
            <a:r>
              <a:rPr lang="en-US" sz="2805" b="1">
                <a:solidFill>
                  <a:srgbClr val="000000"/>
                </a:solidFill>
                <a:latin typeface="Canva Sans Bold"/>
                <a:ea typeface="Canva Sans Bold"/>
                <a:cs typeface="Canva Sans Bold"/>
                <a:sym typeface="Canva Sans Bold"/>
              </a:rPr>
              <a:t>$2,000 (no chronic conditions)</a:t>
            </a:r>
            <a:r>
              <a:rPr lang="en-US" sz="2805">
                <a:solidFill>
                  <a:srgbClr val="000000"/>
                </a:solidFill>
                <a:latin typeface="Canva Sans"/>
                <a:ea typeface="Canva Sans"/>
                <a:cs typeface="Canva Sans"/>
                <a:sym typeface="Canva Sans"/>
              </a:rPr>
              <a:t> to over </a:t>
            </a:r>
            <a:r>
              <a:rPr lang="en-US" sz="2805" b="1">
                <a:solidFill>
                  <a:srgbClr val="000000"/>
                </a:solidFill>
                <a:latin typeface="Canva Sans Bold"/>
                <a:ea typeface="Canva Sans Bold"/>
                <a:cs typeface="Canva Sans Bold"/>
                <a:sym typeface="Canva Sans Bold"/>
              </a:rPr>
              <a:t>$7,000 for four chronic diseases</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a:t>
            </a:r>
            <a:r>
              <a:rPr lang="en-US" sz="2805" b="1">
                <a:solidFill>
                  <a:srgbClr val="000000"/>
                </a:solidFill>
                <a:latin typeface="Canva Sans Bold"/>
                <a:ea typeface="Canva Sans Bold"/>
                <a:cs typeface="Canva Sans Bold"/>
                <a:sym typeface="Canva Sans Bold"/>
              </a:rPr>
              <a:t>linear upward trend</a:t>
            </a:r>
            <a:r>
              <a:rPr lang="en-US" sz="2805">
                <a:solidFill>
                  <a:srgbClr val="000000"/>
                </a:solidFill>
                <a:latin typeface="Canva Sans"/>
                <a:ea typeface="Canva Sans"/>
                <a:cs typeface="Canva Sans"/>
                <a:sym typeface="Canva Sans"/>
              </a:rPr>
              <a:t> indicates that chronic illness burden is a </a:t>
            </a:r>
            <a:r>
              <a:rPr lang="en-US" sz="2805" b="1">
                <a:solidFill>
                  <a:srgbClr val="000000"/>
                </a:solidFill>
                <a:latin typeface="Canva Sans Bold"/>
                <a:ea typeface="Canva Sans Bold"/>
                <a:cs typeface="Canva Sans Bold"/>
                <a:sym typeface="Canva Sans Bold"/>
              </a:rPr>
              <a:t>key cost driver</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H₄</a:t>
            </a:r>
            <a:r>
              <a:rPr lang="en-US" sz="2805">
                <a:solidFill>
                  <a:srgbClr val="000000"/>
                </a:solidFill>
                <a:latin typeface="Canva Sans"/>
                <a:ea typeface="Canva Sans"/>
                <a:cs typeface="Canva Sans"/>
                <a:sym typeface="Canva Sans"/>
              </a:rPr>
              <a:t>, confirming that each additional chronic condition leads to a significant increase in average annual expenses.</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581382" y="340860"/>
            <a:ext cx="4218368" cy="4466109"/>
            <a:chOff x="0" y="0"/>
            <a:chExt cx="812800" cy="860535"/>
          </a:xfrm>
        </p:grpSpPr>
        <p:sp>
          <p:nvSpPr>
            <p:cNvPr id="3" name="Freeform 3"/>
            <p:cNvSpPr/>
            <p:nvPr/>
          </p:nvSpPr>
          <p:spPr>
            <a:xfrm>
              <a:off x="0" y="0"/>
              <a:ext cx="812800" cy="860535"/>
            </a:xfrm>
            <a:custGeom>
              <a:avLst/>
              <a:gdLst/>
              <a:ahLst/>
              <a:cxnLst/>
              <a:rect l="l" t="t" r="r" b="b"/>
              <a:pathLst>
                <a:path w="812800" h="860535">
                  <a:moveTo>
                    <a:pt x="406400" y="0"/>
                  </a:moveTo>
                  <a:cubicBezTo>
                    <a:pt x="181951" y="0"/>
                    <a:pt x="0" y="192637"/>
                    <a:pt x="0" y="430268"/>
                  </a:cubicBezTo>
                  <a:cubicBezTo>
                    <a:pt x="0" y="667898"/>
                    <a:pt x="181951" y="860535"/>
                    <a:pt x="406400" y="860535"/>
                  </a:cubicBezTo>
                  <a:cubicBezTo>
                    <a:pt x="630849" y="860535"/>
                    <a:pt x="812800" y="667898"/>
                    <a:pt x="812800" y="430268"/>
                  </a:cubicBezTo>
                  <a:cubicBezTo>
                    <a:pt x="812800" y="192637"/>
                    <a:pt x="630849" y="0"/>
                    <a:pt x="406400" y="0"/>
                  </a:cubicBezTo>
                  <a:close/>
                </a:path>
              </a:pathLst>
            </a:custGeom>
            <a:blipFill>
              <a:blip r:embed="rId2"/>
              <a:stretch>
                <a:fillRect l="-44109" r="-44109"/>
              </a:stretch>
            </a:blipFill>
          </p:spPr>
          <p:txBody>
            <a:bodyPr/>
            <a:lstStyle/>
            <a:p>
              <a:endParaRPr lang="de-DE"/>
            </a:p>
          </p:txBody>
        </p:sp>
      </p:grpSp>
      <p:sp>
        <p:nvSpPr>
          <p:cNvPr id="4" name="Freeform 4"/>
          <p:cNvSpPr/>
          <p:nvPr/>
        </p:nvSpPr>
        <p:spPr>
          <a:xfrm>
            <a:off x="1028700" y="2695362"/>
            <a:ext cx="8699208" cy="7409017"/>
          </a:xfrm>
          <a:custGeom>
            <a:avLst/>
            <a:gdLst/>
            <a:ahLst/>
            <a:cxnLst/>
            <a:rect l="l" t="t" r="r" b="b"/>
            <a:pathLst>
              <a:path w="8699208" h="7409017">
                <a:moveTo>
                  <a:pt x="0" y="0"/>
                </a:moveTo>
                <a:lnTo>
                  <a:pt x="8699208" y="0"/>
                </a:lnTo>
                <a:lnTo>
                  <a:pt x="8699208" y="7409017"/>
                </a:lnTo>
                <a:lnTo>
                  <a:pt x="0" y="7409017"/>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1028700" y="283810"/>
            <a:ext cx="4094350" cy="575272"/>
          </a:xfrm>
          <a:prstGeom prst="rect">
            <a:avLst/>
          </a:prstGeom>
        </p:spPr>
        <p:txBody>
          <a:bodyPr lIns="0" tIns="0" rIns="0" bIns="0" rtlCol="0" anchor="t">
            <a:spAutoFit/>
          </a:bodyPr>
          <a:lstStyle/>
          <a:p>
            <a:pPr algn="l">
              <a:lnSpc>
                <a:spcPts val="4828"/>
              </a:lnSpc>
              <a:spcBef>
                <a:spcPct val="0"/>
              </a:spcBef>
            </a:pPr>
            <a:r>
              <a:rPr lang="en-US" sz="3448">
                <a:solidFill>
                  <a:srgbClr val="000000"/>
                </a:solidFill>
                <a:latin typeface="League Spartan"/>
                <a:ea typeface="League Spartan"/>
                <a:cs typeface="League Spartan"/>
                <a:sym typeface="League Spartan"/>
              </a:rPr>
              <a:t>Hypotheses 5</a:t>
            </a:r>
          </a:p>
        </p:txBody>
      </p:sp>
      <p:sp>
        <p:nvSpPr>
          <p:cNvPr id="6" name="TextBox 6"/>
          <p:cNvSpPr txBox="1"/>
          <p:nvPr/>
        </p:nvSpPr>
        <p:spPr>
          <a:xfrm>
            <a:off x="1028700" y="1776251"/>
            <a:ext cx="12176707" cy="571488"/>
          </a:xfrm>
          <a:prstGeom prst="rect">
            <a:avLst/>
          </a:prstGeom>
        </p:spPr>
        <p:txBody>
          <a:bodyPr lIns="0" tIns="0" rIns="0" bIns="0" rtlCol="0" anchor="t">
            <a:spAutoFit/>
          </a:bodyPr>
          <a:lstStyle/>
          <a:p>
            <a:pPr algn="l">
              <a:lnSpc>
                <a:spcPts val="2249"/>
              </a:lnSpc>
            </a:pPr>
            <a:r>
              <a:rPr lang="en-US" sz="2249">
                <a:solidFill>
                  <a:srgbClr val="000000"/>
                </a:solidFill>
                <a:latin typeface="League Spartan"/>
                <a:ea typeface="League Spartan"/>
                <a:cs typeface="League Spartan"/>
                <a:sym typeface="League Spartan"/>
              </a:rPr>
              <a:t>Individuals with more </a:t>
            </a:r>
            <a:r>
              <a:rPr lang="en-US" sz="2249" b="1">
                <a:solidFill>
                  <a:srgbClr val="000000"/>
                </a:solidFill>
                <a:latin typeface="League Spartan"/>
                <a:ea typeface="League Spartan"/>
                <a:cs typeface="League Spartan"/>
                <a:sym typeface="League Spartan"/>
              </a:rPr>
              <a:t>hospitalizations over the past 3 years </a:t>
            </a:r>
            <a:r>
              <a:rPr lang="en-US" sz="2249">
                <a:solidFill>
                  <a:srgbClr val="000000"/>
                </a:solidFill>
                <a:latin typeface="League Spartan"/>
                <a:ea typeface="League Spartan"/>
                <a:cs typeface="League Spartan"/>
                <a:sym typeface="League Spartan"/>
              </a:rPr>
              <a:t>have higher annual medical costs.</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3" name="TextBox 3"/>
          <p:cNvSpPr txBox="1"/>
          <p:nvPr/>
        </p:nvSpPr>
        <p:spPr>
          <a:xfrm>
            <a:off x="2432255" y="2078747"/>
            <a:ext cx="13230004" cy="5929480"/>
          </a:xfrm>
          <a:prstGeom prst="rect">
            <a:avLst/>
          </a:prstGeom>
        </p:spPr>
        <p:txBody>
          <a:bodyPr lIns="0" tIns="0" rIns="0" bIns="0" rtlCol="0" anchor="t">
            <a:spAutoFit/>
          </a:bodyPr>
          <a:lstStyle/>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The chart shows a </a:t>
            </a:r>
            <a:r>
              <a:rPr lang="en-US" sz="2805" b="1">
                <a:solidFill>
                  <a:srgbClr val="000000"/>
                </a:solidFill>
                <a:latin typeface="Canva Sans Bold"/>
                <a:ea typeface="Canva Sans Bold"/>
                <a:cs typeface="Canva Sans Bold"/>
                <a:sym typeface="Canva Sans Bold"/>
              </a:rPr>
              <a:t>strong, almost linear rise</a:t>
            </a:r>
            <a:r>
              <a:rPr lang="en-US" sz="2805">
                <a:solidFill>
                  <a:srgbClr val="000000"/>
                </a:solidFill>
                <a:latin typeface="Canva Sans"/>
                <a:ea typeface="Canva Sans"/>
                <a:cs typeface="Canva Sans"/>
                <a:sym typeface="Canva Sans"/>
              </a:rPr>
              <a:t> in annual medical costs with the number of hospitalizations.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Average cost increases from </a:t>
            </a:r>
            <a:r>
              <a:rPr lang="en-US" sz="2805" b="1">
                <a:solidFill>
                  <a:srgbClr val="000000"/>
                </a:solidFill>
                <a:latin typeface="Canva Sans Bold"/>
                <a:ea typeface="Canva Sans Bold"/>
                <a:cs typeface="Canva Sans Bold"/>
                <a:sym typeface="Canva Sans Bold"/>
              </a:rPr>
              <a:t>$2,810 (no hospitalizations)</a:t>
            </a:r>
            <a:r>
              <a:rPr lang="en-US" sz="2805">
                <a:solidFill>
                  <a:srgbClr val="000000"/>
                </a:solidFill>
                <a:latin typeface="Canva Sans"/>
                <a:ea typeface="Canva Sans"/>
                <a:cs typeface="Canva Sans"/>
                <a:sym typeface="Canva Sans"/>
              </a:rPr>
              <a:t> to nearly </a:t>
            </a:r>
            <a:r>
              <a:rPr lang="en-US" sz="2805" b="1">
                <a:solidFill>
                  <a:srgbClr val="000000"/>
                </a:solidFill>
                <a:latin typeface="Canva Sans Bold"/>
                <a:ea typeface="Canva Sans Bold"/>
                <a:cs typeface="Canva Sans Bold"/>
                <a:sym typeface="Canva Sans Bold"/>
              </a:rPr>
              <a:t>$9,600 for three hospitalizations</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This demonstrates that </a:t>
            </a:r>
            <a:r>
              <a:rPr lang="en-US" sz="2805" b="1">
                <a:solidFill>
                  <a:srgbClr val="000000"/>
                </a:solidFill>
                <a:latin typeface="Canva Sans Bold"/>
                <a:ea typeface="Canva Sans Bold"/>
                <a:cs typeface="Canva Sans Bold"/>
                <a:sym typeface="Canva Sans Bold"/>
              </a:rPr>
              <a:t>frequent hospital stays</a:t>
            </a:r>
            <a:r>
              <a:rPr lang="en-US" sz="2805">
                <a:solidFill>
                  <a:srgbClr val="000000"/>
                </a:solidFill>
                <a:latin typeface="Canva Sans"/>
                <a:ea typeface="Canva Sans"/>
                <a:cs typeface="Canva Sans"/>
                <a:sym typeface="Canva Sans"/>
              </a:rPr>
              <a:t> are a major contributor to total medical expenses.</a:t>
            </a:r>
          </a:p>
          <a:p>
            <a:pPr algn="l">
              <a:lnSpc>
                <a:spcPts val="3928"/>
              </a:lnSpc>
            </a:pPr>
            <a:endParaRPr lang="en-US" sz="2805">
              <a:solidFill>
                <a:srgbClr val="000000"/>
              </a:solidFill>
              <a:latin typeface="Canva Sans"/>
              <a:ea typeface="Canva Sans"/>
              <a:cs typeface="Canva Sans"/>
              <a:sym typeface="Canva Sans"/>
            </a:endParaRPr>
          </a:p>
          <a:p>
            <a:pPr marL="605797" lvl="1" indent="-302899" algn="l">
              <a:lnSpc>
                <a:spcPts val="3928"/>
              </a:lnSpc>
              <a:buFont typeface="Arial"/>
              <a:buChar char="•"/>
            </a:pPr>
            <a:r>
              <a:rPr lang="en-US" sz="2805">
                <a:solidFill>
                  <a:srgbClr val="000000"/>
                </a:solidFill>
                <a:latin typeface="Canva Sans"/>
                <a:ea typeface="Canva Sans"/>
                <a:cs typeface="Canva Sans"/>
                <a:sym typeface="Canva Sans"/>
              </a:rPr>
              <a:t>Findings </a:t>
            </a:r>
            <a:r>
              <a:rPr lang="en-US" sz="2805" b="1">
                <a:solidFill>
                  <a:srgbClr val="000000"/>
                </a:solidFill>
                <a:latin typeface="Canva Sans Bold"/>
                <a:ea typeface="Canva Sans Bold"/>
                <a:cs typeface="Canva Sans Bold"/>
                <a:sym typeface="Canva Sans Bold"/>
              </a:rPr>
              <a:t>strongly support H₅</a:t>
            </a:r>
            <a:r>
              <a:rPr lang="en-US" sz="2805">
                <a:solidFill>
                  <a:srgbClr val="000000"/>
                </a:solidFill>
                <a:latin typeface="Canva Sans"/>
                <a:ea typeface="Canva Sans"/>
                <a:cs typeface="Canva Sans"/>
                <a:sym typeface="Canva Sans"/>
              </a:rPr>
              <a:t>, confirming hospitalization frequency as a </a:t>
            </a:r>
            <a:r>
              <a:rPr lang="en-US" sz="2805" b="1">
                <a:solidFill>
                  <a:srgbClr val="000000"/>
                </a:solidFill>
                <a:latin typeface="Canva Sans Bold"/>
                <a:ea typeface="Canva Sans Bold"/>
                <a:cs typeface="Canva Sans Bold"/>
                <a:sym typeface="Canva Sans Bold"/>
              </a:rPr>
              <a:t>critical driver of cost escalation</a:t>
            </a:r>
            <a:r>
              <a:rPr lang="en-US" sz="2805">
                <a:solidFill>
                  <a:srgbClr val="000000"/>
                </a:solidFill>
                <a:latin typeface="Canva Sans"/>
                <a:ea typeface="Canva Sans"/>
                <a:cs typeface="Canva Sans"/>
                <a:sym typeface="Canva Sans"/>
              </a:rPr>
              <a:t>.</a:t>
            </a:r>
          </a:p>
          <a:p>
            <a:pPr algn="l">
              <a:lnSpc>
                <a:spcPts val="3928"/>
              </a:lnSpc>
            </a:pPr>
            <a:endParaRPr lang="en-US" sz="2805">
              <a:solidFill>
                <a:srgbClr val="000000"/>
              </a:solidFill>
              <a:latin typeface="Canva Sans"/>
              <a:ea typeface="Canva Sans"/>
              <a:cs typeface="Canva Sans"/>
              <a:sym typeface="Canva Sans"/>
            </a:endParaRPr>
          </a:p>
        </p:txBody>
      </p:sp>
      <p:sp>
        <p:nvSpPr>
          <p:cNvPr id="4" name="TextBox 4"/>
          <p:cNvSpPr txBox="1"/>
          <p:nvPr/>
        </p:nvSpPr>
        <p:spPr>
          <a:xfrm>
            <a:off x="1471068" y="797572"/>
            <a:ext cx="5036599" cy="481295"/>
          </a:xfrm>
          <a:prstGeom prst="rect">
            <a:avLst/>
          </a:prstGeom>
        </p:spPr>
        <p:txBody>
          <a:bodyPr lIns="0" tIns="0" rIns="0" bIns="0" rtlCol="0" anchor="t">
            <a:spAutoFit/>
          </a:bodyPr>
          <a:lstStyle/>
          <a:p>
            <a:pPr algn="ctr">
              <a:lnSpc>
                <a:spcPts val="3921"/>
              </a:lnSpc>
              <a:spcBef>
                <a:spcPct val="0"/>
              </a:spcBef>
            </a:pPr>
            <a:r>
              <a:rPr lang="en-US" sz="2801" b="1">
                <a:solidFill>
                  <a:srgbClr val="000000"/>
                </a:solidFill>
                <a:latin typeface="Canva Sans Bold"/>
                <a:ea typeface="Canva Sans Bold"/>
                <a:cs typeface="Canva Sans Bold"/>
                <a:sym typeface="Canva Sans Bold"/>
              </a:rPr>
              <a:t>Analysis &amp; Insights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7461" y="1965021"/>
            <a:ext cx="12660832" cy="7121718"/>
          </a:xfrm>
          <a:custGeom>
            <a:avLst/>
            <a:gdLst/>
            <a:ahLst/>
            <a:cxnLst/>
            <a:rect l="l" t="t" r="r" b="b"/>
            <a:pathLst>
              <a:path w="12660832" h="7121718">
                <a:moveTo>
                  <a:pt x="0" y="0"/>
                </a:moveTo>
                <a:lnTo>
                  <a:pt x="12660832" y="0"/>
                </a:lnTo>
                <a:lnTo>
                  <a:pt x="12660832" y="7121718"/>
                </a:lnTo>
                <a:lnTo>
                  <a:pt x="0" y="7121718"/>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867461" y="728680"/>
            <a:ext cx="9507620" cy="887025"/>
          </a:xfrm>
          <a:prstGeom prst="rect">
            <a:avLst/>
          </a:prstGeom>
        </p:spPr>
        <p:txBody>
          <a:bodyPr lIns="0" tIns="0" rIns="0" bIns="0" rtlCol="0" anchor="t">
            <a:spAutoFit/>
          </a:bodyPr>
          <a:lstStyle/>
          <a:p>
            <a:pPr algn="l">
              <a:lnSpc>
                <a:spcPts val="3606"/>
              </a:lnSpc>
            </a:pPr>
            <a:r>
              <a:rPr lang="en-US" sz="2575">
                <a:solidFill>
                  <a:srgbClr val="000000"/>
                </a:solidFill>
                <a:latin typeface="League Spartan"/>
                <a:ea typeface="League Spartan"/>
                <a:cs typeface="League Spartan"/>
                <a:sym typeface="League Spartan"/>
              </a:rPr>
              <a:t>Interactive Dashboard Exploration - POWERBI</a:t>
            </a:r>
          </a:p>
          <a:p>
            <a:pPr algn="l">
              <a:lnSpc>
                <a:spcPts val="3606"/>
              </a:lnSpc>
              <a:spcBef>
                <a:spcPct val="0"/>
              </a:spcBef>
            </a:pPr>
            <a:endParaRPr lang="en-US" sz="2575">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5" name="TextBox 5"/>
          <p:cNvSpPr txBox="1"/>
          <p:nvPr/>
        </p:nvSpPr>
        <p:spPr>
          <a:xfrm>
            <a:off x="14839228" y="2161044"/>
            <a:ext cx="3203046" cy="4069421"/>
          </a:xfrm>
          <a:prstGeom prst="rect">
            <a:avLst/>
          </a:prstGeom>
        </p:spPr>
        <p:txBody>
          <a:bodyPr lIns="0" tIns="0" rIns="0" bIns="0" rtlCol="0" anchor="t">
            <a:spAutoFit/>
          </a:bodyPr>
          <a:lstStyle/>
          <a:p>
            <a:pPr algn="l">
              <a:lnSpc>
                <a:spcPts val="2501"/>
              </a:lnSpc>
              <a:spcBef>
                <a:spcPct val="0"/>
              </a:spcBef>
            </a:pPr>
            <a:r>
              <a:rPr lang="en-US" sz="1786" b="1">
                <a:solidFill>
                  <a:srgbClr val="000000"/>
                </a:solidFill>
                <a:latin typeface="Canva Sans Bold"/>
                <a:ea typeface="Canva Sans Bold"/>
                <a:cs typeface="Canva Sans Bold"/>
                <a:sym typeface="Canva Sans Bold"/>
              </a:rPr>
              <a:t>The dashboard allows:</a:t>
            </a:r>
          </a:p>
          <a:p>
            <a:pPr algn="l">
              <a:lnSpc>
                <a:spcPts val="2501"/>
              </a:lnSpc>
              <a:spcBef>
                <a:spcPct val="0"/>
              </a:spcBef>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Filter by smoker status, region, age, and chronic conditions</a:t>
            </a:r>
          </a:p>
          <a:p>
            <a:pPr algn="l">
              <a:lnSpc>
                <a:spcPts val="2501"/>
              </a:lnSpc>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Compare costs dynamically across different risk groups</a:t>
            </a:r>
          </a:p>
          <a:p>
            <a:pPr algn="l">
              <a:lnSpc>
                <a:spcPts val="2501"/>
              </a:lnSpc>
            </a:pPr>
            <a:endParaRPr lang="en-US" sz="1786" b="1">
              <a:solidFill>
                <a:srgbClr val="000000"/>
              </a:solidFill>
              <a:latin typeface="Canva Sans Bold"/>
              <a:ea typeface="Canva Sans Bold"/>
              <a:cs typeface="Canva Sans Bold"/>
              <a:sym typeface="Canva Sans Bold"/>
            </a:endParaRPr>
          </a:p>
          <a:p>
            <a:pPr marL="385723" lvl="1" indent="-192862" algn="l">
              <a:lnSpc>
                <a:spcPts val="2501"/>
              </a:lnSpc>
              <a:buFont typeface="Arial"/>
              <a:buChar char="•"/>
            </a:pPr>
            <a:r>
              <a:rPr lang="en-US" sz="1786" b="1">
                <a:solidFill>
                  <a:srgbClr val="000000"/>
                </a:solidFill>
                <a:latin typeface="Canva Sans Bold"/>
                <a:ea typeface="Canva Sans Bold"/>
                <a:cs typeface="Canva Sans Bold"/>
                <a:sym typeface="Canva Sans Bold"/>
              </a:rPr>
              <a:t>Visualize trends in real time with dynamic cards and charts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5179" y="7200900"/>
            <a:ext cx="8024578" cy="3086100"/>
            <a:chOff x="0" y="0"/>
            <a:chExt cx="2113469" cy="812800"/>
          </a:xfrm>
        </p:grpSpPr>
        <p:sp>
          <p:nvSpPr>
            <p:cNvPr id="3" name="Freeform 3"/>
            <p:cNvSpPr/>
            <p:nvPr/>
          </p:nvSpPr>
          <p:spPr>
            <a:xfrm>
              <a:off x="0" y="0"/>
              <a:ext cx="2113469" cy="812800"/>
            </a:xfrm>
            <a:custGeom>
              <a:avLst/>
              <a:gdLst/>
              <a:ahLst/>
              <a:cxnLst/>
              <a:rect l="l" t="t" r="r" b="b"/>
              <a:pathLst>
                <a:path w="2113469" h="812800">
                  <a:moveTo>
                    <a:pt x="0" y="0"/>
                  </a:moveTo>
                  <a:lnTo>
                    <a:pt x="2113469" y="0"/>
                  </a:lnTo>
                  <a:lnTo>
                    <a:pt x="2113469"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2113469" cy="8509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36028" y="747887"/>
            <a:ext cx="11301259" cy="6017920"/>
          </a:xfrm>
          <a:custGeom>
            <a:avLst/>
            <a:gdLst/>
            <a:ahLst/>
            <a:cxnLst/>
            <a:rect l="l" t="t" r="r" b="b"/>
            <a:pathLst>
              <a:path w="11301259" h="6017920">
                <a:moveTo>
                  <a:pt x="0" y="0"/>
                </a:moveTo>
                <a:lnTo>
                  <a:pt x="11301259" y="0"/>
                </a:lnTo>
                <a:lnTo>
                  <a:pt x="11301259" y="6017920"/>
                </a:lnTo>
                <a:lnTo>
                  <a:pt x="0" y="6017920"/>
                </a:lnTo>
                <a:lnTo>
                  <a:pt x="0" y="0"/>
                </a:lnTo>
                <a:close/>
              </a:path>
            </a:pathLst>
          </a:custGeom>
          <a:blipFill>
            <a:blip r:embed="rId2"/>
            <a:stretch>
              <a:fillRect/>
            </a:stretch>
          </a:blipFill>
        </p:spPr>
        <p:txBody>
          <a:bodyPr/>
          <a:lstStyle/>
          <a:p>
            <a:endParaRPr lang="de-DE"/>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318979"/>
            <a:ext cx="10914513" cy="7780006"/>
          </a:xfrm>
          <a:custGeom>
            <a:avLst/>
            <a:gdLst/>
            <a:ahLst/>
            <a:cxnLst/>
            <a:rect l="l" t="t" r="r" b="b"/>
            <a:pathLst>
              <a:path w="10914513" h="7780006">
                <a:moveTo>
                  <a:pt x="0" y="0"/>
                </a:moveTo>
                <a:lnTo>
                  <a:pt x="10914513" y="0"/>
                </a:lnTo>
                <a:lnTo>
                  <a:pt x="10914513" y="7780006"/>
                </a:lnTo>
                <a:lnTo>
                  <a:pt x="0" y="7780006"/>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028700" y="274285"/>
            <a:ext cx="9150799" cy="1172210"/>
          </a:xfrm>
          <a:prstGeom prst="rect">
            <a:avLst/>
          </a:prstGeom>
        </p:spPr>
        <p:txBody>
          <a:bodyPr lIns="0" tIns="0" rIns="0" bIns="0" rtlCol="0" anchor="t">
            <a:spAutoFit/>
          </a:bodyPr>
          <a:lstStyle/>
          <a:p>
            <a:pPr algn="l">
              <a:lnSpc>
                <a:spcPts val="4749"/>
              </a:lnSpc>
            </a:pPr>
            <a:r>
              <a:rPr lang="en-US" sz="3392">
                <a:solidFill>
                  <a:srgbClr val="000000"/>
                </a:solidFill>
                <a:latin typeface="League Spartan"/>
                <a:ea typeface="League Spartan"/>
                <a:cs typeface="League Spartan"/>
                <a:sym typeface="League Spartan"/>
              </a:rPr>
              <a:t>Predictive Modeling Insights</a:t>
            </a:r>
          </a:p>
          <a:p>
            <a:pPr algn="l">
              <a:lnSpc>
                <a:spcPts val="4749"/>
              </a:lnSpc>
              <a:spcBef>
                <a:spcPct val="0"/>
              </a:spcBef>
            </a:pPr>
            <a:endParaRPr lang="en-US" sz="3392">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5" name="TextBox 5"/>
          <p:cNvSpPr txBox="1"/>
          <p:nvPr/>
        </p:nvSpPr>
        <p:spPr>
          <a:xfrm>
            <a:off x="13176778" y="2891696"/>
            <a:ext cx="4400270" cy="4778135"/>
          </a:xfrm>
          <a:prstGeom prst="rect">
            <a:avLst/>
          </a:prstGeom>
        </p:spPr>
        <p:txBody>
          <a:bodyPr lIns="0" tIns="0" rIns="0" bIns="0" rtlCol="0" anchor="t">
            <a:spAutoFit/>
          </a:bodyPr>
          <a:lstStyle/>
          <a:p>
            <a:pPr algn="l">
              <a:lnSpc>
                <a:spcPts val="2712"/>
              </a:lnSpc>
              <a:spcBef>
                <a:spcPct val="0"/>
              </a:spcBef>
            </a:pPr>
            <a:endParaRPr/>
          </a:p>
          <a:p>
            <a:pPr algn="l">
              <a:lnSpc>
                <a:spcPts val="2712"/>
              </a:lnSpc>
            </a:pPr>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The model explains 44% of the variation in medical costs — reasonable for real-world healthcare data.</a:t>
            </a:r>
          </a:p>
          <a:p>
            <a:pPr algn="l">
              <a:lnSpc>
                <a:spcPts val="2712"/>
              </a:lnSpc>
            </a:pPr>
            <a:endParaRPr lang="en-US" sz="1937">
              <a:solidFill>
                <a:srgbClr val="000000"/>
              </a:solidFill>
              <a:latin typeface="Canva Sans"/>
              <a:ea typeface="Canva Sans"/>
              <a:cs typeface="Canva Sans"/>
              <a:sym typeface="Canva Sans"/>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Indicates nonlinear influences and interaction effects not fully captured by a simple regression.</a:t>
            </a:r>
          </a:p>
          <a:p>
            <a:pPr algn="l">
              <a:lnSpc>
                <a:spcPts val="2712"/>
              </a:lnSpc>
            </a:pPr>
            <a:endParaRPr lang="en-US" sz="1937">
              <a:solidFill>
                <a:srgbClr val="000000"/>
              </a:solidFill>
              <a:latin typeface="Canva Sans"/>
              <a:ea typeface="Canva Sans"/>
              <a:cs typeface="Canva Sans"/>
              <a:sym typeface="Canva Sans"/>
            </a:endParaRPr>
          </a:p>
          <a:p>
            <a:pPr marL="418303" lvl="1" indent="-209152" algn="l">
              <a:lnSpc>
                <a:spcPts val="2712"/>
              </a:lnSpc>
              <a:buFont typeface="Arial"/>
              <a:buChar char="•"/>
            </a:pPr>
            <a:r>
              <a:rPr lang="en-US" sz="1937">
                <a:solidFill>
                  <a:srgbClr val="000000"/>
                </a:solidFill>
                <a:latin typeface="Canva Sans"/>
                <a:ea typeface="Canva Sans"/>
                <a:cs typeface="Canva Sans"/>
                <a:sym typeface="Canva Sans"/>
              </a:rPr>
              <a:t>Smoking, BMI, and Chronic Disease Count emerge as the strongest cost predictors.</a:t>
            </a:r>
          </a:p>
        </p:txBody>
      </p:sp>
      <p:sp>
        <p:nvSpPr>
          <p:cNvPr id="6" name="TextBox 6"/>
          <p:cNvSpPr txBox="1"/>
          <p:nvPr/>
        </p:nvSpPr>
        <p:spPr>
          <a:xfrm>
            <a:off x="12105801" y="293335"/>
            <a:ext cx="9150799" cy="438970"/>
          </a:xfrm>
          <a:prstGeom prst="rect">
            <a:avLst/>
          </a:prstGeom>
        </p:spPr>
        <p:txBody>
          <a:bodyPr lIns="0" tIns="0" rIns="0" bIns="0" rtlCol="0" anchor="t">
            <a:spAutoFit/>
          </a:bodyPr>
          <a:lstStyle/>
          <a:p>
            <a:pPr algn="l">
              <a:lnSpc>
                <a:spcPts val="3629"/>
              </a:lnSpc>
              <a:spcBef>
                <a:spcPct val="0"/>
              </a:spcBef>
            </a:pPr>
            <a:r>
              <a:rPr lang="en-US" sz="2592">
                <a:solidFill>
                  <a:srgbClr val="000000"/>
                </a:solidFill>
                <a:latin typeface="League Spartan"/>
                <a:ea typeface="League Spartan"/>
                <a:cs typeface="League Spartan"/>
                <a:sym typeface="League Spartan"/>
              </a:rPr>
              <a:t>Linear Regression - Base Model</a:t>
            </a:r>
          </a:p>
        </p:txBody>
      </p:sp>
      <p:sp>
        <p:nvSpPr>
          <p:cNvPr id="7" name="TextBox 7"/>
          <p:cNvSpPr txBox="1"/>
          <p:nvPr/>
        </p:nvSpPr>
        <p:spPr>
          <a:xfrm>
            <a:off x="12911840" y="1716174"/>
            <a:ext cx="4506334" cy="72771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Canva Sans Bold"/>
                <a:ea typeface="Canva Sans Bold"/>
                <a:cs typeface="Canva Sans Bold"/>
                <a:sym typeface="Canva Sans Bold"/>
              </a:rPr>
              <a:t>Mean Absolute Error (MAE): 1,430</a:t>
            </a:r>
          </a:p>
          <a:p>
            <a:pPr algn="ctr">
              <a:lnSpc>
                <a:spcPts val="2940"/>
              </a:lnSpc>
              <a:spcBef>
                <a:spcPct val="0"/>
              </a:spcBef>
            </a:pPr>
            <a:r>
              <a:rPr lang="en-US" sz="2100" b="1">
                <a:solidFill>
                  <a:srgbClr val="000000"/>
                </a:solidFill>
                <a:latin typeface="Canva Sans Bold"/>
                <a:ea typeface="Canva Sans Bold"/>
                <a:cs typeface="Canva Sans Bold"/>
                <a:sym typeface="Canva Sans Bold"/>
              </a:rPr>
              <a:t>R² (Model Accuracy): 0.44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743451"/>
            <a:ext cx="11077101" cy="7763716"/>
          </a:xfrm>
          <a:custGeom>
            <a:avLst/>
            <a:gdLst/>
            <a:ahLst/>
            <a:cxnLst/>
            <a:rect l="l" t="t" r="r" b="b"/>
            <a:pathLst>
              <a:path w="11077101" h="7763716">
                <a:moveTo>
                  <a:pt x="0" y="0"/>
                </a:moveTo>
                <a:lnTo>
                  <a:pt x="11077101" y="0"/>
                </a:lnTo>
                <a:lnTo>
                  <a:pt x="11077101" y="7763716"/>
                </a:lnTo>
                <a:lnTo>
                  <a:pt x="0" y="7763716"/>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028700" y="274285"/>
            <a:ext cx="9150799" cy="1172210"/>
          </a:xfrm>
          <a:prstGeom prst="rect">
            <a:avLst/>
          </a:prstGeom>
        </p:spPr>
        <p:txBody>
          <a:bodyPr lIns="0" tIns="0" rIns="0" bIns="0" rtlCol="0" anchor="t">
            <a:spAutoFit/>
          </a:bodyPr>
          <a:lstStyle/>
          <a:p>
            <a:pPr algn="l">
              <a:lnSpc>
                <a:spcPts val="4749"/>
              </a:lnSpc>
            </a:pPr>
            <a:r>
              <a:rPr lang="en-US" sz="3392">
                <a:solidFill>
                  <a:srgbClr val="000000"/>
                </a:solidFill>
                <a:latin typeface="League Spartan"/>
                <a:ea typeface="League Spartan"/>
                <a:cs typeface="League Spartan"/>
                <a:sym typeface="League Spartan"/>
              </a:rPr>
              <a:t>Predictive Modeling Insights</a:t>
            </a:r>
          </a:p>
          <a:p>
            <a:pPr algn="l">
              <a:lnSpc>
                <a:spcPts val="4749"/>
              </a:lnSpc>
              <a:spcBef>
                <a:spcPct val="0"/>
              </a:spcBef>
            </a:pPr>
            <a:endParaRPr lang="en-US" sz="3392">
              <a:solidFill>
                <a:srgbClr val="000000"/>
              </a:solidFill>
              <a:latin typeface="League Spartan"/>
              <a:ea typeface="League Spartan"/>
              <a:cs typeface="League Spartan"/>
              <a:sym typeface="League Spartan"/>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
        <p:nvSpPr>
          <p:cNvPr id="5" name="TextBox 5"/>
          <p:cNvSpPr txBox="1"/>
          <p:nvPr/>
        </p:nvSpPr>
        <p:spPr>
          <a:xfrm>
            <a:off x="12804568" y="3160762"/>
            <a:ext cx="4592026" cy="3630981"/>
          </a:xfrm>
          <a:prstGeom prst="rect">
            <a:avLst/>
          </a:prstGeom>
        </p:spPr>
        <p:txBody>
          <a:bodyPr lIns="0" tIns="0" rIns="0" bIns="0" rtlCol="0" anchor="t">
            <a:spAutoFit/>
          </a:bodyPr>
          <a:lstStyle/>
          <a:p>
            <a:pPr marL="409145" lvl="1" indent="-204573" algn="l">
              <a:lnSpc>
                <a:spcPts val="2653"/>
              </a:lnSpc>
              <a:buFont typeface="Arial"/>
              <a:buChar char="•"/>
            </a:pPr>
            <a:r>
              <a:rPr lang="en-US" sz="1895" b="1">
                <a:solidFill>
                  <a:srgbClr val="000000"/>
                </a:solidFill>
                <a:latin typeface="Canva Sans Bold"/>
                <a:ea typeface="Canva Sans Bold"/>
                <a:cs typeface="Canva Sans Bold"/>
                <a:sym typeface="Canva Sans Bold"/>
              </a:rPr>
              <a:t>XGBoost model improved accuracy</a:t>
            </a:r>
            <a:r>
              <a:rPr lang="en-US" sz="1895">
                <a:solidFill>
                  <a:srgbClr val="000000"/>
                </a:solidFill>
                <a:latin typeface="Canva Sans"/>
                <a:ea typeface="Canva Sans"/>
                <a:cs typeface="Canva Sans"/>
                <a:sym typeface="Canva Sans"/>
              </a:rPr>
              <a:t> from 0.44 → </a:t>
            </a:r>
            <a:r>
              <a:rPr lang="en-US" sz="1895" b="1">
                <a:solidFill>
                  <a:srgbClr val="000000"/>
                </a:solidFill>
                <a:latin typeface="Canva Sans Bold"/>
                <a:ea typeface="Canva Sans Bold"/>
                <a:cs typeface="Canva Sans Bold"/>
                <a:sym typeface="Canva Sans Bold"/>
              </a:rPr>
              <a:t>0.63 R²</a:t>
            </a:r>
            <a:r>
              <a:rPr lang="en-US" sz="1895">
                <a:solidFill>
                  <a:srgbClr val="000000"/>
                </a:solidFill>
                <a:latin typeface="Canva Sans"/>
                <a:ea typeface="Canva Sans"/>
                <a:cs typeface="Canva Sans"/>
                <a:sym typeface="Canva Sans"/>
              </a:rPr>
              <a:t>, showing stronger predictive capability.</a:t>
            </a:r>
          </a:p>
          <a:p>
            <a:pPr algn="l">
              <a:lnSpc>
                <a:spcPts val="2653"/>
              </a:lnSpc>
            </a:pPr>
            <a:endParaRPr lang="en-US" sz="1895">
              <a:solidFill>
                <a:srgbClr val="000000"/>
              </a:solidFill>
              <a:latin typeface="Canva Sans"/>
              <a:ea typeface="Canva Sans"/>
              <a:cs typeface="Canva Sans"/>
              <a:sym typeface="Canva Sans"/>
            </a:endParaRPr>
          </a:p>
          <a:p>
            <a:pPr marL="409145" lvl="1" indent="-204573" algn="l">
              <a:lnSpc>
                <a:spcPts val="2653"/>
              </a:lnSpc>
              <a:buFont typeface="Arial"/>
              <a:buChar char="•"/>
            </a:pPr>
            <a:r>
              <a:rPr lang="en-US" sz="1895">
                <a:solidFill>
                  <a:srgbClr val="000000"/>
                </a:solidFill>
                <a:latin typeface="Canva Sans"/>
                <a:ea typeface="Canva Sans"/>
                <a:cs typeface="Canva Sans"/>
                <a:sym typeface="Canva Sans"/>
              </a:rPr>
              <a:t>Captures </a:t>
            </a:r>
            <a:r>
              <a:rPr lang="en-US" sz="1895" b="1">
                <a:solidFill>
                  <a:srgbClr val="000000"/>
                </a:solidFill>
                <a:latin typeface="Canva Sans Bold"/>
                <a:ea typeface="Canva Sans Bold"/>
                <a:cs typeface="Canva Sans Bold"/>
                <a:sym typeface="Canva Sans Bold"/>
              </a:rPr>
              <a:t>non-linear relationships</a:t>
            </a:r>
            <a:r>
              <a:rPr lang="en-US" sz="1895">
                <a:solidFill>
                  <a:srgbClr val="000000"/>
                </a:solidFill>
                <a:latin typeface="Canva Sans"/>
                <a:ea typeface="Canva Sans"/>
                <a:cs typeface="Canva Sans"/>
                <a:sym typeface="Canva Sans"/>
              </a:rPr>
              <a:t> between lifestyle (smoking, BMI) and cost.</a:t>
            </a:r>
          </a:p>
          <a:p>
            <a:pPr algn="l">
              <a:lnSpc>
                <a:spcPts val="2653"/>
              </a:lnSpc>
            </a:pPr>
            <a:endParaRPr lang="en-US" sz="1895">
              <a:solidFill>
                <a:srgbClr val="000000"/>
              </a:solidFill>
              <a:latin typeface="Canva Sans"/>
              <a:ea typeface="Canva Sans"/>
              <a:cs typeface="Canva Sans"/>
              <a:sym typeface="Canva Sans"/>
            </a:endParaRPr>
          </a:p>
          <a:p>
            <a:pPr marL="409145" lvl="1" indent="-204573" algn="l">
              <a:lnSpc>
                <a:spcPts val="2653"/>
              </a:lnSpc>
              <a:buFont typeface="Arial"/>
              <a:buChar char="•"/>
            </a:pPr>
            <a:r>
              <a:rPr lang="en-US" sz="1895">
                <a:solidFill>
                  <a:srgbClr val="000000"/>
                </a:solidFill>
                <a:latin typeface="Canva Sans"/>
                <a:ea typeface="Canva Sans"/>
                <a:cs typeface="Canva Sans"/>
                <a:sym typeface="Canva Sans"/>
              </a:rPr>
              <a:t>Reduces error margins significantly, making it </a:t>
            </a:r>
            <a:r>
              <a:rPr lang="en-US" sz="1895" b="1">
                <a:solidFill>
                  <a:srgbClr val="000000"/>
                </a:solidFill>
                <a:latin typeface="Canva Sans Bold"/>
                <a:ea typeface="Canva Sans Bold"/>
                <a:cs typeface="Canva Sans Bold"/>
                <a:sym typeface="Canva Sans Bold"/>
              </a:rPr>
              <a:t>more reliable for premium pricing simulations</a:t>
            </a:r>
          </a:p>
        </p:txBody>
      </p:sp>
      <p:sp>
        <p:nvSpPr>
          <p:cNvPr id="6" name="TextBox 6"/>
          <p:cNvSpPr txBox="1"/>
          <p:nvPr/>
        </p:nvSpPr>
        <p:spPr>
          <a:xfrm>
            <a:off x="12105801" y="293335"/>
            <a:ext cx="9150799" cy="438970"/>
          </a:xfrm>
          <a:prstGeom prst="rect">
            <a:avLst/>
          </a:prstGeom>
        </p:spPr>
        <p:txBody>
          <a:bodyPr lIns="0" tIns="0" rIns="0" bIns="0" rtlCol="0" anchor="t">
            <a:spAutoFit/>
          </a:bodyPr>
          <a:lstStyle/>
          <a:p>
            <a:pPr algn="l">
              <a:lnSpc>
                <a:spcPts val="3629"/>
              </a:lnSpc>
              <a:spcBef>
                <a:spcPct val="0"/>
              </a:spcBef>
            </a:pPr>
            <a:r>
              <a:rPr lang="en-US" sz="2592">
                <a:solidFill>
                  <a:srgbClr val="000000"/>
                </a:solidFill>
                <a:latin typeface="League Spartan"/>
                <a:ea typeface="League Spartan"/>
                <a:cs typeface="League Spartan"/>
                <a:sym typeface="League Spartan"/>
              </a:rPr>
              <a:t>XGBoost - Advanced Model</a:t>
            </a:r>
          </a:p>
        </p:txBody>
      </p:sp>
      <p:sp>
        <p:nvSpPr>
          <p:cNvPr id="7" name="TextBox 7"/>
          <p:cNvSpPr txBox="1"/>
          <p:nvPr/>
        </p:nvSpPr>
        <p:spPr>
          <a:xfrm>
            <a:off x="12847414" y="1360546"/>
            <a:ext cx="4844935" cy="727710"/>
          </a:xfrm>
          <a:prstGeom prst="rect">
            <a:avLst/>
          </a:prstGeom>
        </p:spPr>
        <p:txBody>
          <a:bodyPr lIns="0" tIns="0" rIns="0" bIns="0" rtlCol="0" anchor="t">
            <a:spAutoFit/>
          </a:bodyPr>
          <a:lstStyle/>
          <a:p>
            <a:pPr algn="ctr">
              <a:lnSpc>
                <a:spcPts val="2940"/>
              </a:lnSpc>
              <a:spcBef>
                <a:spcPct val="0"/>
              </a:spcBef>
            </a:pPr>
            <a:r>
              <a:rPr lang="en-US" sz="2100" b="1">
                <a:solidFill>
                  <a:srgbClr val="000000"/>
                </a:solidFill>
                <a:latin typeface="Canva Sans Bold"/>
                <a:ea typeface="Canva Sans Bold"/>
                <a:cs typeface="Canva Sans Bold"/>
                <a:sym typeface="Canva Sans Bold"/>
              </a:rPr>
              <a:t>Mean Absolute Error (MAE): 943.60</a:t>
            </a:r>
          </a:p>
          <a:p>
            <a:pPr algn="ctr">
              <a:lnSpc>
                <a:spcPts val="2940"/>
              </a:lnSpc>
              <a:spcBef>
                <a:spcPct val="0"/>
              </a:spcBef>
            </a:pPr>
            <a:r>
              <a:rPr lang="en-US" sz="2100" b="1">
                <a:solidFill>
                  <a:srgbClr val="000000"/>
                </a:solidFill>
                <a:latin typeface="Canva Sans Bold"/>
                <a:ea typeface="Canva Sans Bold"/>
                <a:cs typeface="Canva Sans Bold"/>
                <a:sym typeface="Canva Sans Bold"/>
              </a:rPr>
              <a:t>R² (Model Accuracy): 0.631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72586" y="1503724"/>
            <a:ext cx="9354080" cy="8056201"/>
          </a:xfrm>
          <a:custGeom>
            <a:avLst/>
            <a:gdLst/>
            <a:ahLst/>
            <a:cxnLst/>
            <a:rect l="l" t="t" r="r" b="b"/>
            <a:pathLst>
              <a:path w="9354080" h="8056201">
                <a:moveTo>
                  <a:pt x="0" y="0"/>
                </a:moveTo>
                <a:lnTo>
                  <a:pt x="9354079" y="0"/>
                </a:lnTo>
                <a:lnTo>
                  <a:pt x="9354079" y="8056201"/>
                </a:lnTo>
                <a:lnTo>
                  <a:pt x="0" y="8056201"/>
                </a:lnTo>
                <a:lnTo>
                  <a:pt x="0" y="0"/>
                </a:lnTo>
                <a:close/>
              </a:path>
            </a:pathLst>
          </a:custGeom>
          <a:blipFill>
            <a:blip r:embed="rId2"/>
            <a:stretch>
              <a:fillRect/>
            </a:stretch>
          </a:blipFill>
        </p:spPr>
        <p:txBody>
          <a:bodyPr/>
          <a:lstStyle/>
          <a:p>
            <a:endParaRPr lang="de-DE"/>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22</a:t>
            </a:r>
          </a:p>
        </p:txBody>
      </p:sp>
      <p:sp>
        <p:nvSpPr>
          <p:cNvPr id="4" name="TextBox 4"/>
          <p:cNvSpPr txBox="1"/>
          <p:nvPr/>
        </p:nvSpPr>
        <p:spPr>
          <a:xfrm>
            <a:off x="4463085" y="448309"/>
            <a:ext cx="7782365" cy="580391"/>
          </a:xfrm>
          <a:prstGeom prst="rect">
            <a:avLst/>
          </a:prstGeom>
        </p:spPr>
        <p:txBody>
          <a:bodyPr lIns="0" tIns="0" rIns="0" bIns="0" rtlCol="0" anchor="t">
            <a:spAutoFit/>
          </a:bodyPr>
          <a:lstStyle/>
          <a:p>
            <a:pPr algn="ctr">
              <a:lnSpc>
                <a:spcPts val="4759"/>
              </a:lnSpc>
              <a:spcBef>
                <a:spcPct val="0"/>
              </a:spcBef>
            </a:pPr>
            <a:r>
              <a:rPr lang="en-US" sz="3399" b="1">
                <a:solidFill>
                  <a:srgbClr val="000000"/>
                </a:solidFill>
                <a:latin typeface="Canva Sans Bold"/>
                <a:ea typeface="Canva Sans Bold"/>
                <a:cs typeface="Canva Sans Bold"/>
                <a:sym typeface="Canva Sans Bold"/>
              </a:rPr>
              <a:t>Medical Cost Prediction App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56323" y="266700"/>
            <a:ext cx="8465796" cy="67056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322473" y="876300"/>
            <a:ext cx="7953017" cy="54864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de-DE"/>
            </a:p>
          </p:txBody>
        </p:sp>
      </p:grpSp>
      <p:sp>
        <p:nvSpPr>
          <p:cNvPr id="7" name="TextBox 7"/>
          <p:cNvSpPr txBox="1"/>
          <p:nvPr/>
        </p:nvSpPr>
        <p:spPr>
          <a:xfrm>
            <a:off x="1028700" y="1291803"/>
            <a:ext cx="8280635" cy="731506"/>
          </a:xfrm>
          <a:prstGeom prst="rect">
            <a:avLst/>
          </a:prstGeom>
        </p:spPr>
        <p:txBody>
          <a:bodyPr lIns="0" tIns="0" rIns="0" bIns="0" rtlCol="0" anchor="t">
            <a:spAutoFit/>
          </a:bodyPr>
          <a:lstStyle/>
          <a:p>
            <a:pPr algn="l">
              <a:lnSpc>
                <a:spcPts val="5549"/>
              </a:lnSpc>
            </a:pPr>
            <a:r>
              <a:rPr lang="en-US" sz="5549">
                <a:solidFill>
                  <a:srgbClr val="000000"/>
                </a:solidFill>
                <a:latin typeface="League Spartan"/>
                <a:ea typeface="League Spartan"/>
                <a:cs typeface="League Spartan"/>
                <a:sym typeface="League Spartan"/>
              </a:rPr>
              <a:t>RECOMMENTATIONS</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id="9" name="TextBox 9"/>
          <p:cNvSpPr txBox="1"/>
          <p:nvPr/>
        </p:nvSpPr>
        <p:spPr>
          <a:xfrm>
            <a:off x="1028700" y="2632343"/>
            <a:ext cx="8465795" cy="6994729"/>
          </a:xfrm>
          <a:prstGeom prst="rect">
            <a:avLst/>
          </a:prstGeom>
        </p:spPr>
        <p:txBody>
          <a:bodyPr lIns="0" tIns="0" rIns="0" bIns="0" rtlCol="0" anchor="t">
            <a:spAutoFit/>
          </a:bodyPr>
          <a:lstStyle/>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Apply higher premiums for smokers and introduce “Quit &amp; Save” incentives to encourage healthy behavior.</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Use BMI as a moderate risk factor and offer wellness-based discounts for maintaining healthy weight levels.</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Implement age-tiered pricing and design senior-specific plans with preventive health coverage.</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Include chronic-care management benefits and health monitoring programs in policy design.</a:t>
            </a:r>
          </a:p>
          <a:p>
            <a:pPr algn="l">
              <a:lnSpc>
                <a:spcPts val="3488"/>
              </a:lnSpc>
            </a:pPr>
            <a:endParaRPr lang="en-US" sz="2491" b="1">
              <a:solidFill>
                <a:srgbClr val="000000"/>
              </a:solidFill>
              <a:latin typeface="Canva Sans Bold"/>
              <a:ea typeface="Canva Sans Bold"/>
              <a:cs typeface="Canva Sans Bold"/>
              <a:sym typeface="Canva Sans Bold"/>
            </a:endParaRPr>
          </a:p>
          <a:p>
            <a:pPr marL="538018" lvl="1" indent="-269009" algn="l">
              <a:lnSpc>
                <a:spcPts val="3488"/>
              </a:lnSpc>
              <a:buFont typeface="Arial"/>
              <a:buChar char="•"/>
            </a:pPr>
            <a:r>
              <a:rPr lang="en-US" sz="2491" b="1">
                <a:solidFill>
                  <a:srgbClr val="000000"/>
                </a:solidFill>
                <a:latin typeface="Canva Sans Bold"/>
                <a:ea typeface="Canva Sans Bold"/>
                <a:cs typeface="Canva Sans Bold"/>
                <a:sym typeface="Canva Sans Bold"/>
              </a:rPr>
              <a:t>Offer post-hospital recovery plans and preventive care initiatives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114300"/>
            <a:ext cx="9014690" cy="751438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6A8"/>
            </a:solidFill>
          </p:spPr>
          <p:txBody>
            <a:bodyPr/>
            <a:lstStyle/>
            <a:p>
              <a:endParaRPr lang="de-DE"/>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758859" y="466537"/>
            <a:ext cx="8058245" cy="66581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de-DE"/>
            </a:p>
          </p:txBody>
        </p:sp>
      </p:grpSp>
      <p:sp>
        <p:nvSpPr>
          <p:cNvPr id="7" name="TextBox 7"/>
          <p:cNvSpPr txBox="1"/>
          <p:nvPr/>
        </p:nvSpPr>
        <p:spPr>
          <a:xfrm>
            <a:off x="1028700" y="1291803"/>
            <a:ext cx="8280635" cy="731506"/>
          </a:xfrm>
          <a:prstGeom prst="rect">
            <a:avLst/>
          </a:prstGeom>
        </p:spPr>
        <p:txBody>
          <a:bodyPr lIns="0" tIns="0" rIns="0" bIns="0" rtlCol="0" anchor="t">
            <a:spAutoFit/>
          </a:bodyPr>
          <a:lstStyle/>
          <a:p>
            <a:pPr algn="l">
              <a:lnSpc>
                <a:spcPts val="5549"/>
              </a:lnSpc>
            </a:pPr>
            <a:r>
              <a:rPr lang="en-US" sz="5549">
                <a:solidFill>
                  <a:srgbClr val="000000"/>
                </a:solidFill>
                <a:latin typeface="League Spartan"/>
                <a:ea typeface="League Spartan"/>
                <a:cs typeface="League Spartan"/>
                <a:sym typeface="League Spartan"/>
              </a:rPr>
              <a:t>RECOMMENTATIONS</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
        <p:nvSpPr>
          <p:cNvPr id="9" name="TextBox 9"/>
          <p:cNvSpPr txBox="1"/>
          <p:nvPr/>
        </p:nvSpPr>
        <p:spPr>
          <a:xfrm>
            <a:off x="1028700" y="2679700"/>
            <a:ext cx="7665775" cy="2724971"/>
          </a:xfrm>
          <a:prstGeom prst="rect">
            <a:avLst/>
          </a:prstGeom>
        </p:spPr>
        <p:txBody>
          <a:bodyPr lIns="0" tIns="0" rIns="0" bIns="0" rtlCol="0" anchor="t">
            <a:spAutoFit/>
          </a:bodyPr>
          <a:lstStyle/>
          <a:p>
            <a:pPr algn="l">
              <a:lnSpc>
                <a:spcPts val="3104"/>
              </a:lnSpc>
            </a:pPr>
            <a:r>
              <a:rPr lang="en-US" sz="2217" b="1">
                <a:solidFill>
                  <a:srgbClr val="000000"/>
                </a:solidFill>
                <a:latin typeface="Canva Sans Bold"/>
                <a:ea typeface="Canva Sans Bold"/>
                <a:cs typeface="Canva Sans Bold"/>
                <a:sym typeface="Canva Sans Bold"/>
              </a:rPr>
              <a:t>Market Entry Approach</a:t>
            </a:r>
          </a:p>
          <a:p>
            <a:pPr algn="l">
              <a:lnSpc>
                <a:spcPts val="3104"/>
              </a:lnSpc>
            </a:pPr>
            <a:endParaRPr lang="en-US" sz="2217" b="1">
              <a:solidFill>
                <a:srgbClr val="000000"/>
              </a:solidFill>
              <a:latin typeface="Canva Sans Bold"/>
              <a:ea typeface="Canva Sans Bold"/>
              <a:cs typeface="Canva Sans Bold"/>
              <a:sym typeface="Canva Sans Bold"/>
            </a:endParaRPr>
          </a:p>
          <a:p>
            <a:pPr marL="478794" lvl="1" indent="-239397" algn="l">
              <a:lnSpc>
                <a:spcPts val="3104"/>
              </a:lnSpc>
              <a:buFont typeface="Arial"/>
              <a:buChar char="•"/>
            </a:pPr>
            <a:r>
              <a:rPr lang="en-US" sz="2217" b="1">
                <a:solidFill>
                  <a:srgbClr val="000000"/>
                </a:solidFill>
                <a:latin typeface="Canva Sans Bold"/>
                <a:ea typeface="Canva Sans Bold"/>
                <a:cs typeface="Canva Sans Bold"/>
                <a:sym typeface="Canva Sans Bold"/>
              </a:rPr>
              <a:t>Enter the U.S. market with selective premium strategies to undercut high national averages.</a:t>
            </a:r>
          </a:p>
          <a:p>
            <a:pPr algn="l">
              <a:lnSpc>
                <a:spcPts val="3104"/>
              </a:lnSpc>
            </a:pPr>
            <a:endParaRPr lang="en-US" sz="2217" b="1">
              <a:solidFill>
                <a:srgbClr val="000000"/>
              </a:solidFill>
              <a:latin typeface="Canva Sans Bold"/>
              <a:ea typeface="Canva Sans Bold"/>
              <a:cs typeface="Canva Sans Bold"/>
              <a:sym typeface="Canva Sans Bold"/>
            </a:endParaRPr>
          </a:p>
          <a:p>
            <a:pPr marL="478794" lvl="1" indent="-239397" algn="l">
              <a:lnSpc>
                <a:spcPts val="3104"/>
              </a:lnSpc>
              <a:buFont typeface="Arial"/>
              <a:buChar char="•"/>
            </a:pPr>
            <a:r>
              <a:rPr lang="en-US" sz="2217" b="1">
                <a:solidFill>
                  <a:srgbClr val="000000"/>
                </a:solidFill>
                <a:latin typeface="Canva Sans Bold"/>
                <a:ea typeface="Canva Sans Bold"/>
                <a:cs typeface="Canva Sans Bold"/>
                <a:sym typeface="Canva Sans Bold"/>
              </a:rPr>
              <a:t>Focus first on low-risk, low-claim segments to build brand trust and profitability.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255506" y="410923"/>
            <a:ext cx="2831994" cy="1635476"/>
          </a:xfrm>
          <a:custGeom>
            <a:avLst/>
            <a:gdLst/>
            <a:ahLst/>
            <a:cxnLst/>
            <a:rect l="l" t="t" r="r" b="b"/>
            <a:pathLst>
              <a:path w="2831994" h="1635476">
                <a:moveTo>
                  <a:pt x="0" y="0"/>
                </a:moveTo>
                <a:lnTo>
                  <a:pt x="2831994" y="0"/>
                </a:lnTo>
                <a:lnTo>
                  <a:pt x="2831994" y="1635477"/>
                </a:lnTo>
                <a:lnTo>
                  <a:pt x="0" y="1635477"/>
                </a:lnTo>
                <a:lnTo>
                  <a:pt x="0" y="0"/>
                </a:lnTo>
                <a:close/>
              </a:path>
            </a:pathLst>
          </a:custGeom>
          <a:blipFill>
            <a:blip r:embed="rId2"/>
            <a:stretch>
              <a:fillRect/>
            </a:stretch>
          </a:blipFill>
        </p:spPr>
        <p:txBody>
          <a:bodyPr/>
          <a:lstStyle/>
          <a:p>
            <a:endParaRPr lang="de-DE"/>
          </a:p>
        </p:txBody>
      </p:sp>
      <p:sp>
        <p:nvSpPr>
          <p:cNvPr id="3" name="Freeform 3"/>
          <p:cNvSpPr/>
          <p:nvPr/>
        </p:nvSpPr>
        <p:spPr>
          <a:xfrm>
            <a:off x="5711140" y="2938427"/>
            <a:ext cx="6115961" cy="6115961"/>
          </a:xfrm>
          <a:custGeom>
            <a:avLst/>
            <a:gdLst/>
            <a:ahLst/>
            <a:cxnLst/>
            <a:rect l="l" t="t" r="r" b="b"/>
            <a:pathLst>
              <a:path w="6115961" h="6115961">
                <a:moveTo>
                  <a:pt x="0" y="0"/>
                </a:moveTo>
                <a:lnTo>
                  <a:pt x="6115960" y="0"/>
                </a:lnTo>
                <a:lnTo>
                  <a:pt x="6115960" y="6115960"/>
                </a:lnTo>
                <a:lnTo>
                  <a:pt x="0" y="6115960"/>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18027" y="343788"/>
            <a:ext cx="1994522" cy="1999716"/>
          </a:xfrm>
          <a:custGeom>
            <a:avLst/>
            <a:gdLst/>
            <a:ahLst/>
            <a:cxnLst/>
            <a:rect l="l" t="t" r="r" b="b"/>
            <a:pathLst>
              <a:path w="1994522" h="1999716">
                <a:moveTo>
                  <a:pt x="0" y="0"/>
                </a:moveTo>
                <a:lnTo>
                  <a:pt x="1994522" y="0"/>
                </a:lnTo>
                <a:lnTo>
                  <a:pt x="1994522" y="1999716"/>
                </a:lnTo>
                <a:lnTo>
                  <a:pt x="0" y="1999716"/>
                </a:lnTo>
                <a:lnTo>
                  <a:pt x="0" y="0"/>
                </a:lnTo>
                <a:close/>
              </a:path>
            </a:pathLst>
          </a:custGeom>
          <a:blipFill>
            <a:blip r:embed="rId2"/>
            <a:stretch>
              <a:fillRect/>
            </a:stretch>
          </a:blipFill>
        </p:spPr>
        <p:txBody>
          <a:bodyPr/>
          <a:lstStyle/>
          <a:p>
            <a:endParaRPr lang="de-DE"/>
          </a:p>
        </p:txBody>
      </p:sp>
      <p:sp>
        <p:nvSpPr>
          <p:cNvPr id="3" name="Freeform 3"/>
          <p:cNvSpPr/>
          <p:nvPr/>
        </p:nvSpPr>
        <p:spPr>
          <a:xfrm>
            <a:off x="6338725" y="2736259"/>
            <a:ext cx="5933028" cy="5943153"/>
          </a:xfrm>
          <a:custGeom>
            <a:avLst/>
            <a:gdLst/>
            <a:ahLst/>
            <a:cxnLst/>
            <a:rect l="l" t="t" r="r" b="b"/>
            <a:pathLst>
              <a:path w="5933028" h="5943153">
                <a:moveTo>
                  <a:pt x="0" y="0"/>
                </a:moveTo>
                <a:lnTo>
                  <a:pt x="5933028" y="0"/>
                </a:lnTo>
                <a:lnTo>
                  <a:pt x="5933028" y="5943153"/>
                </a:lnTo>
                <a:lnTo>
                  <a:pt x="0" y="5943153"/>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75654" y="7200900"/>
            <a:ext cx="8024578" cy="3086100"/>
            <a:chOff x="0" y="0"/>
            <a:chExt cx="2113469" cy="812800"/>
          </a:xfrm>
        </p:grpSpPr>
        <p:sp>
          <p:nvSpPr>
            <p:cNvPr id="3" name="Freeform 3"/>
            <p:cNvSpPr/>
            <p:nvPr/>
          </p:nvSpPr>
          <p:spPr>
            <a:xfrm>
              <a:off x="0" y="0"/>
              <a:ext cx="2113469" cy="812800"/>
            </a:xfrm>
            <a:custGeom>
              <a:avLst/>
              <a:gdLst/>
              <a:ahLst/>
              <a:cxnLst/>
              <a:rect l="l" t="t" r="r" b="b"/>
              <a:pathLst>
                <a:path w="2113469" h="812800">
                  <a:moveTo>
                    <a:pt x="0" y="0"/>
                  </a:moveTo>
                  <a:lnTo>
                    <a:pt x="2113469" y="0"/>
                  </a:lnTo>
                  <a:lnTo>
                    <a:pt x="2113469" y="812800"/>
                  </a:lnTo>
                  <a:lnTo>
                    <a:pt x="0" y="812800"/>
                  </a:lnTo>
                  <a:close/>
                </a:path>
              </a:pathLst>
            </a:custGeom>
            <a:solidFill>
              <a:srgbClr val="0056A8"/>
            </a:solidFill>
          </p:spPr>
          <p:txBody>
            <a:bodyPr/>
            <a:lstStyle/>
            <a:p>
              <a:endParaRPr lang="de-DE"/>
            </a:p>
          </p:txBody>
        </p:sp>
        <p:sp>
          <p:nvSpPr>
            <p:cNvPr id="4" name="TextBox 4"/>
            <p:cNvSpPr txBox="1"/>
            <p:nvPr/>
          </p:nvSpPr>
          <p:spPr>
            <a:xfrm>
              <a:off x="0" y="-38100"/>
              <a:ext cx="2113469" cy="85090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297256"/>
            <a:ext cx="16230600" cy="3821950"/>
          </a:xfrm>
          <a:prstGeom prst="rect">
            <a:avLst/>
          </a:prstGeom>
        </p:spPr>
        <p:txBody>
          <a:bodyPr lIns="0" tIns="0" rIns="0" bIns="0" rtlCol="0" anchor="t">
            <a:spAutoFit/>
          </a:bodyPr>
          <a:lstStyle/>
          <a:p>
            <a:pPr algn="ctr">
              <a:lnSpc>
                <a:spcPts val="31229"/>
              </a:lnSpc>
              <a:spcBef>
                <a:spcPct val="0"/>
              </a:spcBef>
            </a:pPr>
            <a:r>
              <a:rPr lang="en-US" sz="22307">
                <a:solidFill>
                  <a:srgbClr val="0056A8"/>
                </a:solidFill>
                <a:latin typeface="League Spartan"/>
                <a:ea typeface="League Spartan"/>
                <a:cs typeface="League Spartan"/>
                <a:sym typeface="League Spartan"/>
              </a:rPr>
              <a:t>Thank You</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27</a:t>
            </a:r>
          </a:p>
        </p:txBody>
      </p:sp>
      <p:grpSp>
        <p:nvGrpSpPr>
          <p:cNvPr id="7" name="Group 7"/>
          <p:cNvGrpSpPr/>
          <p:nvPr/>
        </p:nvGrpSpPr>
        <p:grpSpPr>
          <a:xfrm>
            <a:off x="3615362" y="4915099"/>
            <a:ext cx="12190989" cy="4800367"/>
            <a:chOff x="0" y="0"/>
            <a:chExt cx="2072920" cy="816240"/>
          </a:xfrm>
        </p:grpSpPr>
        <p:sp>
          <p:nvSpPr>
            <p:cNvPr id="8" name="Freeform 8"/>
            <p:cNvSpPr/>
            <p:nvPr/>
          </p:nvSpPr>
          <p:spPr>
            <a:xfrm>
              <a:off x="0" y="0"/>
              <a:ext cx="2072920" cy="816240"/>
            </a:xfrm>
            <a:custGeom>
              <a:avLst/>
              <a:gdLst/>
              <a:ahLst/>
              <a:cxnLst/>
              <a:rect l="l" t="t" r="r" b="b"/>
              <a:pathLst>
                <a:path w="2072920" h="816240">
                  <a:moveTo>
                    <a:pt x="14606" y="0"/>
                  </a:moveTo>
                  <a:lnTo>
                    <a:pt x="2058314" y="0"/>
                  </a:lnTo>
                  <a:cubicBezTo>
                    <a:pt x="2062187" y="0"/>
                    <a:pt x="2065903" y="1539"/>
                    <a:pt x="2068642" y="4278"/>
                  </a:cubicBezTo>
                  <a:cubicBezTo>
                    <a:pt x="2071381" y="7017"/>
                    <a:pt x="2072920" y="10732"/>
                    <a:pt x="2072920" y="14606"/>
                  </a:cubicBezTo>
                  <a:lnTo>
                    <a:pt x="2072920" y="801634"/>
                  </a:lnTo>
                  <a:cubicBezTo>
                    <a:pt x="2072920" y="809701"/>
                    <a:pt x="2066380" y="816240"/>
                    <a:pt x="2058314" y="816240"/>
                  </a:cubicBezTo>
                  <a:lnTo>
                    <a:pt x="14606" y="816240"/>
                  </a:lnTo>
                  <a:cubicBezTo>
                    <a:pt x="10732" y="816240"/>
                    <a:pt x="7017" y="814701"/>
                    <a:pt x="4278" y="811962"/>
                  </a:cubicBezTo>
                  <a:cubicBezTo>
                    <a:pt x="1539" y="809223"/>
                    <a:pt x="0" y="805508"/>
                    <a:pt x="0" y="801634"/>
                  </a:cubicBezTo>
                  <a:lnTo>
                    <a:pt x="0" y="14606"/>
                  </a:lnTo>
                  <a:cubicBezTo>
                    <a:pt x="0" y="10732"/>
                    <a:pt x="1539" y="7017"/>
                    <a:pt x="4278" y="4278"/>
                  </a:cubicBezTo>
                  <a:cubicBezTo>
                    <a:pt x="7017" y="1539"/>
                    <a:pt x="10732" y="0"/>
                    <a:pt x="14606" y="0"/>
                  </a:cubicBezTo>
                  <a:close/>
                </a:path>
              </a:pathLst>
            </a:custGeom>
            <a:blipFill>
              <a:blip r:embed="rId2"/>
              <a:stretch>
                <a:fillRect t="-21320" b="-21320"/>
              </a:stretch>
            </a:blipFill>
          </p:spPr>
          <p:txBody>
            <a:bodyPr/>
            <a:lstStyle/>
            <a:p>
              <a:endParaRPr lang="de-DE"/>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Custom</PresentationFormat>
  <Paragraphs>167</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League Spartan</vt:lpstr>
      <vt:lpstr>Canva Sans Bold</vt:lpstr>
      <vt:lpstr>Open Sans Bold</vt:lpstr>
      <vt:lpstr>Calibri</vt:lpstr>
      <vt:lpstr>Arial</vt:lpstr>
      <vt:lpstr>Open Sans</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White Clean Insurance Presentation</dc:title>
  <cp:lastModifiedBy>Sruthi Thulasi Das</cp:lastModifiedBy>
  <cp:revision>2</cp:revision>
  <dcterms:created xsi:type="dcterms:W3CDTF">2006-08-16T00:00:00Z</dcterms:created>
  <dcterms:modified xsi:type="dcterms:W3CDTF">2025-11-04T14:45:30Z</dcterms:modified>
  <dc:identifier>DAG3YFsLLAk</dc:identifier>
</cp:coreProperties>
</file>